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1" r:id="rId5"/>
    <p:sldId id="259" r:id="rId6"/>
    <p:sldId id="26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data%20sets%20skillboost\Transit%20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OneDrive\Desktop\data%20sets%20skillboost\Transit%20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data%20sets%20skillboost\Transit%20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data%20sets%20skillboost\Transit%20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OneDrive\Desktop\data%20sets%20skillboost\Transit%20Dat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OneDrive\Desktop\data%20sets%20skillboost\Transit%20Dat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OneDrive\Desktop\data%20sets%20skillboost\Transit%20Dat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OneDrive\Desktop\data%20sets%20skillboost\Transit%20Data.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OneDrive\Desktop\data%20sets%20skillboost\Transit%20Data.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[Transit Data.xlsx]Segmentation &amp; Classification!PivotTable2</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Average Mileage by Ride Category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'Segmentation &amp; Classification'!$C$3</c:f>
              <c:strCache>
                <c:ptCount val="1"/>
                <c:pt idx="0">
                  <c:v>Total</c:v>
                </c:pt>
              </c:strCache>
            </c:strRef>
          </c:tx>
          <c:spPr>
            <a:solidFill>
              <a:schemeClr val="accent2"/>
            </a:solidFill>
            <a:ln>
              <a:noFill/>
            </a:ln>
            <a:effectLst/>
          </c:spPr>
          <c:invertIfNegative val="0"/>
          <c:cat>
            <c:strRef>
              <c:f>'Segmentation &amp; Classification'!$B$4:$B$6</c:f>
              <c:strCache>
                <c:ptCount val="2"/>
                <c:pt idx="0">
                  <c:v>Business</c:v>
                </c:pt>
                <c:pt idx="1">
                  <c:v>Personal</c:v>
                </c:pt>
              </c:strCache>
            </c:strRef>
          </c:cat>
          <c:val>
            <c:numRef>
              <c:f>'Segmentation &amp; Classification'!$C$4:$C$6</c:f>
              <c:numCache>
                <c:formatCode>0.00</c:formatCode>
                <c:ptCount val="2"/>
                <c:pt idx="0">
                  <c:v>10.655844155844147</c:v>
                </c:pt>
                <c:pt idx="1">
                  <c:v>9.3207792207792188</c:v>
                </c:pt>
              </c:numCache>
            </c:numRef>
          </c:val>
          <c:extLst>
            <c:ext xmlns:c16="http://schemas.microsoft.com/office/drawing/2014/chart" uri="{C3380CC4-5D6E-409C-BE32-E72D297353CC}">
              <c16:uniqueId val="{00000000-52F2-4848-B186-43671CBD8271}"/>
            </c:ext>
          </c:extLst>
        </c:ser>
        <c:dLbls>
          <c:showLegendKey val="0"/>
          <c:showVal val="0"/>
          <c:showCatName val="0"/>
          <c:showSerName val="0"/>
          <c:showPercent val="0"/>
          <c:showBubbleSize val="0"/>
        </c:dLbls>
        <c:gapWidth val="219"/>
        <c:overlap val="-27"/>
        <c:axId val="550684584"/>
        <c:axId val="550680984"/>
      </c:barChart>
      <c:catAx>
        <c:axId val="550684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0680984"/>
        <c:crosses val="autoZero"/>
        <c:auto val="1"/>
        <c:lblAlgn val="ctr"/>
        <c:lblOffset val="100"/>
        <c:noMultiLvlLbl val="0"/>
      </c:catAx>
      <c:valAx>
        <c:axId val="5506809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06845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[Transit Data.xlsx]Segmentation &amp; Classification!PivotTable3</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Ride Purpose Distribution by Category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'Segmentation &amp; Classification'!$C$9:$C$10</c:f>
              <c:strCache>
                <c:ptCount val="1"/>
                <c:pt idx="0">
                  <c:v>Business</c:v>
                </c:pt>
              </c:strCache>
            </c:strRef>
          </c:tx>
          <c:spPr>
            <a:solidFill>
              <a:schemeClr val="accent2">
                <a:shade val="76000"/>
              </a:schemeClr>
            </a:solidFill>
            <a:ln>
              <a:noFill/>
            </a:ln>
            <a:effectLst/>
          </c:spPr>
          <c:invertIfNegative val="0"/>
          <c:cat>
            <c:strRef>
              <c:f>'Segmentation &amp; Classification'!$B$11:$B$22</c:f>
              <c:strCache>
                <c:ptCount val="11"/>
                <c:pt idx="0">
                  <c:v>Airport/Travel</c:v>
                </c:pt>
                <c:pt idx="1">
                  <c:v>Between Offices</c:v>
                </c:pt>
                <c:pt idx="2">
                  <c:v>Charity ($)</c:v>
                </c:pt>
                <c:pt idx="3">
                  <c:v>Commute</c:v>
                </c:pt>
                <c:pt idx="4">
                  <c:v>Customer Visit</c:v>
                </c:pt>
                <c:pt idx="5">
                  <c:v>Errand/Supplies</c:v>
                </c:pt>
                <c:pt idx="6">
                  <c:v>Meal/Entertain</c:v>
                </c:pt>
                <c:pt idx="7">
                  <c:v>Meeting</c:v>
                </c:pt>
                <c:pt idx="8">
                  <c:v>Moving</c:v>
                </c:pt>
                <c:pt idx="9">
                  <c:v>Not Specified</c:v>
                </c:pt>
                <c:pt idx="10">
                  <c:v>Temporary Site</c:v>
                </c:pt>
              </c:strCache>
            </c:strRef>
          </c:cat>
          <c:val>
            <c:numRef>
              <c:f>'Segmentation &amp; Classification'!$C$11:$C$22</c:f>
              <c:numCache>
                <c:formatCode>General</c:formatCode>
                <c:ptCount val="11"/>
                <c:pt idx="0">
                  <c:v>3</c:v>
                </c:pt>
                <c:pt idx="1">
                  <c:v>18</c:v>
                </c:pt>
                <c:pt idx="4">
                  <c:v>101</c:v>
                </c:pt>
                <c:pt idx="5">
                  <c:v>128</c:v>
                </c:pt>
                <c:pt idx="6">
                  <c:v>160</c:v>
                </c:pt>
                <c:pt idx="7">
                  <c:v>187</c:v>
                </c:pt>
                <c:pt idx="9">
                  <c:v>431</c:v>
                </c:pt>
                <c:pt idx="10">
                  <c:v>50</c:v>
                </c:pt>
              </c:numCache>
            </c:numRef>
          </c:val>
          <c:extLst>
            <c:ext xmlns:c16="http://schemas.microsoft.com/office/drawing/2014/chart" uri="{C3380CC4-5D6E-409C-BE32-E72D297353CC}">
              <c16:uniqueId val="{00000000-FC5A-4AEF-BB4C-ACAB7CE7566F}"/>
            </c:ext>
          </c:extLst>
        </c:ser>
        <c:ser>
          <c:idx val="1"/>
          <c:order val="1"/>
          <c:tx>
            <c:strRef>
              <c:f>'Segmentation &amp; Classification'!$D$9:$D$10</c:f>
              <c:strCache>
                <c:ptCount val="1"/>
                <c:pt idx="0">
                  <c:v>Personal</c:v>
                </c:pt>
              </c:strCache>
            </c:strRef>
          </c:tx>
          <c:spPr>
            <a:solidFill>
              <a:schemeClr val="accent2">
                <a:tint val="77000"/>
              </a:schemeClr>
            </a:solidFill>
            <a:ln>
              <a:noFill/>
            </a:ln>
            <a:effectLst/>
          </c:spPr>
          <c:invertIfNegative val="0"/>
          <c:cat>
            <c:strRef>
              <c:f>'Segmentation &amp; Classification'!$B$11:$B$22</c:f>
              <c:strCache>
                <c:ptCount val="11"/>
                <c:pt idx="0">
                  <c:v>Airport/Travel</c:v>
                </c:pt>
                <c:pt idx="1">
                  <c:v>Between Offices</c:v>
                </c:pt>
                <c:pt idx="2">
                  <c:v>Charity ($)</c:v>
                </c:pt>
                <c:pt idx="3">
                  <c:v>Commute</c:v>
                </c:pt>
                <c:pt idx="4">
                  <c:v>Customer Visit</c:v>
                </c:pt>
                <c:pt idx="5">
                  <c:v>Errand/Supplies</c:v>
                </c:pt>
                <c:pt idx="6">
                  <c:v>Meal/Entertain</c:v>
                </c:pt>
                <c:pt idx="7">
                  <c:v>Meeting</c:v>
                </c:pt>
                <c:pt idx="8">
                  <c:v>Moving</c:v>
                </c:pt>
                <c:pt idx="9">
                  <c:v>Not Specified</c:v>
                </c:pt>
                <c:pt idx="10">
                  <c:v>Temporary Site</c:v>
                </c:pt>
              </c:strCache>
            </c:strRef>
          </c:cat>
          <c:val>
            <c:numRef>
              <c:f>'Segmentation &amp; Classification'!$D$11:$D$22</c:f>
              <c:numCache>
                <c:formatCode>General</c:formatCode>
                <c:ptCount val="11"/>
                <c:pt idx="2">
                  <c:v>1</c:v>
                </c:pt>
                <c:pt idx="3">
                  <c:v>1</c:v>
                </c:pt>
                <c:pt idx="8">
                  <c:v>4</c:v>
                </c:pt>
                <c:pt idx="9">
                  <c:v>71</c:v>
                </c:pt>
              </c:numCache>
            </c:numRef>
          </c:val>
          <c:extLst>
            <c:ext xmlns:c16="http://schemas.microsoft.com/office/drawing/2014/chart" uri="{C3380CC4-5D6E-409C-BE32-E72D297353CC}">
              <c16:uniqueId val="{00000001-FC5A-4AEF-BB4C-ACAB7CE7566F}"/>
            </c:ext>
          </c:extLst>
        </c:ser>
        <c:dLbls>
          <c:showLegendKey val="0"/>
          <c:showVal val="0"/>
          <c:showCatName val="0"/>
          <c:showSerName val="0"/>
          <c:showPercent val="0"/>
          <c:showBubbleSize val="0"/>
        </c:dLbls>
        <c:gapWidth val="182"/>
        <c:axId val="380910448"/>
        <c:axId val="380914768"/>
      </c:barChart>
      <c:catAx>
        <c:axId val="38091044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Purpose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0914768"/>
        <c:crosses val="autoZero"/>
        <c:auto val="1"/>
        <c:lblAlgn val="ctr"/>
        <c:lblOffset val="100"/>
        <c:noMultiLvlLbl val="0"/>
      </c:catAx>
      <c:valAx>
        <c:axId val="38091476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09104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[Transit Data.xlsx]Segmentation &amp; Classification!PivotTable4</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Ride Activity by Time of Day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'Segmentation &amp; Classification'!$C$24:$C$25</c:f>
              <c:strCache>
                <c:ptCount val="1"/>
                <c:pt idx="0">
                  <c:v>Business</c:v>
                </c:pt>
              </c:strCache>
            </c:strRef>
          </c:tx>
          <c:spPr>
            <a:solidFill>
              <a:schemeClr val="accent2">
                <a:shade val="76000"/>
              </a:schemeClr>
            </a:solidFill>
            <a:ln>
              <a:noFill/>
            </a:ln>
            <a:effectLst/>
          </c:spPr>
          <c:invertIfNegative val="0"/>
          <c:cat>
            <c:strRef>
              <c:f>'Segmentation &amp; Classification'!$B$26:$B$31</c:f>
              <c:strCache>
                <c:ptCount val="5"/>
                <c:pt idx="0">
                  <c:v>Early Morning</c:v>
                </c:pt>
                <c:pt idx="1">
                  <c:v>Morning</c:v>
                </c:pt>
                <c:pt idx="2">
                  <c:v>Afternoon</c:v>
                </c:pt>
                <c:pt idx="3">
                  <c:v>Evening</c:v>
                </c:pt>
                <c:pt idx="4">
                  <c:v>Night</c:v>
                </c:pt>
              </c:strCache>
            </c:strRef>
          </c:cat>
          <c:val>
            <c:numRef>
              <c:f>'Segmentation &amp; Classification'!$C$26:$C$31</c:f>
              <c:numCache>
                <c:formatCode>General</c:formatCode>
                <c:ptCount val="5"/>
                <c:pt idx="0">
                  <c:v>31</c:v>
                </c:pt>
                <c:pt idx="1">
                  <c:v>221</c:v>
                </c:pt>
                <c:pt idx="2">
                  <c:v>417</c:v>
                </c:pt>
                <c:pt idx="3">
                  <c:v>309</c:v>
                </c:pt>
                <c:pt idx="4">
                  <c:v>100</c:v>
                </c:pt>
              </c:numCache>
            </c:numRef>
          </c:val>
          <c:extLst>
            <c:ext xmlns:c16="http://schemas.microsoft.com/office/drawing/2014/chart" uri="{C3380CC4-5D6E-409C-BE32-E72D297353CC}">
              <c16:uniqueId val="{00000000-852D-4288-94F3-45932EC30B19}"/>
            </c:ext>
          </c:extLst>
        </c:ser>
        <c:ser>
          <c:idx val="1"/>
          <c:order val="1"/>
          <c:tx>
            <c:strRef>
              <c:f>'Segmentation &amp; Classification'!$D$24:$D$25</c:f>
              <c:strCache>
                <c:ptCount val="1"/>
                <c:pt idx="0">
                  <c:v>Personal</c:v>
                </c:pt>
              </c:strCache>
            </c:strRef>
          </c:tx>
          <c:spPr>
            <a:solidFill>
              <a:schemeClr val="accent2">
                <a:tint val="77000"/>
              </a:schemeClr>
            </a:solidFill>
            <a:ln>
              <a:noFill/>
            </a:ln>
            <a:effectLst/>
          </c:spPr>
          <c:invertIfNegative val="0"/>
          <c:cat>
            <c:strRef>
              <c:f>'Segmentation &amp; Classification'!$B$26:$B$31</c:f>
              <c:strCache>
                <c:ptCount val="5"/>
                <c:pt idx="0">
                  <c:v>Early Morning</c:v>
                </c:pt>
                <c:pt idx="1">
                  <c:v>Morning</c:v>
                </c:pt>
                <c:pt idx="2">
                  <c:v>Afternoon</c:v>
                </c:pt>
                <c:pt idx="3">
                  <c:v>Evening</c:v>
                </c:pt>
                <c:pt idx="4">
                  <c:v>Night</c:v>
                </c:pt>
              </c:strCache>
            </c:strRef>
          </c:cat>
          <c:val>
            <c:numRef>
              <c:f>'Segmentation &amp; Classification'!$D$26:$D$31</c:f>
              <c:numCache>
                <c:formatCode>General</c:formatCode>
                <c:ptCount val="5"/>
                <c:pt idx="0">
                  <c:v>2</c:v>
                </c:pt>
                <c:pt idx="1">
                  <c:v>19</c:v>
                </c:pt>
                <c:pt idx="2">
                  <c:v>29</c:v>
                </c:pt>
                <c:pt idx="3">
                  <c:v>19</c:v>
                </c:pt>
                <c:pt idx="4">
                  <c:v>8</c:v>
                </c:pt>
              </c:numCache>
            </c:numRef>
          </c:val>
          <c:extLst>
            <c:ext xmlns:c16="http://schemas.microsoft.com/office/drawing/2014/chart" uri="{C3380CC4-5D6E-409C-BE32-E72D297353CC}">
              <c16:uniqueId val="{00000001-852D-4288-94F3-45932EC30B19}"/>
            </c:ext>
          </c:extLst>
        </c:ser>
        <c:dLbls>
          <c:showLegendKey val="0"/>
          <c:showVal val="0"/>
          <c:showCatName val="0"/>
          <c:showSerName val="0"/>
          <c:showPercent val="0"/>
          <c:showBubbleSize val="0"/>
        </c:dLbls>
        <c:gapWidth val="219"/>
        <c:overlap val="-27"/>
        <c:axId val="436590816"/>
        <c:axId val="436591176"/>
      </c:barChart>
      <c:catAx>
        <c:axId val="436590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6591176"/>
        <c:crosses val="autoZero"/>
        <c:auto val="1"/>
        <c:lblAlgn val="ctr"/>
        <c:lblOffset val="100"/>
        <c:noMultiLvlLbl val="0"/>
      </c:catAx>
      <c:valAx>
        <c:axId val="436591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65908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Trips by Category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pieChart>
        <c:varyColors val="1"/>
        <c:ser>
          <c:idx val="0"/>
          <c:order val="0"/>
          <c:tx>
            <c:v>Total</c:v>
          </c:tx>
          <c:dPt>
            <c:idx val="0"/>
            <c:bubble3D val="0"/>
            <c:spPr>
              <a:solidFill>
                <a:schemeClr val="accent2">
                  <a:shade val="76000"/>
                </a:schemeClr>
              </a:solidFill>
              <a:ln w="19050">
                <a:solidFill>
                  <a:schemeClr val="lt1"/>
                </a:solidFill>
              </a:ln>
              <a:effectLst/>
            </c:spPr>
            <c:extLst>
              <c:ext xmlns:c16="http://schemas.microsoft.com/office/drawing/2014/chart" uri="{C3380CC4-5D6E-409C-BE32-E72D297353CC}">
                <c16:uniqueId val="{00000001-42C9-4AE3-9736-ED2380EB3635}"/>
              </c:ext>
            </c:extLst>
          </c:dPt>
          <c:dPt>
            <c:idx val="1"/>
            <c:bubble3D val="0"/>
            <c:spPr>
              <a:solidFill>
                <a:schemeClr val="accent2">
                  <a:tint val="77000"/>
                </a:schemeClr>
              </a:solidFill>
              <a:ln w="19050">
                <a:solidFill>
                  <a:schemeClr val="lt1"/>
                </a:solidFill>
              </a:ln>
              <a:effectLst/>
            </c:spPr>
            <c:extLst>
              <c:ext xmlns:c16="http://schemas.microsoft.com/office/drawing/2014/chart" uri="{C3380CC4-5D6E-409C-BE32-E72D297353CC}">
                <c16:uniqueId val="{00000003-42C9-4AE3-9736-ED2380EB3635}"/>
              </c:ext>
            </c:extLst>
          </c:dPt>
          <c:cat>
            <c:strLit>
              <c:ptCount val="2"/>
              <c:pt idx="0">
                <c:v>Business</c:v>
              </c:pt>
              <c:pt idx="1">
                <c:v>Personal</c:v>
              </c:pt>
            </c:strLit>
          </c:cat>
          <c:val>
            <c:numLit>
              <c:formatCode>General</c:formatCode>
              <c:ptCount val="2"/>
              <c:pt idx="0">
                <c:v>1078</c:v>
              </c:pt>
              <c:pt idx="1">
                <c:v>77</c:v>
              </c:pt>
            </c:numLit>
          </c:val>
          <c:extLst>
            <c:ext xmlns:c16="http://schemas.microsoft.com/office/drawing/2014/chart" uri="{C3380CC4-5D6E-409C-BE32-E72D297353CC}">
              <c16:uniqueId val="{00000004-42C9-4AE3-9736-ED2380EB3635}"/>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[Transit Data.xlsx]Segmentation &amp; Classification!PivotTable4</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Trips by Time of Day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'Segmentation &amp; Classification'!$C$24:$C$25</c:f>
              <c:strCache>
                <c:ptCount val="1"/>
                <c:pt idx="0">
                  <c:v>Business</c:v>
                </c:pt>
              </c:strCache>
            </c:strRef>
          </c:tx>
          <c:spPr>
            <a:solidFill>
              <a:schemeClr val="accent2">
                <a:shade val="76000"/>
              </a:schemeClr>
            </a:solidFill>
            <a:ln>
              <a:noFill/>
            </a:ln>
            <a:effectLst/>
          </c:spPr>
          <c:invertIfNegative val="0"/>
          <c:cat>
            <c:strRef>
              <c:f>'Segmentation &amp; Classification'!$B$26:$B$31</c:f>
              <c:strCache>
                <c:ptCount val="5"/>
                <c:pt idx="0">
                  <c:v>Early Morning</c:v>
                </c:pt>
                <c:pt idx="1">
                  <c:v>Morning</c:v>
                </c:pt>
                <c:pt idx="2">
                  <c:v>Afternoon</c:v>
                </c:pt>
                <c:pt idx="3">
                  <c:v>Evening</c:v>
                </c:pt>
                <c:pt idx="4">
                  <c:v>Night</c:v>
                </c:pt>
              </c:strCache>
            </c:strRef>
          </c:cat>
          <c:val>
            <c:numRef>
              <c:f>'Segmentation &amp; Classification'!$C$26:$C$31</c:f>
              <c:numCache>
                <c:formatCode>General</c:formatCode>
                <c:ptCount val="5"/>
                <c:pt idx="0">
                  <c:v>31</c:v>
                </c:pt>
                <c:pt idx="1">
                  <c:v>221</c:v>
                </c:pt>
                <c:pt idx="2">
                  <c:v>417</c:v>
                </c:pt>
                <c:pt idx="3">
                  <c:v>309</c:v>
                </c:pt>
                <c:pt idx="4">
                  <c:v>100</c:v>
                </c:pt>
              </c:numCache>
            </c:numRef>
          </c:val>
          <c:extLst>
            <c:ext xmlns:c16="http://schemas.microsoft.com/office/drawing/2014/chart" uri="{C3380CC4-5D6E-409C-BE32-E72D297353CC}">
              <c16:uniqueId val="{00000000-4924-4A5B-9B73-11702EDFA933}"/>
            </c:ext>
          </c:extLst>
        </c:ser>
        <c:ser>
          <c:idx val="1"/>
          <c:order val="1"/>
          <c:tx>
            <c:strRef>
              <c:f>'Segmentation &amp; Classification'!$D$24:$D$25</c:f>
              <c:strCache>
                <c:ptCount val="1"/>
                <c:pt idx="0">
                  <c:v>Personal</c:v>
                </c:pt>
              </c:strCache>
            </c:strRef>
          </c:tx>
          <c:spPr>
            <a:solidFill>
              <a:schemeClr val="accent2">
                <a:tint val="77000"/>
              </a:schemeClr>
            </a:solidFill>
            <a:ln>
              <a:noFill/>
            </a:ln>
            <a:effectLst/>
          </c:spPr>
          <c:invertIfNegative val="0"/>
          <c:cat>
            <c:strRef>
              <c:f>'Segmentation &amp; Classification'!$B$26:$B$31</c:f>
              <c:strCache>
                <c:ptCount val="5"/>
                <c:pt idx="0">
                  <c:v>Early Morning</c:v>
                </c:pt>
                <c:pt idx="1">
                  <c:v>Morning</c:v>
                </c:pt>
                <c:pt idx="2">
                  <c:v>Afternoon</c:v>
                </c:pt>
                <c:pt idx="3">
                  <c:v>Evening</c:v>
                </c:pt>
                <c:pt idx="4">
                  <c:v>Night</c:v>
                </c:pt>
              </c:strCache>
            </c:strRef>
          </c:cat>
          <c:val>
            <c:numRef>
              <c:f>'Segmentation &amp; Classification'!$D$26:$D$31</c:f>
              <c:numCache>
                <c:formatCode>General</c:formatCode>
                <c:ptCount val="5"/>
                <c:pt idx="0">
                  <c:v>2</c:v>
                </c:pt>
                <c:pt idx="1">
                  <c:v>19</c:v>
                </c:pt>
                <c:pt idx="2">
                  <c:v>29</c:v>
                </c:pt>
                <c:pt idx="3">
                  <c:v>19</c:v>
                </c:pt>
                <c:pt idx="4">
                  <c:v>8</c:v>
                </c:pt>
              </c:numCache>
            </c:numRef>
          </c:val>
          <c:extLst>
            <c:ext xmlns:c16="http://schemas.microsoft.com/office/drawing/2014/chart" uri="{C3380CC4-5D6E-409C-BE32-E72D297353CC}">
              <c16:uniqueId val="{00000001-4924-4A5B-9B73-11702EDFA933}"/>
            </c:ext>
          </c:extLst>
        </c:ser>
        <c:dLbls>
          <c:showLegendKey val="0"/>
          <c:showVal val="0"/>
          <c:showCatName val="0"/>
          <c:showSerName val="0"/>
          <c:showPercent val="0"/>
          <c:showBubbleSize val="0"/>
        </c:dLbls>
        <c:gapWidth val="219"/>
        <c:overlap val="-27"/>
        <c:axId val="543656672"/>
        <c:axId val="543659488"/>
      </c:barChart>
      <c:catAx>
        <c:axId val="543656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659488"/>
        <c:crosses val="autoZero"/>
        <c:auto val="1"/>
        <c:lblAlgn val="ctr"/>
        <c:lblOffset val="100"/>
        <c:noMultiLvlLbl val="0"/>
      </c:catAx>
      <c:valAx>
        <c:axId val="543659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65667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Top 10 Start Locations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v>Total</c:v>
          </c:tx>
          <c:spPr>
            <a:solidFill>
              <a:schemeClr val="accent2"/>
            </a:solidFill>
            <a:ln>
              <a:noFill/>
            </a:ln>
            <a:effectLst/>
          </c:spPr>
          <c:invertIfNegative val="0"/>
          <c:cat>
            <c:strLit>
              <c:ptCount val="17"/>
              <c:pt idx="0">
                <c:v>Aggrey Road</c:v>
              </c:pt>
              <c:pt idx="1">
                <c:v>Bori Camp</c:v>
              </c:pt>
              <c:pt idx="2">
                <c:v>Elekahia</c:v>
              </c:pt>
              <c:pt idx="3">
                <c:v>Elekahia Housing</c:v>
              </c:pt>
              <c:pt idx="4">
                <c:v>GRA Phase 3</c:v>
              </c:pt>
              <c:pt idx="5">
                <c:v>Iwofe</c:v>
              </c:pt>
              <c:pt idx="6">
                <c:v>NLNG Guest House</c:v>
              </c:pt>
              <c:pt idx="7">
                <c:v>NTA Road</c:v>
              </c:pt>
              <c:pt idx="8">
                <c:v>Obio/Akpor</c:v>
              </c:pt>
              <c:pt idx="9">
                <c:v>Okporo Police Post</c:v>
              </c:pt>
              <c:pt idx="10">
                <c:v>PHC Golf Club</c:v>
              </c:pt>
              <c:pt idx="11">
                <c:v>Rumunduru</c:v>
              </c:pt>
              <c:pt idx="12">
                <c:v>Township</c:v>
              </c:pt>
              <c:pt idx="13">
                <c:v>Umuoma</c:v>
              </c:pt>
              <c:pt idx="14">
                <c:v>Whimpey</c:v>
              </c:pt>
              <c:pt idx="15">
                <c:v>Woji Estate</c:v>
              </c:pt>
              <c:pt idx="16">
                <c:v>Woji Town Hall</c:v>
              </c:pt>
            </c:strLit>
          </c:cat>
          <c:val>
            <c:numLit>
              <c:formatCode>General</c:formatCode>
              <c:ptCount val="17"/>
              <c:pt idx="0">
                <c:v>11</c:v>
              </c:pt>
              <c:pt idx="1">
                <c:v>11</c:v>
              </c:pt>
              <c:pt idx="2">
                <c:v>12</c:v>
              </c:pt>
              <c:pt idx="3">
                <c:v>11</c:v>
              </c:pt>
              <c:pt idx="4">
                <c:v>15</c:v>
              </c:pt>
              <c:pt idx="5">
                <c:v>11</c:v>
              </c:pt>
              <c:pt idx="6">
                <c:v>11</c:v>
              </c:pt>
              <c:pt idx="7">
                <c:v>11</c:v>
              </c:pt>
              <c:pt idx="8">
                <c:v>12</c:v>
              </c:pt>
              <c:pt idx="9">
                <c:v>11</c:v>
              </c:pt>
              <c:pt idx="10">
                <c:v>11</c:v>
              </c:pt>
              <c:pt idx="11">
                <c:v>11</c:v>
              </c:pt>
              <c:pt idx="12">
                <c:v>14</c:v>
              </c:pt>
              <c:pt idx="13">
                <c:v>12</c:v>
              </c:pt>
              <c:pt idx="14">
                <c:v>11</c:v>
              </c:pt>
              <c:pt idx="15">
                <c:v>11</c:v>
              </c:pt>
              <c:pt idx="16">
                <c:v>11</c:v>
              </c:pt>
            </c:numLit>
          </c:val>
          <c:extLst>
            <c:ext xmlns:c16="http://schemas.microsoft.com/office/drawing/2014/chart" uri="{C3380CC4-5D6E-409C-BE32-E72D297353CC}">
              <c16:uniqueId val="{00000000-D0D1-4B6D-89FB-3C58A475AF40}"/>
            </c:ext>
          </c:extLst>
        </c:ser>
        <c:dLbls>
          <c:showLegendKey val="0"/>
          <c:showVal val="0"/>
          <c:showCatName val="0"/>
          <c:showSerName val="0"/>
          <c:showPercent val="0"/>
          <c:showBubbleSize val="0"/>
        </c:dLbls>
        <c:gapWidth val="182"/>
        <c:overlap val="100"/>
        <c:axId val="543662304"/>
        <c:axId val="543662656"/>
      </c:barChart>
      <c:catAx>
        <c:axId val="54366230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662656"/>
        <c:crosses val="autoZero"/>
        <c:auto val="1"/>
        <c:lblAlgn val="ctr"/>
        <c:lblOffset val="100"/>
        <c:noMultiLvlLbl val="0"/>
      </c:catAx>
      <c:valAx>
        <c:axId val="5436626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6623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Purpose Distribution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v>Business</c:v>
          </c:tx>
          <c:spPr>
            <a:solidFill>
              <a:schemeClr val="accent2">
                <a:shade val="76000"/>
              </a:schemeClr>
            </a:solidFill>
            <a:ln>
              <a:noFill/>
            </a:ln>
            <a:effectLst/>
          </c:spPr>
          <c:invertIfNegative val="0"/>
          <c:cat>
            <c:strLit>
              <c:ptCount val="11"/>
              <c:pt idx="0">
                <c:v>Airport/Travel</c:v>
              </c:pt>
              <c:pt idx="1">
                <c:v>Between Offices</c:v>
              </c:pt>
              <c:pt idx="2">
                <c:v>Charity ($)</c:v>
              </c:pt>
              <c:pt idx="3">
                <c:v>Commute</c:v>
              </c:pt>
              <c:pt idx="4">
                <c:v>Customer Visit</c:v>
              </c:pt>
              <c:pt idx="5">
                <c:v>Errand/Supplies</c:v>
              </c:pt>
              <c:pt idx="6">
                <c:v>Meal/Entertain</c:v>
              </c:pt>
              <c:pt idx="7">
                <c:v>Meeting</c:v>
              </c:pt>
              <c:pt idx="8">
                <c:v>Moving</c:v>
              </c:pt>
              <c:pt idx="9">
                <c:v>Not Specified</c:v>
              </c:pt>
              <c:pt idx="10">
                <c:v>Temporary Site</c:v>
              </c:pt>
            </c:strLit>
          </c:cat>
          <c:val>
            <c:numLit>
              <c:formatCode>General</c:formatCode>
              <c:ptCount val="11"/>
              <c:pt idx="0">
                <c:v>3</c:v>
              </c:pt>
              <c:pt idx="1">
                <c:v>18</c:v>
              </c:pt>
              <c:pt idx="2">
                <c:v>0</c:v>
              </c:pt>
              <c:pt idx="3">
                <c:v>0</c:v>
              </c:pt>
              <c:pt idx="4">
                <c:v>101</c:v>
              </c:pt>
              <c:pt idx="5">
                <c:v>128</c:v>
              </c:pt>
              <c:pt idx="6">
                <c:v>160</c:v>
              </c:pt>
              <c:pt idx="7">
                <c:v>187</c:v>
              </c:pt>
              <c:pt idx="8">
                <c:v>0</c:v>
              </c:pt>
              <c:pt idx="9">
                <c:v>431</c:v>
              </c:pt>
              <c:pt idx="10">
                <c:v>50</c:v>
              </c:pt>
            </c:numLit>
          </c:val>
          <c:extLst>
            <c:ext xmlns:c16="http://schemas.microsoft.com/office/drawing/2014/chart" uri="{C3380CC4-5D6E-409C-BE32-E72D297353CC}">
              <c16:uniqueId val="{00000000-3111-4FF7-8780-D2F64A70B5C9}"/>
            </c:ext>
          </c:extLst>
        </c:ser>
        <c:ser>
          <c:idx val="1"/>
          <c:order val="1"/>
          <c:tx>
            <c:v>Personal</c:v>
          </c:tx>
          <c:spPr>
            <a:solidFill>
              <a:schemeClr val="accent2">
                <a:tint val="77000"/>
              </a:schemeClr>
            </a:solidFill>
            <a:ln>
              <a:noFill/>
            </a:ln>
            <a:effectLst/>
          </c:spPr>
          <c:invertIfNegative val="0"/>
          <c:cat>
            <c:strLit>
              <c:ptCount val="11"/>
              <c:pt idx="0">
                <c:v>Airport/Travel</c:v>
              </c:pt>
              <c:pt idx="1">
                <c:v>Between Offices</c:v>
              </c:pt>
              <c:pt idx="2">
                <c:v>Charity ($)</c:v>
              </c:pt>
              <c:pt idx="3">
                <c:v>Commute</c:v>
              </c:pt>
              <c:pt idx="4">
                <c:v>Customer Visit</c:v>
              </c:pt>
              <c:pt idx="5">
                <c:v>Errand/Supplies</c:v>
              </c:pt>
              <c:pt idx="6">
                <c:v>Meal/Entertain</c:v>
              </c:pt>
              <c:pt idx="7">
                <c:v>Meeting</c:v>
              </c:pt>
              <c:pt idx="8">
                <c:v>Moving</c:v>
              </c:pt>
              <c:pt idx="9">
                <c:v>Not Specified</c:v>
              </c:pt>
              <c:pt idx="10">
                <c:v>Temporary Site</c:v>
              </c:pt>
            </c:strLit>
          </c:cat>
          <c:val>
            <c:numLit>
              <c:formatCode>General</c:formatCode>
              <c:ptCount val="11"/>
              <c:pt idx="0">
                <c:v>0</c:v>
              </c:pt>
              <c:pt idx="1">
                <c:v>0</c:v>
              </c:pt>
              <c:pt idx="2">
                <c:v>1</c:v>
              </c:pt>
              <c:pt idx="3">
                <c:v>1</c:v>
              </c:pt>
              <c:pt idx="4">
                <c:v>0</c:v>
              </c:pt>
              <c:pt idx="5">
                <c:v>0</c:v>
              </c:pt>
              <c:pt idx="6">
                <c:v>0</c:v>
              </c:pt>
              <c:pt idx="7">
                <c:v>0</c:v>
              </c:pt>
              <c:pt idx="8">
                <c:v>4</c:v>
              </c:pt>
              <c:pt idx="9">
                <c:v>71</c:v>
              </c:pt>
              <c:pt idx="10">
                <c:v>0</c:v>
              </c:pt>
            </c:numLit>
          </c:val>
          <c:extLst>
            <c:ext xmlns:c16="http://schemas.microsoft.com/office/drawing/2014/chart" uri="{C3380CC4-5D6E-409C-BE32-E72D297353CC}">
              <c16:uniqueId val="{00000001-3111-4FF7-8780-D2F64A70B5C9}"/>
            </c:ext>
          </c:extLst>
        </c:ser>
        <c:dLbls>
          <c:showLegendKey val="0"/>
          <c:showVal val="0"/>
          <c:showCatName val="0"/>
          <c:showSerName val="0"/>
          <c:showPercent val="0"/>
          <c:showBubbleSize val="0"/>
        </c:dLbls>
        <c:gapWidth val="150"/>
        <c:overlap val="100"/>
        <c:axId val="543700672"/>
        <c:axId val="543698560"/>
      </c:barChart>
      <c:catAx>
        <c:axId val="5437006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698560"/>
        <c:crosses val="autoZero"/>
        <c:auto val="1"/>
        <c:lblAlgn val="ctr"/>
        <c:lblOffset val="100"/>
        <c:noMultiLvlLbl val="0"/>
      </c:catAx>
      <c:valAx>
        <c:axId val="54369856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70067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Average Miles by Category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Total</c:v>
          </c:tx>
          <c:spPr>
            <a:solidFill>
              <a:schemeClr val="accent2"/>
            </a:solidFill>
            <a:ln>
              <a:noFill/>
            </a:ln>
            <a:effectLst/>
          </c:spPr>
          <c:invertIfNegative val="0"/>
          <c:cat>
            <c:strLit>
              <c:ptCount val="2"/>
              <c:pt idx="0">
                <c:v>Business</c:v>
              </c:pt>
              <c:pt idx="1">
                <c:v>Personal</c:v>
              </c:pt>
            </c:strLit>
          </c:cat>
          <c:val>
            <c:numLit>
              <c:formatCode>General</c:formatCode>
              <c:ptCount val="2"/>
              <c:pt idx="0">
                <c:v>10.655844155844147</c:v>
              </c:pt>
              <c:pt idx="1">
                <c:v>9.3207792207792188</c:v>
              </c:pt>
            </c:numLit>
          </c:val>
          <c:extLst>
            <c:ext xmlns:c16="http://schemas.microsoft.com/office/drawing/2014/chart" uri="{C3380CC4-5D6E-409C-BE32-E72D297353CC}">
              <c16:uniqueId val="{00000000-E7C3-4B0C-A1C6-43678413C8C3}"/>
            </c:ext>
          </c:extLst>
        </c:ser>
        <c:dLbls>
          <c:showLegendKey val="0"/>
          <c:showVal val="0"/>
          <c:showCatName val="0"/>
          <c:showSerName val="0"/>
          <c:showPercent val="0"/>
          <c:showBubbleSize val="0"/>
        </c:dLbls>
        <c:gapWidth val="150"/>
        <c:axId val="543692928"/>
        <c:axId val="543693280"/>
      </c:barChart>
      <c:catAx>
        <c:axId val="54369292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693280"/>
        <c:crosses val="autoZero"/>
        <c:auto val="1"/>
        <c:lblAlgn val="ctr"/>
        <c:lblOffset val="100"/>
        <c:noMultiLvlLbl val="0"/>
      </c:catAx>
      <c:valAx>
        <c:axId val="543693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6929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Top 10 Destinations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v>Total</c:v>
          </c:tx>
          <c:spPr>
            <a:solidFill>
              <a:schemeClr val="accent2"/>
            </a:solidFill>
            <a:ln>
              <a:noFill/>
            </a:ln>
            <a:effectLst/>
          </c:spPr>
          <c:invertIfNegative val="0"/>
          <c:cat>
            <c:strLit>
              <c:ptCount val="11"/>
              <c:pt idx="0">
                <c:v>Bori Camp</c:v>
              </c:pt>
              <c:pt idx="1">
                <c:v>Dockyard</c:v>
              </c:pt>
              <c:pt idx="2">
                <c:v>East-West Road</c:v>
              </c:pt>
              <c:pt idx="3">
                <c:v>Ikoku</c:v>
              </c:pt>
              <c:pt idx="4">
                <c:v>Mile 1</c:v>
              </c:pt>
              <c:pt idx="5">
                <c:v>MTN Office</c:v>
              </c:pt>
              <c:pt idx="6">
                <c:v>NTA Road</c:v>
              </c:pt>
              <c:pt idx="7">
                <c:v>Rumuodomaya</c:v>
              </c:pt>
              <c:pt idx="8">
                <c:v>Rumuomoi</c:v>
              </c:pt>
              <c:pt idx="9">
                <c:v>Slaughter Market</c:v>
              </c:pt>
              <c:pt idx="10">
                <c:v>Tank Junction</c:v>
              </c:pt>
            </c:strLit>
          </c:cat>
          <c:val>
            <c:numLit>
              <c:formatCode>General</c:formatCode>
              <c:ptCount val="11"/>
              <c:pt idx="0">
                <c:v>12</c:v>
              </c:pt>
              <c:pt idx="1">
                <c:v>13</c:v>
              </c:pt>
              <c:pt idx="2">
                <c:v>12</c:v>
              </c:pt>
              <c:pt idx="3">
                <c:v>16</c:v>
              </c:pt>
              <c:pt idx="4">
                <c:v>13</c:v>
              </c:pt>
              <c:pt idx="5">
                <c:v>17</c:v>
              </c:pt>
              <c:pt idx="6">
                <c:v>12</c:v>
              </c:pt>
              <c:pt idx="7">
                <c:v>12</c:v>
              </c:pt>
              <c:pt idx="8">
                <c:v>12</c:v>
              </c:pt>
              <c:pt idx="9">
                <c:v>13</c:v>
              </c:pt>
              <c:pt idx="10">
                <c:v>12</c:v>
              </c:pt>
            </c:numLit>
          </c:val>
          <c:extLst>
            <c:ext xmlns:c16="http://schemas.microsoft.com/office/drawing/2014/chart" uri="{C3380CC4-5D6E-409C-BE32-E72D297353CC}">
              <c16:uniqueId val="{00000000-1636-493B-AF5A-5021C6F9D686}"/>
            </c:ext>
          </c:extLst>
        </c:ser>
        <c:dLbls>
          <c:showLegendKey val="0"/>
          <c:showVal val="0"/>
          <c:showCatName val="0"/>
          <c:showSerName val="0"/>
          <c:showPercent val="0"/>
          <c:showBubbleSize val="0"/>
        </c:dLbls>
        <c:gapWidth val="182"/>
        <c:axId val="543677440"/>
        <c:axId val="543678144"/>
      </c:barChart>
      <c:catAx>
        <c:axId val="5436774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678144"/>
        <c:crosses val="autoZero"/>
        <c:auto val="1"/>
        <c:lblAlgn val="ctr"/>
        <c:lblOffset val="100"/>
        <c:noMultiLvlLbl val="0"/>
      </c:catAx>
      <c:valAx>
        <c:axId val="5436781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6774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withinLinear" id="15">
  <a:schemeClr val="accent2"/>
</cs:colorStyle>
</file>

<file path=ppt/charts/colors6.xml><?xml version="1.0" encoding="utf-8"?>
<cs:colorStyle xmlns:cs="http://schemas.microsoft.com/office/drawing/2012/chartStyle" xmlns:a="http://schemas.openxmlformats.org/drawingml/2006/main" meth="withinLinear" id="15">
  <a:schemeClr val="accent2"/>
</cs:colorStyle>
</file>

<file path=ppt/charts/colors7.xml><?xml version="1.0" encoding="utf-8"?>
<cs:colorStyle xmlns:cs="http://schemas.microsoft.com/office/drawing/2012/chartStyle" xmlns:a="http://schemas.openxmlformats.org/drawingml/2006/main" meth="withinLinear" id="15">
  <a:schemeClr val="accent2"/>
</cs:colorStyle>
</file>

<file path=ppt/charts/colors8.xml><?xml version="1.0" encoding="utf-8"?>
<cs:colorStyle xmlns:cs="http://schemas.microsoft.com/office/drawing/2012/chartStyle" xmlns:a="http://schemas.openxmlformats.org/drawingml/2006/main" meth="withinLinear" id="15">
  <a:schemeClr val="accent2"/>
</cs:colorStyle>
</file>

<file path=ppt/charts/colors9.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A2740-5FEA-2938-0047-4AF8808D03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4DF7D1-5412-6E00-3246-BD7252E0A8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DD2229-DDE2-36E5-4AE8-8A33CAF6D6AF}"/>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5" name="Footer Placeholder 4">
            <a:extLst>
              <a:ext uri="{FF2B5EF4-FFF2-40B4-BE49-F238E27FC236}">
                <a16:creationId xmlns:a16="http://schemas.microsoft.com/office/drawing/2014/main" id="{551D6AD2-E104-A6D3-D0A1-EE541E4145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C4B4D8-63E0-9024-3E4C-AB36D8C542A3}"/>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4221297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BE6C8-7562-A0C2-B513-B1A3B6F9F5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0087BD-DE02-025E-B862-130DC99E1D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EE52D8-F091-599E-0E81-FB999FF078B2}"/>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5" name="Footer Placeholder 4">
            <a:extLst>
              <a:ext uri="{FF2B5EF4-FFF2-40B4-BE49-F238E27FC236}">
                <a16:creationId xmlns:a16="http://schemas.microsoft.com/office/drawing/2014/main" id="{6F015232-1D77-703E-033E-64998D3F3C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58A87F-D889-27CA-7893-35D8009A974B}"/>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325935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D5356-1938-B284-979D-B860FAB2C2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3A2E05-233E-7905-7E35-3EA8BC762F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C9894E-ABAA-05DF-4596-27D1058CAE97}"/>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5" name="Footer Placeholder 4">
            <a:extLst>
              <a:ext uri="{FF2B5EF4-FFF2-40B4-BE49-F238E27FC236}">
                <a16:creationId xmlns:a16="http://schemas.microsoft.com/office/drawing/2014/main" id="{32BDA0AD-69D8-5331-45FA-E8F53F3A1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4FEE4-6B76-5E99-963E-3D96877D2459}"/>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3760158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7CE9E-92BD-83D1-5DEE-39CC287106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9DF765-C54F-6C41-7C89-140845AB96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374B0-4378-1B29-A88C-491B9319FF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4D5CA8-ED50-D530-A7BE-46092001E5FA}"/>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6" name="Footer Placeholder 5">
            <a:extLst>
              <a:ext uri="{FF2B5EF4-FFF2-40B4-BE49-F238E27FC236}">
                <a16:creationId xmlns:a16="http://schemas.microsoft.com/office/drawing/2014/main" id="{462E6ED8-2E5D-71FC-E5C4-C65CAF13DF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3244C2-A649-5053-6F32-8576A2333C03}"/>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2227161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46DE9-468A-38CC-57E8-2C96A0CB5D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718342-53AD-0131-016D-04194B1D40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6939AB-E790-32C6-944E-2F7F08171D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FD0552-49DC-76DF-347B-2D1E0338BB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B45085-B7F5-5078-3CEC-76FB03EBFB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E5A0A5-1D1F-0451-53B1-843BEC41FE9E}"/>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8" name="Footer Placeholder 7">
            <a:extLst>
              <a:ext uri="{FF2B5EF4-FFF2-40B4-BE49-F238E27FC236}">
                <a16:creationId xmlns:a16="http://schemas.microsoft.com/office/drawing/2014/main" id="{F48CB9C9-82DD-274B-D1CF-67B31204AE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07BCBE-CA5A-7FDE-B5FE-564C65BC2D1E}"/>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75063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4F365-FF21-5B6C-8B5C-27642EB108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2AE6EE-13E6-F0E1-F12F-9942DA9D488D}"/>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4" name="Footer Placeholder 3">
            <a:extLst>
              <a:ext uri="{FF2B5EF4-FFF2-40B4-BE49-F238E27FC236}">
                <a16:creationId xmlns:a16="http://schemas.microsoft.com/office/drawing/2014/main" id="{65AB9815-7DB2-7D0A-6EF0-7EC0F8FFC3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2DA59D-4100-26D1-5DA3-6C4B84EE0423}"/>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1873133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678A2A-CE42-8E36-6247-A3571AB66C18}"/>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3" name="Footer Placeholder 2">
            <a:extLst>
              <a:ext uri="{FF2B5EF4-FFF2-40B4-BE49-F238E27FC236}">
                <a16:creationId xmlns:a16="http://schemas.microsoft.com/office/drawing/2014/main" id="{42B38154-8D99-E54F-B658-ACC6EC9454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F26030-C537-0655-F971-203E9E227735}"/>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3066032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76068-0A85-72CB-56C7-9BA25EDF3A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D7C523-DBAF-9D43-F057-295D0511BB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414B75-22EA-4912-6D25-7AE887C16A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7A6846-B2E6-B5F2-E344-493633BEEA8D}"/>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6" name="Footer Placeholder 5">
            <a:extLst>
              <a:ext uri="{FF2B5EF4-FFF2-40B4-BE49-F238E27FC236}">
                <a16:creationId xmlns:a16="http://schemas.microsoft.com/office/drawing/2014/main" id="{3DD0A4FD-F8B5-CCFA-019B-8D587AD97C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8203CA-27CC-026C-1272-CA2D2330E0E6}"/>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379761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73DB3-C5D5-BA5F-AE8F-E60DF0683B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D81144-65AD-C4C0-1658-71F00393AD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07EF7F-767E-7041-D73C-E336E98CE2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66123D-91D3-F822-90EF-B49E0AB19320}"/>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6" name="Footer Placeholder 5">
            <a:extLst>
              <a:ext uri="{FF2B5EF4-FFF2-40B4-BE49-F238E27FC236}">
                <a16:creationId xmlns:a16="http://schemas.microsoft.com/office/drawing/2014/main" id="{0A976FF3-9CCB-FF06-B119-A17BEE6889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CE8EE4-52F5-1C6E-51B5-135D5B88DAD8}"/>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2124385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975CF-8BD8-DE04-FC08-0CA7C20881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F3D927-E018-9050-22D5-195EC2890C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277496-9B42-E143-75D0-5F7BE13AB95B}"/>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5" name="Footer Placeholder 4">
            <a:extLst>
              <a:ext uri="{FF2B5EF4-FFF2-40B4-BE49-F238E27FC236}">
                <a16:creationId xmlns:a16="http://schemas.microsoft.com/office/drawing/2014/main" id="{E8CB6B77-1CC1-4663-1F52-E6298AAC1F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4FB74F-3F4D-1CFB-2A85-DCD36D3291C5}"/>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2246068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A6B45B-5DC2-C6CD-8E8D-F719787A90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B49403-D7F2-2915-F19D-9C0A3DE837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BFC85-6B98-5453-FB75-CA954F0D1010}"/>
              </a:ext>
            </a:extLst>
          </p:cNvPr>
          <p:cNvSpPr>
            <a:spLocks noGrp="1"/>
          </p:cNvSpPr>
          <p:nvPr>
            <p:ph type="dt" sz="half" idx="10"/>
          </p:nvPr>
        </p:nvSpPr>
        <p:spPr/>
        <p:txBody>
          <a:bodyPr/>
          <a:lstStyle/>
          <a:p>
            <a:fld id="{640C9EAC-E0D8-4912-A996-2706E269A2AC}" type="datetimeFigureOut">
              <a:rPr lang="en-US" smtClean="0"/>
              <a:t>7/24/2026</a:t>
            </a:fld>
            <a:endParaRPr lang="en-US"/>
          </a:p>
        </p:txBody>
      </p:sp>
      <p:sp>
        <p:nvSpPr>
          <p:cNvPr id="5" name="Footer Placeholder 4">
            <a:extLst>
              <a:ext uri="{FF2B5EF4-FFF2-40B4-BE49-F238E27FC236}">
                <a16:creationId xmlns:a16="http://schemas.microsoft.com/office/drawing/2014/main" id="{297835D6-9A02-2DD3-8D55-970D2C04F7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410379-DA99-6F24-B382-CF3C6F164B7C}"/>
              </a:ext>
            </a:extLst>
          </p:cNvPr>
          <p:cNvSpPr>
            <a:spLocks noGrp="1"/>
          </p:cNvSpPr>
          <p:nvPr>
            <p:ph type="sldNum" sz="quarter" idx="12"/>
          </p:nvPr>
        </p:nvSpPr>
        <p:spPr/>
        <p:txBody>
          <a:bodyPr/>
          <a:lstStyle/>
          <a:p>
            <a:fld id="{73B83C18-D88F-41F4-80D8-08DDB68449D9}" type="slidenum">
              <a:rPr lang="en-US" smtClean="0"/>
              <a:t>‹#›</a:t>
            </a:fld>
            <a:endParaRPr lang="en-US"/>
          </a:p>
        </p:txBody>
      </p:sp>
    </p:spTree>
    <p:extLst>
      <p:ext uri="{BB962C8B-B14F-4D97-AF65-F5344CB8AC3E}">
        <p14:creationId xmlns:p14="http://schemas.microsoft.com/office/powerpoint/2010/main" val="3798886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22E424-4FAE-30AA-D16E-1B2423875A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F79354-AE6A-0247-D27E-AD8E26566D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EB2B06-D951-D58B-412A-5D0B54D5C1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0C9EAC-E0D8-4912-A996-2706E269A2AC}" type="datetimeFigureOut">
              <a:rPr lang="en-US" smtClean="0"/>
              <a:t>7/24/2026</a:t>
            </a:fld>
            <a:endParaRPr lang="en-US"/>
          </a:p>
        </p:txBody>
      </p:sp>
      <p:sp>
        <p:nvSpPr>
          <p:cNvPr id="5" name="Footer Placeholder 4">
            <a:extLst>
              <a:ext uri="{FF2B5EF4-FFF2-40B4-BE49-F238E27FC236}">
                <a16:creationId xmlns:a16="http://schemas.microsoft.com/office/drawing/2014/main" id="{39BC0DAC-C362-8EF5-C794-79532CB989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ED015E-DFCA-B1FD-6AC5-1117BDA034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B83C18-D88F-41F4-80D8-08DDB68449D9}" type="slidenum">
              <a:rPr lang="en-US" smtClean="0"/>
              <a:t>‹#›</a:t>
            </a:fld>
            <a:endParaRPr lang="en-US"/>
          </a:p>
        </p:txBody>
      </p:sp>
    </p:spTree>
    <p:extLst>
      <p:ext uri="{BB962C8B-B14F-4D97-AF65-F5344CB8AC3E}">
        <p14:creationId xmlns:p14="http://schemas.microsoft.com/office/powerpoint/2010/main" val="383817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7" Type="http://schemas.openxmlformats.org/officeDocument/2006/relationships/chart" Target="../charts/chart9.xml"/><Relationship Id="rId2" Type="http://schemas.openxmlformats.org/officeDocument/2006/relationships/chart" Target="../charts/chart4.xml"/><Relationship Id="rId1" Type="http://schemas.openxmlformats.org/officeDocument/2006/relationships/slideLayout" Target="../slideLayouts/slideLayout7.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0CA153B-826B-3C0A-B1E3-08680747CEDE}"/>
              </a:ext>
            </a:extLst>
          </p:cNvPr>
          <p:cNvSpPr txBox="1"/>
          <p:nvPr/>
        </p:nvSpPr>
        <p:spPr>
          <a:xfrm>
            <a:off x="896678" y="2459504"/>
            <a:ext cx="10398643" cy="1938992"/>
          </a:xfrm>
          <a:prstGeom prst="rect">
            <a:avLst/>
          </a:prstGeom>
          <a:noFill/>
        </p:spPr>
        <p:txBody>
          <a:bodyPr wrap="square">
            <a:spAutoFit/>
          </a:bodyPr>
          <a:lstStyle/>
          <a:p>
            <a:pPr algn="ctr"/>
            <a:r>
              <a:rPr lang="en-US" sz="6000" b="1" dirty="0"/>
              <a:t>PORT HARCOURT RIDE-HAILING ANALYSIS</a:t>
            </a:r>
          </a:p>
        </p:txBody>
      </p:sp>
    </p:spTree>
    <p:extLst>
      <p:ext uri="{BB962C8B-B14F-4D97-AF65-F5344CB8AC3E}">
        <p14:creationId xmlns:p14="http://schemas.microsoft.com/office/powerpoint/2010/main" val="1505267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8D5E0D92-0C97-EDB8-0F38-86BECDE23116}"/>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TABLE OF CONTENT</a:t>
            </a:r>
          </a:p>
        </p:txBody>
      </p:sp>
      <p:sp>
        <p:nvSpPr>
          <p:cNvPr id="5" name="TextBox 4">
            <a:extLst>
              <a:ext uri="{FF2B5EF4-FFF2-40B4-BE49-F238E27FC236}">
                <a16:creationId xmlns:a16="http://schemas.microsoft.com/office/drawing/2014/main" id="{FAAD804C-90F8-E1BA-3B58-29456D71E2FF}"/>
              </a:ext>
            </a:extLst>
          </p:cNvPr>
          <p:cNvSpPr txBox="1"/>
          <p:nvPr/>
        </p:nvSpPr>
        <p:spPr>
          <a:xfrm>
            <a:off x="606056" y="1013883"/>
            <a:ext cx="6103088" cy="3359061"/>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dirty="0"/>
              <a:t>PROJECT OVERVIEW</a:t>
            </a:r>
          </a:p>
          <a:p>
            <a:pPr marL="342900" indent="-342900">
              <a:lnSpc>
                <a:spcPct val="150000"/>
              </a:lnSpc>
              <a:buFont typeface="Wingdings" panose="05000000000000000000" pitchFamily="2" charset="2"/>
              <a:buChar char="v"/>
            </a:pPr>
            <a:r>
              <a:rPr lang="en-US" sz="2400" dirty="0"/>
              <a:t>DATA CLEANING &amp; PREPARATION</a:t>
            </a:r>
          </a:p>
          <a:p>
            <a:pPr marL="342900" indent="-342900">
              <a:lnSpc>
                <a:spcPct val="150000"/>
              </a:lnSpc>
              <a:buFont typeface="Wingdings" panose="05000000000000000000" pitchFamily="2" charset="2"/>
              <a:buChar char="v"/>
            </a:pPr>
            <a:r>
              <a:rPr lang="en-US" sz="2400" dirty="0"/>
              <a:t>ANALYSIS</a:t>
            </a:r>
          </a:p>
          <a:p>
            <a:pPr marL="342900" indent="-342900">
              <a:lnSpc>
                <a:spcPct val="150000"/>
              </a:lnSpc>
              <a:buFont typeface="Wingdings" panose="05000000000000000000" pitchFamily="2" charset="2"/>
              <a:buChar char="v"/>
            </a:pPr>
            <a:r>
              <a:rPr lang="en-US" sz="2400" dirty="0"/>
              <a:t>KEY FINDINGS &amp; VISUALISATIONS</a:t>
            </a:r>
          </a:p>
          <a:p>
            <a:pPr marL="342900" indent="-342900">
              <a:lnSpc>
                <a:spcPct val="150000"/>
              </a:lnSpc>
              <a:buFont typeface="Wingdings" panose="05000000000000000000" pitchFamily="2" charset="2"/>
              <a:buChar char="v"/>
            </a:pPr>
            <a:r>
              <a:rPr lang="en-US" sz="2400" dirty="0"/>
              <a:t>DASHBOARD</a:t>
            </a:r>
          </a:p>
          <a:p>
            <a:pPr marL="342900" indent="-342900">
              <a:lnSpc>
                <a:spcPct val="150000"/>
              </a:lnSpc>
              <a:buFont typeface="Wingdings" panose="05000000000000000000" pitchFamily="2" charset="2"/>
              <a:buChar char="v"/>
            </a:pPr>
            <a:r>
              <a:rPr lang="en-US" sz="2400" dirty="0"/>
              <a:t>RECOMMENDATION</a:t>
            </a:r>
          </a:p>
        </p:txBody>
      </p:sp>
    </p:spTree>
    <p:extLst>
      <p:ext uri="{BB962C8B-B14F-4D97-AF65-F5344CB8AC3E}">
        <p14:creationId xmlns:p14="http://schemas.microsoft.com/office/powerpoint/2010/main" val="629858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47FFD8-13D1-8AF4-D282-63D162D64A7D}"/>
              </a:ext>
            </a:extLst>
          </p:cNvPr>
          <p:cNvSpPr txBox="1"/>
          <p:nvPr/>
        </p:nvSpPr>
        <p:spPr>
          <a:xfrm>
            <a:off x="221511" y="741540"/>
            <a:ext cx="11748977" cy="4708981"/>
          </a:xfrm>
          <a:prstGeom prst="rect">
            <a:avLst/>
          </a:prstGeom>
          <a:noFill/>
        </p:spPr>
        <p:txBody>
          <a:bodyPr wrap="square">
            <a:spAutoFit/>
          </a:bodyPr>
          <a:lstStyle/>
          <a:p>
            <a:pPr>
              <a:buNone/>
            </a:pPr>
            <a:r>
              <a:rPr lang="en-US" sz="2000" b="1" dirty="0"/>
              <a:t>Project Background:</a:t>
            </a:r>
            <a:br>
              <a:rPr lang="en-US" sz="2000" dirty="0"/>
            </a:br>
            <a:r>
              <a:rPr lang="en-US" sz="2000" dirty="0"/>
              <a:t>This project analyzed ride-hailing trips in Port Harcourt to understand travel behavior, journey patterns, mileage, and ride purposes.</a:t>
            </a:r>
          </a:p>
          <a:p>
            <a:pPr>
              <a:buNone/>
            </a:pPr>
            <a:endParaRPr lang="en-US" sz="2000" dirty="0"/>
          </a:p>
          <a:p>
            <a:pPr>
              <a:buNone/>
            </a:pPr>
            <a:r>
              <a:rPr lang="en-US" sz="2000" b="1" dirty="0"/>
              <a:t>Objective:</a:t>
            </a:r>
            <a:br>
              <a:rPr lang="en-US" sz="2000" dirty="0"/>
            </a:br>
            <a:r>
              <a:rPr lang="en-US" sz="2000" dirty="0"/>
              <a:t>To identify travel patterns and opportunities for improving business travel efficiency and reducing unnecessary mileage.</a:t>
            </a:r>
          </a:p>
          <a:p>
            <a:pPr>
              <a:buNone/>
            </a:pPr>
            <a:endParaRPr lang="en-US" sz="2000" dirty="0"/>
          </a:p>
          <a:p>
            <a:pPr>
              <a:buNone/>
            </a:pPr>
            <a:r>
              <a:rPr lang="en-US" sz="2000" b="1" dirty="0"/>
              <a:t>Key Analytical Tasks:</a:t>
            </a:r>
            <a:br>
              <a:rPr lang="en-US" sz="2000" dirty="0"/>
            </a:br>
            <a:r>
              <a:rPr lang="en-US" sz="2000" dirty="0"/>
              <a:t>Data cleaning; date and time standardization; missing-value treatment; business versus personal ride comparison; mileage analysis; ride-purpose analysis; start and destination analysis; time-of-day patterns; outlier detection; visualization; and recommendations.</a:t>
            </a:r>
          </a:p>
          <a:p>
            <a:pPr>
              <a:buNone/>
            </a:pPr>
            <a:endParaRPr lang="en-US" sz="2000" dirty="0"/>
          </a:p>
          <a:p>
            <a:pPr>
              <a:buNone/>
            </a:pPr>
            <a:r>
              <a:rPr lang="en-US" sz="2000" b="1" dirty="0"/>
              <a:t>Key Variables:</a:t>
            </a:r>
            <a:br>
              <a:rPr lang="en-US" sz="2000" dirty="0"/>
            </a:br>
            <a:r>
              <a:rPr lang="en-US" sz="2000" dirty="0"/>
              <a:t>Trip date/time, start location, destination, ride category, distance/mileage, and purpose.</a:t>
            </a:r>
          </a:p>
        </p:txBody>
      </p:sp>
      <p:sp>
        <p:nvSpPr>
          <p:cNvPr id="5" name="TextBox 1">
            <a:extLst>
              <a:ext uri="{FF2B5EF4-FFF2-40B4-BE49-F238E27FC236}">
                <a16:creationId xmlns:a16="http://schemas.microsoft.com/office/drawing/2014/main" id="{B7A2D3E8-B29B-4309-BB6B-3FCA02E73653}"/>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PROJECT OVERVIEW</a:t>
            </a:r>
          </a:p>
        </p:txBody>
      </p:sp>
    </p:spTree>
    <p:extLst>
      <p:ext uri="{BB962C8B-B14F-4D97-AF65-F5344CB8AC3E}">
        <p14:creationId xmlns:p14="http://schemas.microsoft.com/office/powerpoint/2010/main" val="4113992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C44D1A0F-FEFC-0E3F-E467-F4C4C0B4A405}"/>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DATA CLEANING &amp; PREPARATION</a:t>
            </a:r>
          </a:p>
        </p:txBody>
      </p:sp>
      <p:sp>
        <p:nvSpPr>
          <p:cNvPr id="4" name="TextBox 1">
            <a:extLst>
              <a:ext uri="{FF2B5EF4-FFF2-40B4-BE49-F238E27FC236}">
                <a16:creationId xmlns:a16="http://schemas.microsoft.com/office/drawing/2014/main" id="{17DDD003-8FB1-F0C7-BFE9-D9B839CA58A8}"/>
              </a:ext>
            </a:extLst>
          </p:cNvPr>
          <p:cNvSpPr txBox="1"/>
          <p:nvPr/>
        </p:nvSpPr>
        <p:spPr>
          <a:xfrm>
            <a:off x="233916" y="717549"/>
            <a:ext cx="11717079" cy="5864003"/>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2000" dirty="0"/>
              <a:t>Before conducting the analysis, the ride-hailing dataset was cleaned and prepared in Microsoft Excel to ensure the data was accurate, consistent, and suitable for analysis.</a:t>
            </a:r>
          </a:p>
          <a:p>
            <a:r>
              <a:rPr lang="en-US" sz="2000" dirty="0"/>
              <a:t>The dataset was first examined for duplicate records, and </a:t>
            </a:r>
            <a:r>
              <a:rPr lang="en-US" sz="2000" b="1" dirty="0"/>
              <a:t>no duplicate trips were identified</a:t>
            </a:r>
            <a:r>
              <a:rPr lang="en-US" sz="2000" dirty="0"/>
              <a:t>, confirming that each record represented a unique journey. The dataset was then reviewed for missing values across all variables. Blank entries in the </a:t>
            </a:r>
            <a:r>
              <a:rPr lang="en-US" sz="2000" b="1" dirty="0"/>
              <a:t>Purpose</a:t>
            </a:r>
            <a:r>
              <a:rPr lang="en-US" sz="2000" dirty="0"/>
              <a:t> column were identified and replaced with </a:t>
            </a:r>
            <a:r>
              <a:rPr lang="en-US" sz="2000" b="1" dirty="0"/>
              <a:t>"Not Specified"</a:t>
            </a:r>
            <a:r>
              <a:rPr lang="en-US" sz="2000" dirty="0"/>
              <a:t> to preserve all trip records while clearly indicating that the purpose of those journeys was unavailable.</a:t>
            </a:r>
          </a:p>
          <a:p>
            <a:r>
              <a:rPr lang="en-US" sz="2000" dirty="0"/>
              <a:t>The </a:t>
            </a:r>
            <a:r>
              <a:rPr lang="en-US" sz="2000" b="1" dirty="0"/>
              <a:t>START_DATE</a:t>
            </a:r>
            <a:r>
              <a:rPr lang="en-US" sz="2000" dirty="0"/>
              <a:t> and </a:t>
            </a:r>
            <a:r>
              <a:rPr lang="en-US" sz="2000" b="1" dirty="0"/>
              <a:t>END_DATE</a:t>
            </a:r>
            <a:r>
              <a:rPr lang="en-US" sz="2000" dirty="0"/>
              <a:t> fields were verified and retained in their original date-and-time format to support time-based analyses, such as identifying peak travel hours and calculating trip durations. In addition, separate </a:t>
            </a:r>
            <a:r>
              <a:rPr lang="en-US" sz="2000" b="1" dirty="0"/>
              <a:t>date-only</a:t>
            </a:r>
            <a:r>
              <a:rPr lang="en-US" sz="2000" dirty="0"/>
              <a:t> columns were created from these fields to facilitate daily, weekly, and monthly trend analysis without affecting the original timestamp information.</a:t>
            </a:r>
          </a:p>
          <a:p>
            <a:endParaRPr lang="en-US" sz="2000" dirty="0"/>
          </a:p>
          <a:p>
            <a:r>
              <a:rPr lang="en-US" sz="2000" dirty="0"/>
              <a:t>The dataset was also reviewed to ensure that each variable was assigned the appropriate data type. Date fields were formatted correctly, the </a:t>
            </a:r>
            <a:r>
              <a:rPr lang="en-US" sz="2000" b="1" dirty="0"/>
              <a:t>Miles</a:t>
            </a:r>
            <a:r>
              <a:rPr lang="en-US" sz="2000" dirty="0"/>
              <a:t> column was confirmed as a numerical variable, and categorical fields such as </a:t>
            </a:r>
            <a:r>
              <a:rPr lang="en-US" sz="2000" b="1" dirty="0"/>
              <a:t>Category</a:t>
            </a:r>
            <a:r>
              <a:rPr lang="en-US" sz="2000" dirty="0"/>
              <a:t>, </a:t>
            </a:r>
            <a:r>
              <a:rPr lang="en-US" sz="2000" b="1" dirty="0"/>
              <a:t>Start</a:t>
            </a:r>
            <a:r>
              <a:rPr lang="en-US" sz="2000" dirty="0"/>
              <a:t>, </a:t>
            </a:r>
            <a:r>
              <a:rPr lang="en-US" sz="2000" b="1" dirty="0"/>
              <a:t>Stop</a:t>
            </a:r>
            <a:r>
              <a:rPr lang="en-US" sz="2000" dirty="0"/>
              <a:t>, and </a:t>
            </a:r>
            <a:r>
              <a:rPr lang="en-US" sz="2000" b="1" dirty="0"/>
              <a:t>Purpose</a:t>
            </a:r>
            <a:r>
              <a:rPr lang="en-US" sz="2000" dirty="0"/>
              <a:t> were checked for consistency in spelling and formatting.</a:t>
            </a:r>
          </a:p>
          <a:p>
            <a:r>
              <a:rPr lang="en-US" sz="2000" dirty="0"/>
              <a:t>Following the cleaning process, the dataset was complete, consistent, and ready for exploratory data analysis. The cleaned data provided a reliable foundation for analyzing travel patterns, ride categories, trip purposes, mileage, and temporal trends.</a:t>
            </a:r>
          </a:p>
          <a:p>
            <a:endParaRPr lang="en-US" sz="2000" dirty="0"/>
          </a:p>
        </p:txBody>
      </p:sp>
    </p:spTree>
    <p:extLst>
      <p:ext uri="{BB962C8B-B14F-4D97-AF65-F5344CB8AC3E}">
        <p14:creationId xmlns:p14="http://schemas.microsoft.com/office/powerpoint/2010/main" val="2814181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3E0536BD-C4B9-2EE4-8267-9CD804E92428}"/>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ANALYSIS</a:t>
            </a:r>
          </a:p>
        </p:txBody>
      </p:sp>
      <p:sp>
        <p:nvSpPr>
          <p:cNvPr id="5" name="TextBox 4">
            <a:extLst>
              <a:ext uri="{FF2B5EF4-FFF2-40B4-BE49-F238E27FC236}">
                <a16:creationId xmlns:a16="http://schemas.microsoft.com/office/drawing/2014/main" id="{2EB99B6F-2F9A-D480-AC17-065B586EF169}"/>
              </a:ext>
            </a:extLst>
          </p:cNvPr>
          <p:cNvSpPr txBox="1"/>
          <p:nvPr/>
        </p:nvSpPr>
        <p:spPr>
          <a:xfrm>
            <a:off x="189614" y="700943"/>
            <a:ext cx="11812772" cy="5016758"/>
          </a:xfrm>
          <a:prstGeom prst="rect">
            <a:avLst/>
          </a:prstGeom>
          <a:noFill/>
        </p:spPr>
        <p:txBody>
          <a:bodyPr wrap="square">
            <a:spAutoFit/>
          </a:bodyPr>
          <a:lstStyle/>
          <a:p>
            <a:r>
              <a:rPr lang="en-US" sz="2000" dirty="0"/>
              <a:t>The cleaned ride dataset was analyzed using </a:t>
            </a:r>
            <a:r>
              <a:rPr lang="en-US" sz="2000" b="1" dirty="0"/>
              <a:t>Microsoft Excel, PivotTables, calculated fields, and charts</a:t>
            </a:r>
            <a:r>
              <a:rPr lang="en-US" sz="2000" dirty="0"/>
              <a:t> to examine travel behavior and identify differences between </a:t>
            </a:r>
            <a:r>
              <a:rPr lang="en-US" sz="2000" b="1" dirty="0"/>
              <a:t>business and personal journeys</a:t>
            </a:r>
            <a:r>
              <a:rPr lang="en-US" sz="2000" dirty="0"/>
              <a:t>. Rides were compared based on </a:t>
            </a:r>
            <a:r>
              <a:rPr lang="en-US" sz="2000" b="1" dirty="0"/>
              <a:t>average mileage, journey purpose, start and destination locations, duration, and time of day</a:t>
            </a:r>
            <a:r>
              <a:rPr lang="en-US" sz="2000" dirty="0"/>
              <a:t> to identify common travel patterns and peak periods.</a:t>
            </a:r>
          </a:p>
          <a:p>
            <a:r>
              <a:rPr lang="en-US" sz="2000" dirty="0"/>
              <a:t>Business rides dominated overall travel activity and recorded a slightly higher </a:t>
            </a:r>
            <a:r>
              <a:rPr lang="en-US" sz="2000" b="1" dirty="0"/>
              <a:t>average mileage of 10.66 miles</a:t>
            </a:r>
            <a:r>
              <a:rPr lang="en-US" sz="2000" dirty="0"/>
              <a:t>, compared with </a:t>
            </a:r>
            <a:r>
              <a:rPr lang="en-US" sz="2000" b="1" dirty="0"/>
              <a:t>9.32 miles for personal rides</a:t>
            </a:r>
            <a:r>
              <a:rPr lang="en-US" sz="2000" dirty="0"/>
              <a:t>. Time-based analysis showed that ride activity was highest during the </a:t>
            </a:r>
            <a:r>
              <a:rPr lang="en-US" sz="2000" b="1" dirty="0"/>
              <a:t>afternoon</a:t>
            </a:r>
            <a:r>
              <a:rPr lang="en-US" sz="2000" dirty="0"/>
              <a:t>, followed by evening and morning periods. Journey-purpose analysis identified </a:t>
            </a:r>
            <a:r>
              <a:rPr lang="en-US" sz="2000" b="1" dirty="0"/>
              <a:t>Meetings, Customer Visits, Meal/Entertainment, and Errands/Supplies</a:t>
            </a:r>
            <a:r>
              <a:rPr lang="en-US" sz="2000" dirty="0"/>
              <a:t> as common travel purposes.</a:t>
            </a:r>
          </a:p>
          <a:p>
            <a:r>
              <a:rPr lang="en-US" sz="2000" dirty="0"/>
              <a:t>Anomaly analysis was conducted using </a:t>
            </a:r>
            <a:r>
              <a:rPr lang="en-US" sz="2000" b="1" dirty="0"/>
              <a:t>trip distance, duration, and purpose</a:t>
            </a:r>
            <a:r>
              <a:rPr lang="en-US" sz="2000" dirty="0"/>
              <a:t> to identify unusual journeys. The longest trip covered </a:t>
            </a:r>
            <a:r>
              <a:rPr lang="en-US" sz="2000" b="1" dirty="0"/>
              <a:t>310.3 miles in 330 minutes</a:t>
            </a:r>
            <a:r>
              <a:rPr lang="en-US" sz="2000" dirty="0"/>
              <a:t>, while other significant distance outliers ranged from </a:t>
            </a:r>
            <a:r>
              <a:rPr lang="en-US" sz="2000" b="1" dirty="0"/>
              <a:t>180.2 to 201 miles</a:t>
            </a:r>
            <a:r>
              <a:rPr lang="en-US" sz="2000" dirty="0"/>
              <a:t>. Most of these unusually long journeys were classified as business trips, indicating that exceptional long-distance travel was mainly business-related.</a:t>
            </a:r>
          </a:p>
          <a:p>
            <a:r>
              <a:rPr lang="en-US" sz="2000" dirty="0"/>
              <a:t>Low-frequency purposes, including </a:t>
            </a:r>
            <a:r>
              <a:rPr lang="en-US" sz="2000" b="1" dirty="0"/>
              <a:t>Airport/Travel, Charity, Commute, and Moving</a:t>
            </a:r>
            <a:r>
              <a:rPr lang="en-US" sz="2000" dirty="0"/>
              <a:t>, were also identified as unusual compared with more frequently recorded journey purposes. Overall, the analysis provided insights into </a:t>
            </a:r>
            <a:r>
              <a:rPr lang="en-US" sz="2000" b="1" dirty="0"/>
              <a:t>travel demand, business versus personal usage, peak travel periods, unusual journeys, and opportunities to reduce unnecessary mileage and improve travel efficiency</a:t>
            </a:r>
            <a:r>
              <a:rPr lang="en-US" sz="2000" dirty="0"/>
              <a:t>.</a:t>
            </a:r>
          </a:p>
        </p:txBody>
      </p:sp>
    </p:spTree>
    <p:extLst>
      <p:ext uri="{BB962C8B-B14F-4D97-AF65-F5344CB8AC3E}">
        <p14:creationId xmlns:p14="http://schemas.microsoft.com/office/powerpoint/2010/main" val="3814947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90570CF5-109D-09A5-EBF8-3134D10CC4ED}"/>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KEY FINDINGS &amp; VISUALIZATION</a:t>
            </a:r>
          </a:p>
        </p:txBody>
      </p:sp>
      <p:sp>
        <p:nvSpPr>
          <p:cNvPr id="6" name="TextBox 1">
            <a:extLst>
              <a:ext uri="{FF2B5EF4-FFF2-40B4-BE49-F238E27FC236}">
                <a16:creationId xmlns:a16="http://schemas.microsoft.com/office/drawing/2014/main" id="{31A7E490-46F1-09A3-C1DE-116CF618609D}"/>
              </a:ext>
            </a:extLst>
          </p:cNvPr>
          <p:cNvSpPr txBox="1"/>
          <p:nvPr/>
        </p:nvSpPr>
        <p:spPr>
          <a:xfrm>
            <a:off x="5092995" y="3586012"/>
            <a:ext cx="6824799" cy="3105727"/>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800" dirty="0"/>
              <a:t>The analysis showed that business rides dominated the dataset and had a higher average distance (</a:t>
            </a:r>
            <a:r>
              <a:rPr lang="en-US" sz="1800" b="1" dirty="0"/>
              <a:t>10.66 miles</a:t>
            </a:r>
            <a:r>
              <a:rPr lang="en-US" sz="1800" dirty="0"/>
              <a:t>) than personal rides (</a:t>
            </a:r>
            <a:r>
              <a:rPr lang="en-US" sz="1800" b="1" dirty="0"/>
              <a:t>9.32 miles</a:t>
            </a:r>
            <a:r>
              <a:rPr lang="en-US" sz="1800" dirty="0"/>
              <a:t>). Ride activity was highest during the </a:t>
            </a:r>
            <a:r>
              <a:rPr lang="en-US" sz="1800" b="1" dirty="0"/>
              <a:t>afternoon</a:t>
            </a:r>
            <a:r>
              <a:rPr lang="en-US" sz="1800" dirty="0"/>
              <a:t>, followed by the evening and morning, indicating that most travel occurred during typical working hours. Purpose analysis showed that </a:t>
            </a:r>
            <a:r>
              <a:rPr lang="en-US" sz="1800" b="1" dirty="0"/>
              <a:t>Meeting, Meal/Entertainment, Errand/Supplies and Customer Visit</a:t>
            </a:r>
            <a:r>
              <a:rPr lang="en-US" sz="1800" dirty="0"/>
              <a:t> were common business travel purposes, although a substantial number of rides had no specified purpose. Overall, the findings indicate that ride usage was primarily business-driven, with travel concentrated during daytime and early evening periods.</a:t>
            </a:r>
          </a:p>
        </p:txBody>
      </p:sp>
      <p:graphicFrame>
        <p:nvGraphicFramePr>
          <p:cNvPr id="7" name="Chart 6">
            <a:extLst>
              <a:ext uri="{FF2B5EF4-FFF2-40B4-BE49-F238E27FC236}">
                <a16:creationId xmlns:a16="http://schemas.microsoft.com/office/drawing/2014/main" id="{6E195965-8C4D-92E1-199D-75CA536D8906}"/>
              </a:ext>
            </a:extLst>
          </p:cNvPr>
          <p:cNvGraphicFramePr>
            <a:graphicFrameLocks/>
          </p:cNvGraphicFramePr>
          <p:nvPr>
            <p:extLst>
              <p:ext uri="{D42A27DB-BD31-4B8C-83A1-F6EECF244321}">
                <p14:modId xmlns:p14="http://schemas.microsoft.com/office/powerpoint/2010/main" val="592797813"/>
              </p:ext>
            </p:extLst>
          </p:nvPr>
        </p:nvGraphicFramePr>
        <p:xfrm>
          <a:off x="274205" y="681756"/>
          <a:ext cx="5553718"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E5E4AA11-366B-8C3C-58EB-825CB0960B54}"/>
              </a:ext>
            </a:extLst>
          </p:cNvPr>
          <p:cNvGraphicFramePr>
            <a:graphicFrameLocks/>
          </p:cNvGraphicFramePr>
          <p:nvPr>
            <p:extLst>
              <p:ext uri="{D42A27DB-BD31-4B8C-83A1-F6EECF244321}">
                <p14:modId xmlns:p14="http://schemas.microsoft.com/office/powerpoint/2010/main" val="3291526204"/>
              </p:ext>
            </p:extLst>
          </p:nvPr>
        </p:nvGraphicFramePr>
        <p:xfrm>
          <a:off x="274205" y="3586012"/>
          <a:ext cx="4572000" cy="310572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C296CD31-8639-8B5E-C2A7-B9C539FCBA2F}"/>
              </a:ext>
            </a:extLst>
          </p:cNvPr>
          <p:cNvGraphicFramePr>
            <a:graphicFrameLocks/>
          </p:cNvGraphicFramePr>
          <p:nvPr>
            <p:extLst>
              <p:ext uri="{D42A27DB-BD31-4B8C-83A1-F6EECF244321}">
                <p14:modId xmlns:p14="http://schemas.microsoft.com/office/powerpoint/2010/main" val="3364600607"/>
              </p:ext>
            </p:extLst>
          </p:nvPr>
        </p:nvGraphicFramePr>
        <p:xfrm>
          <a:off x="6095999" y="681756"/>
          <a:ext cx="5821795"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69001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279C88B3-A5E4-7313-AEB4-4636CDC8C978}"/>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RIDE HAILING ANALYSIS DASHBOARD</a:t>
            </a:r>
          </a:p>
        </p:txBody>
      </p:sp>
      <p:graphicFrame>
        <p:nvGraphicFramePr>
          <p:cNvPr id="4" name="Chart 3">
            <a:extLst>
              <a:ext uri="{FF2B5EF4-FFF2-40B4-BE49-F238E27FC236}">
                <a16:creationId xmlns:a16="http://schemas.microsoft.com/office/drawing/2014/main" id="{3B424F9F-D1D9-42CE-9ACB-824E2B8B6835}"/>
              </a:ext>
            </a:extLst>
          </p:cNvPr>
          <p:cNvGraphicFramePr>
            <a:graphicFrameLocks/>
          </p:cNvGraphicFramePr>
          <p:nvPr>
            <p:extLst>
              <p:ext uri="{D42A27DB-BD31-4B8C-83A1-F6EECF244321}">
                <p14:modId xmlns:p14="http://schemas.microsoft.com/office/powerpoint/2010/main" val="3072549036"/>
              </p:ext>
            </p:extLst>
          </p:nvPr>
        </p:nvGraphicFramePr>
        <p:xfrm>
          <a:off x="163342" y="1373769"/>
          <a:ext cx="3135869" cy="177694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1B2DA51A-2189-4F01-83B9-DAFA0574051A}"/>
              </a:ext>
            </a:extLst>
          </p:cNvPr>
          <p:cNvGraphicFramePr>
            <a:graphicFrameLocks/>
          </p:cNvGraphicFramePr>
          <p:nvPr>
            <p:extLst>
              <p:ext uri="{D42A27DB-BD31-4B8C-83A1-F6EECF244321}">
                <p14:modId xmlns:p14="http://schemas.microsoft.com/office/powerpoint/2010/main" val="423491092"/>
              </p:ext>
            </p:extLst>
          </p:nvPr>
        </p:nvGraphicFramePr>
        <p:xfrm>
          <a:off x="3519164" y="1340082"/>
          <a:ext cx="5457947" cy="18106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7F8B2687-E979-4489-8268-2B8D75572B74}"/>
              </a:ext>
            </a:extLst>
          </p:cNvPr>
          <p:cNvGraphicFramePr>
            <a:graphicFrameLocks/>
          </p:cNvGraphicFramePr>
          <p:nvPr>
            <p:extLst>
              <p:ext uri="{D42A27DB-BD31-4B8C-83A1-F6EECF244321}">
                <p14:modId xmlns:p14="http://schemas.microsoft.com/office/powerpoint/2010/main" val="676451260"/>
              </p:ext>
            </p:extLst>
          </p:nvPr>
        </p:nvGraphicFramePr>
        <p:xfrm>
          <a:off x="163342" y="3371643"/>
          <a:ext cx="2593961" cy="332686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7B73EA48-502D-4B2D-BECB-DB7AB286E51B}"/>
              </a:ext>
            </a:extLst>
          </p:cNvPr>
          <p:cNvGraphicFramePr>
            <a:graphicFrameLocks/>
          </p:cNvGraphicFramePr>
          <p:nvPr>
            <p:extLst>
              <p:ext uri="{D42A27DB-BD31-4B8C-83A1-F6EECF244321}">
                <p14:modId xmlns:p14="http://schemas.microsoft.com/office/powerpoint/2010/main" val="4213555240"/>
              </p:ext>
            </p:extLst>
          </p:nvPr>
        </p:nvGraphicFramePr>
        <p:xfrm>
          <a:off x="2920001" y="3371643"/>
          <a:ext cx="2901673" cy="332686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a16="http://schemas.microsoft.com/office/drawing/2014/main" id="{E77DB173-E0AB-4300-8B6F-3291DC099208}"/>
              </a:ext>
            </a:extLst>
          </p:cNvPr>
          <p:cNvGraphicFramePr>
            <a:graphicFrameLocks/>
          </p:cNvGraphicFramePr>
          <p:nvPr>
            <p:extLst>
              <p:ext uri="{D42A27DB-BD31-4B8C-83A1-F6EECF244321}">
                <p14:modId xmlns:p14="http://schemas.microsoft.com/office/powerpoint/2010/main" val="1447151299"/>
              </p:ext>
            </p:extLst>
          </p:nvPr>
        </p:nvGraphicFramePr>
        <p:xfrm>
          <a:off x="6041626" y="3371643"/>
          <a:ext cx="2935485" cy="332686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9" name="Chart 8">
            <a:extLst>
              <a:ext uri="{FF2B5EF4-FFF2-40B4-BE49-F238E27FC236}">
                <a16:creationId xmlns:a16="http://schemas.microsoft.com/office/drawing/2014/main" id="{036CB1C6-641D-456B-BB89-CA040BD40670}"/>
              </a:ext>
            </a:extLst>
          </p:cNvPr>
          <p:cNvGraphicFramePr>
            <a:graphicFrameLocks/>
          </p:cNvGraphicFramePr>
          <p:nvPr>
            <p:extLst>
              <p:ext uri="{D42A27DB-BD31-4B8C-83A1-F6EECF244321}">
                <p14:modId xmlns:p14="http://schemas.microsoft.com/office/powerpoint/2010/main" val="3846334769"/>
              </p:ext>
            </p:extLst>
          </p:nvPr>
        </p:nvGraphicFramePr>
        <p:xfrm>
          <a:off x="9197063" y="1340082"/>
          <a:ext cx="2901673" cy="535843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0" name="Table 9">
            <a:extLst>
              <a:ext uri="{FF2B5EF4-FFF2-40B4-BE49-F238E27FC236}">
                <a16:creationId xmlns:a16="http://schemas.microsoft.com/office/drawing/2014/main" id="{D35CA094-9263-266E-E7FE-24A52D2B9C24}"/>
              </a:ext>
            </a:extLst>
          </p:cNvPr>
          <p:cNvGraphicFramePr>
            <a:graphicFrameLocks noGrp="1"/>
          </p:cNvGraphicFramePr>
          <p:nvPr>
            <p:extLst>
              <p:ext uri="{D42A27DB-BD31-4B8C-83A1-F6EECF244321}">
                <p14:modId xmlns:p14="http://schemas.microsoft.com/office/powerpoint/2010/main" val="1998186499"/>
              </p:ext>
            </p:extLst>
          </p:nvPr>
        </p:nvGraphicFramePr>
        <p:xfrm>
          <a:off x="1327248" y="695109"/>
          <a:ext cx="1750828" cy="495300"/>
        </p:xfrm>
        <a:graphic>
          <a:graphicData uri="http://schemas.openxmlformats.org/drawingml/2006/table">
            <a:tbl>
              <a:tblPr>
                <a:tableStyleId>{5C22544A-7EE6-4342-B048-85BDC9FD1C3A}</a:tableStyleId>
              </a:tblPr>
              <a:tblGrid>
                <a:gridCol w="1750828">
                  <a:extLst>
                    <a:ext uri="{9D8B030D-6E8A-4147-A177-3AD203B41FA5}">
                      <a16:colId xmlns:a16="http://schemas.microsoft.com/office/drawing/2014/main" val="3590694239"/>
                    </a:ext>
                  </a:extLst>
                </a:gridCol>
              </a:tblGrid>
              <a:tr h="184150">
                <a:tc>
                  <a:txBody>
                    <a:bodyPr/>
                    <a:lstStyle/>
                    <a:p>
                      <a:pPr algn="ctr" fontAlgn="ctr">
                        <a:buNone/>
                      </a:pPr>
                      <a:r>
                        <a:rPr lang="en-US" sz="1100" u="none" strike="noStrike">
                          <a:solidFill>
                            <a:schemeClr val="bg1"/>
                          </a:solidFill>
                          <a:effectLst/>
                        </a:rPr>
                        <a:t>Total Trips</a:t>
                      </a:r>
                      <a:endParaRPr lang="en-US" sz="1100" b="0" i="0" u="none" strike="noStrike">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1615014655"/>
                  </a:ext>
                </a:extLst>
              </a:tr>
              <a:tr h="0">
                <a:tc>
                  <a:txBody>
                    <a:bodyPr/>
                    <a:lstStyle/>
                    <a:p>
                      <a:pPr algn="ctr" fontAlgn="b">
                        <a:buNone/>
                      </a:pPr>
                      <a:r>
                        <a:rPr lang="en-US" sz="2000" u="none" strike="noStrike" dirty="0">
                          <a:solidFill>
                            <a:schemeClr val="bg1"/>
                          </a:solidFill>
                          <a:effectLst/>
                        </a:rPr>
                        <a:t>1155</a:t>
                      </a:r>
                      <a:endParaRPr lang="en-US" sz="2000" b="1" i="0" u="none" strike="noStrike" dirty="0">
                        <a:solidFill>
                          <a:schemeClr val="bg1"/>
                        </a:solidFill>
                        <a:effectLst/>
                        <a:latin typeface="Calibri" panose="020F0502020204030204" pitchFamily="34" charset="0"/>
                      </a:endParaRPr>
                    </a:p>
                  </a:txBody>
                  <a:tcPr marL="6350" marR="6350" marT="6350" marB="0" anchor="b">
                    <a:solidFill>
                      <a:schemeClr val="accent2">
                        <a:lumMod val="75000"/>
                      </a:schemeClr>
                    </a:solidFill>
                  </a:tcPr>
                </a:tc>
                <a:extLst>
                  <a:ext uri="{0D108BD9-81ED-4DB2-BD59-A6C34878D82A}">
                    <a16:rowId xmlns:a16="http://schemas.microsoft.com/office/drawing/2014/main" val="136727349"/>
                  </a:ext>
                </a:extLst>
              </a:tr>
            </a:tbl>
          </a:graphicData>
        </a:graphic>
      </p:graphicFrame>
      <p:graphicFrame>
        <p:nvGraphicFramePr>
          <p:cNvPr id="11" name="Table 10">
            <a:extLst>
              <a:ext uri="{FF2B5EF4-FFF2-40B4-BE49-F238E27FC236}">
                <a16:creationId xmlns:a16="http://schemas.microsoft.com/office/drawing/2014/main" id="{68E41BBF-A608-6697-430E-A219C5FC6BAF}"/>
              </a:ext>
            </a:extLst>
          </p:cNvPr>
          <p:cNvGraphicFramePr>
            <a:graphicFrameLocks noGrp="1"/>
          </p:cNvGraphicFramePr>
          <p:nvPr>
            <p:extLst>
              <p:ext uri="{D42A27DB-BD31-4B8C-83A1-F6EECF244321}">
                <p14:modId xmlns:p14="http://schemas.microsoft.com/office/powerpoint/2010/main" val="4020702179"/>
              </p:ext>
            </p:extLst>
          </p:nvPr>
        </p:nvGraphicFramePr>
        <p:xfrm>
          <a:off x="3628597" y="670373"/>
          <a:ext cx="1516126" cy="495300"/>
        </p:xfrm>
        <a:graphic>
          <a:graphicData uri="http://schemas.openxmlformats.org/drawingml/2006/table">
            <a:tbl>
              <a:tblPr>
                <a:tableStyleId>{5C22544A-7EE6-4342-B048-85BDC9FD1C3A}</a:tableStyleId>
              </a:tblPr>
              <a:tblGrid>
                <a:gridCol w="1516126">
                  <a:extLst>
                    <a:ext uri="{9D8B030D-6E8A-4147-A177-3AD203B41FA5}">
                      <a16:colId xmlns:a16="http://schemas.microsoft.com/office/drawing/2014/main" val="573345614"/>
                    </a:ext>
                  </a:extLst>
                </a:gridCol>
              </a:tblGrid>
              <a:tr h="184150">
                <a:tc>
                  <a:txBody>
                    <a:bodyPr/>
                    <a:lstStyle/>
                    <a:p>
                      <a:pPr algn="ctr" fontAlgn="ctr">
                        <a:buNone/>
                      </a:pPr>
                      <a:r>
                        <a:rPr lang="en-US" sz="1100" u="none" strike="noStrike">
                          <a:solidFill>
                            <a:schemeClr val="bg1"/>
                          </a:solidFill>
                          <a:effectLst/>
                        </a:rPr>
                        <a:t>Total Miles</a:t>
                      </a:r>
                      <a:endParaRPr lang="en-US" sz="1100" b="0" i="0" u="none" strike="noStrike">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2070923622"/>
                  </a:ext>
                </a:extLst>
              </a:tr>
              <a:tr h="0">
                <a:tc>
                  <a:txBody>
                    <a:bodyPr/>
                    <a:lstStyle/>
                    <a:p>
                      <a:pPr algn="ctr" fontAlgn="b">
                        <a:buNone/>
                      </a:pPr>
                      <a:r>
                        <a:rPr lang="en-US" sz="2000" u="none" strike="noStrike" dirty="0">
                          <a:solidFill>
                            <a:schemeClr val="bg1"/>
                          </a:solidFill>
                          <a:effectLst/>
                        </a:rPr>
                        <a:t>12205</a:t>
                      </a:r>
                      <a:endParaRPr lang="en-US" sz="2000" b="1" i="0" u="none" strike="noStrike" dirty="0">
                        <a:solidFill>
                          <a:schemeClr val="bg1"/>
                        </a:solidFill>
                        <a:effectLst/>
                        <a:latin typeface="Calibri" panose="020F0502020204030204" pitchFamily="34" charset="0"/>
                      </a:endParaRPr>
                    </a:p>
                  </a:txBody>
                  <a:tcPr marL="6350" marR="6350" marT="6350" marB="0" anchor="b">
                    <a:solidFill>
                      <a:schemeClr val="accent2">
                        <a:lumMod val="75000"/>
                      </a:schemeClr>
                    </a:solidFill>
                  </a:tcPr>
                </a:tc>
                <a:extLst>
                  <a:ext uri="{0D108BD9-81ED-4DB2-BD59-A6C34878D82A}">
                    <a16:rowId xmlns:a16="http://schemas.microsoft.com/office/drawing/2014/main" val="521332662"/>
                  </a:ext>
                </a:extLst>
              </a:tr>
            </a:tbl>
          </a:graphicData>
        </a:graphic>
      </p:graphicFrame>
      <p:graphicFrame>
        <p:nvGraphicFramePr>
          <p:cNvPr id="12" name="Table 11">
            <a:extLst>
              <a:ext uri="{FF2B5EF4-FFF2-40B4-BE49-F238E27FC236}">
                <a16:creationId xmlns:a16="http://schemas.microsoft.com/office/drawing/2014/main" id="{E7BEEB6F-A732-1AA1-69FF-F56CFF4DB181}"/>
              </a:ext>
            </a:extLst>
          </p:cNvPr>
          <p:cNvGraphicFramePr>
            <a:graphicFrameLocks noGrp="1"/>
          </p:cNvGraphicFramePr>
          <p:nvPr>
            <p:extLst>
              <p:ext uri="{D42A27DB-BD31-4B8C-83A1-F6EECF244321}">
                <p14:modId xmlns:p14="http://schemas.microsoft.com/office/powerpoint/2010/main" val="1994935008"/>
              </p:ext>
            </p:extLst>
          </p:nvPr>
        </p:nvGraphicFramePr>
        <p:xfrm>
          <a:off x="5695244" y="695109"/>
          <a:ext cx="1944639" cy="495300"/>
        </p:xfrm>
        <a:graphic>
          <a:graphicData uri="http://schemas.openxmlformats.org/drawingml/2006/table">
            <a:tbl>
              <a:tblPr>
                <a:tableStyleId>{5C22544A-7EE6-4342-B048-85BDC9FD1C3A}</a:tableStyleId>
              </a:tblPr>
              <a:tblGrid>
                <a:gridCol w="1944639">
                  <a:extLst>
                    <a:ext uri="{9D8B030D-6E8A-4147-A177-3AD203B41FA5}">
                      <a16:colId xmlns:a16="http://schemas.microsoft.com/office/drawing/2014/main" val="3056809026"/>
                    </a:ext>
                  </a:extLst>
                </a:gridCol>
              </a:tblGrid>
              <a:tr h="184150">
                <a:tc>
                  <a:txBody>
                    <a:bodyPr/>
                    <a:lstStyle/>
                    <a:p>
                      <a:pPr algn="ctr" fontAlgn="ctr">
                        <a:buNone/>
                      </a:pPr>
                      <a:r>
                        <a:rPr lang="en-US" sz="1100" u="none" strike="noStrike" dirty="0">
                          <a:solidFill>
                            <a:schemeClr val="bg1"/>
                          </a:solidFill>
                          <a:effectLst/>
                        </a:rPr>
                        <a:t>Average Miles</a:t>
                      </a:r>
                      <a:endParaRPr lang="en-US" sz="11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3724410462"/>
                  </a:ext>
                </a:extLst>
              </a:tr>
              <a:tr h="0">
                <a:tc>
                  <a:txBody>
                    <a:bodyPr/>
                    <a:lstStyle/>
                    <a:p>
                      <a:pPr algn="ctr" fontAlgn="b">
                        <a:buNone/>
                      </a:pPr>
                      <a:r>
                        <a:rPr lang="en-US" sz="2000" u="none" strike="noStrike" dirty="0">
                          <a:solidFill>
                            <a:schemeClr val="bg1"/>
                          </a:solidFill>
                          <a:effectLst/>
                        </a:rPr>
                        <a:t>10.57</a:t>
                      </a:r>
                      <a:endParaRPr lang="en-US" sz="2000" b="1" i="0" u="none" strike="noStrike" dirty="0">
                        <a:solidFill>
                          <a:schemeClr val="bg1"/>
                        </a:solidFill>
                        <a:effectLst/>
                        <a:latin typeface="Calibri" panose="020F0502020204030204" pitchFamily="34" charset="0"/>
                      </a:endParaRPr>
                    </a:p>
                  </a:txBody>
                  <a:tcPr marL="6350" marR="6350" marT="6350" marB="0" anchor="b">
                    <a:solidFill>
                      <a:schemeClr val="accent2">
                        <a:lumMod val="75000"/>
                      </a:schemeClr>
                    </a:solidFill>
                  </a:tcPr>
                </a:tc>
                <a:extLst>
                  <a:ext uri="{0D108BD9-81ED-4DB2-BD59-A6C34878D82A}">
                    <a16:rowId xmlns:a16="http://schemas.microsoft.com/office/drawing/2014/main" val="3634562074"/>
                  </a:ext>
                </a:extLst>
              </a:tr>
            </a:tbl>
          </a:graphicData>
        </a:graphic>
      </p:graphicFrame>
      <p:graphicFrame>
        <p:nvGraphicFramePr>
          <p:cNvPr id="13" name="Table 12">
            <a:extLst>
              <a:ext uri="{FF2B5EF4-FFF2-40B4-BE49-F238E27FC236}">
                <a16:creationId xmlns:a16="http://schemas.microsoft.com/office/drawing/2014/main" id="{A0007F82-418C-BF0F-FB5A-C48B1E2DB29E}"/>
              </a:ext>
            </a:extLst>
          </p:cNvPr>
          <p:cNvGraphicFramePr>
            <a:graphicFrameLocks noGrp="1"/>
          </p:cNvGraphicFramePr>
          <p:nvPr>
            <p:extLst>
              <p:ext uri="{D42A27DB-BD31-4B8C-83A1-F6EECF244321}">
                <p14:modId xmlns:p14="http://schemas.microsoft.com/office/powerpoint/2010/main" val="4144993289"/>
              </p:ext>
            </p:extLst>
          </p:nvPr>
        </p:nvGraphicFramePr>
        <p:xfrm>
          <a:off x="8190404" y="695109"/>
          <a:ext cx="2665438" cy="495300"/>
        </p:xfrm>
        <a:graphic>
          <a:graphicData uri="http://schemas.openxmlformats.org/drawingml/2006/table">
            <a:tbl>
              <a:tblPr>
                <a:tableStyleId>{5C22544A-7EE6-4342-B048-85BDC9FD1C3A}</a:tableStyleId>
              </a:tblPr>
              <a:tblGrid>
                <a:gridCol w="2665438">
                  <a:extLst>
                    <a:ext uri="{9D8B030D-6E8A-4147-A177-3AD203B41FA5}">
                      <a16:colId xmlns:a16="http://schemas.microsoft.com/office/drawing/2014/main" val="741554042"/>
                    </a:ext>
                  </a:extLst>
                </a:gridCol>
              </a:tblGrid>
              <a:tr h="184150">
                <a:tc>
                  <a:txBody>
                    <a:bodyPr/>
                    <a:lstStyle/>
                    <a:p>
                      <a:pPr algn="ctr" fontAlgn="ctr">
                        <a:buNone/>
                      </a:pPr>
                      <a:r>
                        <a:rPr lang="en-US" sz="1100" u="none" strike="noStrike" dirty="0">
                          <a:solidFill>
                            <a:schemeClr val="bg1"/>
                          </a:solidFill>
                          <a:effectLst/>
                        </a:rPr>
                        <a:t>Average Duration</a:t>
                      </a:r>
                      <a:endParaRPr lang="en-US" sz="11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3843881451"/>
                  </a:ext>
                </a:extLst>
              </a:tr>
              <a:tr h="0">
                <a:tc>
                  <a:txBody>
                    <a:bodyPr/>
                    <a:lstStyle/>
                    <a:p>
                      <a:pPr algn="ctr" fontAlgn="b">
                        <a:buNone/>
                      </a:pPr>
                      <a:r>
                        <a:rPr lang="en-US" sz="2000" u="none" strike="noStrike" dirty="0">
                          <a:solidFill>
                            <a:schemeClr val="bg1"/>
                          </a:solidFill>
                          <a:effectLst/>
                        </a:rPr>
                        <a:t>131.71</a:t>
                      </a:r>
                      <a:endParaRPr lang="en-US" sz="2000" b="1" i="0" u="none" strike="noStrike" dirty="0">
                        <a:solidFill>
                          <a:schemeClr val="bg1"/>
                        </a:solidFill>
                        <a:effectLst/>
                        <a:latin typeface="Calibri" panose="020F0502020204030204" pitchFamily="34" charset="0"/>
                      </a:endParaRPr>
                    </a:p>
                  </a:txBody>
                  <a:tcPr marL="6350" marR="6350" marT="6350" marB="0" anchor="b">
                    <a:solidFill>
                      <a:schemeClr val="accent2">
                        <a:lumMod val="75000"/>
                      </a:schemeClr>
                    </a:solidFill>
                  </a:tcPr>
                </a:tc>
                <a:extLst>
                  <a:ext uri="{0D108BD9-81ED-4DB2-BD59-A6C34878D82A}">
                    <a16:rowId xmlns:a16="http://schemas.microsoft.com/office/drawing/2014/main" val="787774946"/>
                  </a:ext>
                </a:extLst>
              </a:tr>
            </a:tbl>
          </a:graphicData>
        </a:graphic>
      </p:graphicFrame>
    </p:spTree>
    <p:extLst>
      <p:ext uri="{BB962C8B-B14F-4D97-AF65-F5344CB8AC3E}">
        <p14:creationId xmlns:p14="http://schemas.microsoft.com/office/powerpoint/2010/main" val="1016328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8739E2-4A08-108E-91D7-51F797BA720A}"/>
              </a:ext>
            </a:extLst>
          </p:cNvPr>
          <p:cNvSpPr txBox="1"/>
          <p:nvPr/>
        </p:nvSpPr>
        <p:spPr>
          <a:xfrm>
            <a:off x="106324" y="651447"/>
            <a:ext cx="12004159" cy="6370975"/>
          </a:xfrm>
          <a:prstGeom prst="rect">
            <a:avLst/>
          </a:prstGeom>
          <a:noFill/>
        </p:spPr>
        <p:txBody>
          <a:bodyPr wrap="square">
            <a:spAutoFit/>
          </a:bodyPr>
          <a:lstStyle/>
          <a:p>
            <a:r>
              <a:rPr lang="en-US" sz="1700" dirty="0"/>
              <a:t>Based on the analysis of the ride-hailing dataset, the following recommendations are proposed to optimize business travel, reduce unnecessary mileage, and improve operational efficiency:</a:t>
            </a:r>
          </a:p>
          <a:p>
            <a:r>
              <a:rPr lang="en-US" sz="1700" b="1" dirty="0"/>
              <a:t>1. Optimize Long-Distance Business Travel</a:t>
            </a:r>
          </a:p>
          <a:p>
            <a:r>
              <a:rPr lang="en-US" sz="1700" dirty="0"/>
              <a:t>Several business trips recorded exceptionally high mileage and long travel durations. These journeys should be reviewed regularly to determine whether they are necessary or if alternative arrangements, such as virtual meetings or regional scheduling, could reduce travel costs and time.</a:t>
            </a:r>
          </a:p>
          <a:p>
            <a:r>
              <a:rPr lang="en-US" sz="1700" b="1" dirty="0"/>
              <a:t>2. Improve Trip Planning and Route Optimization</a:t>
            </a:r>
          </a:p>
          <a:p>
            <a:r>
              <a:rPr lang="en-US" sz="1700" dirty="0"/>
              <a:t>Since business travel accounts for the majority of trips and total mileage, employees should plan multiple meetings or customer visits within the same geographical area on a single trip. This can minimize repeated travel, reduce fuel costs, and improve overall productivity.</a:t>
            </a:r>
          </a:p>
          <a:p>
            <a:r>
              <a:rPr lang="en-US" sz="1700" b="1" dirty="0"/>
              <a:t>3. Strengthen Trip Documentation</a:t>
            </a:r>
          </a:p>
          <a:p>
            <a:r>
              <a:rPr lang="en-US" sz="1700" dirty="0"/>
              <a:t>A significant number of trips were classified as </a:t>
            </a:r>
            <a:r>
              <a:rPr lang="en-US" sz="1700" b="1" dirty="0"/>
              <a:t>"Not Specified"</a:t>
            </a:r>
            <a:r>
              <a:rPr lang="en-US" sz="1700" dirty="0"/>
              <a:t> in the Purpose field. Requiring employees to record the purpose of every journey would improve travel transparency, facilitate expense tracking, and provide more accurate data for future analysis.</a:t>
            </a:r>
          </a:p>
          <a:p>
            <a:r>
              <a:rPr lang="en-US" sz="1700" b="1" dirty="0"/>
              <a:t>4. Schedule Travel During Peak Productive Hours</a:t>
            </a:r>
          </a:p>
          <a:p>
            <a:r>
              <a:rPr lang="en-US" sz="1700" dirty="0"/>
              <a:t>Most business trips occurred during the afternoon and evening. Reviewing meeting schedules and travel plans may help distribute journeys more efficiently throughout the day, reducing congestion-related delays and improving time management.</a:t>
            </a:r>
          </a:p>
          <a:p>
            <a:r>
              <a:rPr lang="en-US" sz="1700" b="1" dirty="0"/>
              <a:t>5. Monitor High-Mileage Trips</a:t>
            </a:r>
          </a:p>
          <a:p>
            <a:r>
              <a:rPr lang="en-US" sz="1700" dirty="0"/>
              <a:t>Trips with exceptionally high mileage should be monitored and periodically audited to ensure they are justified and aligned with business objectives. Regular monitoring can help identify unnecessary travel and support more cost-effective travel policies.</a:t>
            </a:r>
          </a:p>
          <a:p>
            <a:r>
              <a:rPr lang="en-US" sz="1700" b="1" dirty="0"/>
              <a:t>6. Use Data to Support Decision-Making</a:t>
            </a:r>
          </a:p>
          <a:p>
            <a:r>
              <a:rPr lang="en-US" sz="1700" dirty="0"/>
              <a:t>The organization should continue using travel analytics dashboards to monitor key performance indicators such as trip frequency, mileage, travel purpose, and travel time. Regular reporting will help management identify travel trends, control operational costs, and make informed decisions regarding employee travel and resource allocation.</a:t>
            </a:r>
          </a:p>
          <a:p>
            <a:endParaRPr lang="en-US" sz="1700" dirty="0"/>
          </a:p>
        </p:txBody>
      </p:sp>
      <p:sp>
        <p:nvSpPr>
          <p:cNvPr id="6" name="TextBox 1">
            <a:extLst>
              <a:ext uri="{FF2B5EF4-FFF2-40B4-BE49-F238E27FC236}">
                <a16:creationId xmlns:a16="http://schemas.microsoft.com/office/drawing/2014/main" id="{5073887B-4C07-7136-4786-1374BF83B338}"/>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bg1"/>
                </a:solidFill>
              </a:rPr>
              <a:t>RECOMMENDATION</a:t>
            </a:r>
          </a:p>
        </p:txBody>
      </p:sp>
    </p:spTree>
    <p:extLst>
      <p:ext uri="{BB962C8B-B14F-4D97-AF65-F5344CB8AC3E}">
        <p14:creationId xmlns:p14="http://schemas.microsoft.com/office/powerpoint/2010/main" val="1006827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1132</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Akinnitire Akintunde</dc:creator>
  <cp:lastModifiedBy>Akinnitire Akintunde</cp:lastModifiedBy>
  <cp:revision>19</cp:revision>
  <dcterms:created xsi:type="dcterms:W3CDTF">2026-07-22T18:52:01Z</dcterms:created>
  <dcterms:modified xsi:type="dcterms:W3CDTF">2026-07-24T10:42:07Z</dcterms:modified>
</cp:coreProperties>
</file>