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64" r:id="rId6"/>
    <p:sldId id="259" r:id="rId7"/>
    <p:sldId id="260" r:id="rId8"/>
    <p:sldId id="261" r:id="rId9"/>
    <p:sldId id="262"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Fraud%20Detection%20Dataset(6).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Dataset(6).xlsx]User Behaviour Risk Analysis!PivotTable4</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Fraud by Account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'User Behaviour Risk Analysis'!$C$3:$C$4</c:f>
              <c:strCache>
                <c:ptCount val="1"/>
                <c:pt idx="0">
                  <c:v>0</c:v>
                </c:pt>
              </c:strCache>
            </c:strRef>
          </c:tx>
          <c:spPr>
            <a:solidFill>
              <a:schemeClr val="accent2">
                <a:shade val="76000"/>
              </a:schemeClr>
            </a:solidFill>
            <a:ln>
              <a:noFill/>
            </a:ln>
            <a:effectLst/>
          </c:spPr>
          <c:invertIfNegative val="0"/>
          <c:cat>
            <c:strRef>
              <c:f>'User Behaviour Risk Analysis'!$B$5:$B$9</c:f>
              <c:strCache>
                <c:ptCount val="4"/>
                <c:pt idx="0">
                  <c:v>0-5</c:v>
                </c:pt>
                <c:pt idx="1">
                  <c:v>5-10</c:v>
                </c:pt>
                <c:pt idx="2">
                  <c:v>10-15</c:v>
                </c:pt>
                <c:pt idx="3">
                  <c:v>15-20</c:v>
                </c:pt>
              </c:strCache>
            </c:strRef>
          </c:cat>
          <c:val>
            <c:numRef>
              <c:f>'User Behaviour Risk Analysis'!$C$5:$C$9</c:f>
              <c:numCache>
                <c:formatCode>General</c:formatCode>
                <c:ptCount val="4"/>
                <c:pt idx="0">
                  <c:v>5357</c:v>
                </c:pt>
                <c:pt idx="1">
                  <c:v>14342</c:v>
                </c:pt>
                <c:pt idx="2">
                  <c:v>14137</c:v>
                </c:pt>
                <c:pt idx="3">
                  <c:v>14654</c:v>
                </c:pt>
              </c:numCache>
            </c:numRef>
          </c:val>
          <c:extLst>
            <c:ext xmlns:c16="http://schemas.microsoft.com/office/drawing/2014/chart" uri="{C3380CC4-5D6E-409C-BE32-E72D297353CC}">
              <c16:uniqueId val="{00000000-1447-40D5-9AE6-FBE7360177D2}"/>
            </c:ext>
          </c:extLst>
        </c:ser>
        <c:ser>
          <c:idx val="1"/>
          <c:order val="1"/>
          <c:tx>
            <c:strRef>
              <c:f>'User Behaviour Risk Analysis'!$D$3:$D$4</c:f>
              <c:strCache>
                <c:ptCount val="1"/>
                <c:pt idx="0">
                  <c:v>1</c:v>
                </c:pt>
              </c:strCache>
            </c:strRef>
          </c:tx>
          <c:spPr>
            <a:solidFill>
              <a:schemeClr val="accent2">
                <a:tint val="77000"/>
              </a:schemeClr>
            </a:solidFill>
            <a:ln>
              <a:noFill/>
            </a:ln>
            <a:effectLst/>
          </c:spPr>
          <c:invertIfNegative val="0"/>
          <c:cat>
            <c:strRef>
              <c:f>'User Behaviour Risk Analysis'!$B$5:$B$9</c:f>
              <c:strCache>
                <c:ptCount val="4"/>
                <c:pt idx="0">
                  <c:v>0-5</c:v>
                </c:pt>
                <c:pt idx="1">
                  <c:v>5-10</c:v>
                </c:pt>
                <c:pt idx="2">
                  <c:v>10-15</c:v>
                </c:pt>
                <c:pt idx="3">
                  <c:v>15-20</c:v>
                </c:pt>
              </c:strCache>
            </c:strRef>
          </c:cat>
          <c:val>
            <c:numRef>
              <c:f>'User Behaviour Risk Analysis'!$D$5:$D$9</c:f>
              <c:numCache>
                <c:formatCode>General</c:formatCode>
                <c:ptCount val="4"/>
                <c:pt idx="0">
                  <c:v>265</c:v>
                </c:pt>
                <c:pt idx="1">
                  <c:v>724</c:v>
                </c:pt>
                <c:pt idx="2">
                  <c:v>755</c:v>
                </c:pt>
                <c:pt idx="3">
                  <c:v>766</c:v>
                </c:pt>
              </c:numCache>
            </c:numRef>
          </c:val>
          <c:extLst>
            <c:ext xmlns:c16="http://schemas.microsoft.com/office/drawing/2014/chart" uri="{C3380CC4-5D6E-409C-BE32-E72D297353CC}">
              <c16:uniqueId val="{00000001-1447-40D5-9AE6-FBE7360177D2}"/>
            </c:ext>
          </c:extLst>
        </c:ser>
        <c:dLbls>
          <c:showLegendKey val="0"/>
          <c:showVal val="0"/>
          <c:showCatName val="0"/>
          <c:showSerName val="0"/>
          <c:showPercent val="0"/>
          <c:showBubbleSize val="0"/>
        </c:dLbls>
        <c:gapWidth val="219"/>
        <c:overlap val="-27"/>
        <c:axId val="1380524144"/>
        <c:axId val="1380525944"/>
      </c:barChart>
      <c:catAx>
        <c:axId val="13805241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dirty="0">
                    <a:solidFill>
                      <a:prstClr val="black">
                        <a:lumMod val="65000"/>
                        <a:lumOff val="35000"/>
                      </a:prstClr>
                    </a:solidFill>
                  </a:rPr>
                  <a:t>Fraudulent</a:t>
                </a:r>
              </a:p>
            </c:rich>
          </c:tx>
          <c:layout>
            <c:manualLayout>
              <c:xMode val="edge"/>
              <c:yMode val="edge"/>
              <c:x val="0.85790638670166219"/>
              <c:y val="0.3951501518373535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0525944"/>
        <c:crosses val="autoZero"/>
        <c:auto val="1"/>
        <c:lblAlgn val="ctr"/>
        <c:lblOffset val="100"/>
        <c:noMultiLvlLbl val="0"/>
      </c:catAx>
      <c:valAx>
        <c:axId val="1380525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05241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Dataset(6).xlsx]User Behaviour Risk Analysis!PivotTable5</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Fraud by Previous Fraudulent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'User Behaviour Risk Analysis'!$C$13:$C$14</c:f>
              <c:strCache>
                <c:ptCount val="1"/>
                <c:pt idx="0">
                  <c:v>0</c:v>
                </c:pt>
              </c:strCache>
            </c:strRef>
          </c:tx>
          <c:spPr>
            <a:solidFill>
              <a:schemeClr val="accent2">
                <a:shade val="76000"/>
              </a:schemeClr>
            </a:solidFill>
            <a:ln>
              <a:noFill/>
            </a:ln>
            <a:effectLst/>
          </c:spPr>
          <c:invertIfNegative val="0"/>
          <c:cat>
            <c:strRef>
              <c:f>'User Behaviour Risk Analysis'!$B$15:$B$20</c:f>
              <c:strCache>
                <c:ptCount val="5"/>
                <c:pt idx="0">
                  <c:v>0</c:v>
                </c:pt>
                <c:pt idx="1">
                  <c:v>1</c:v>
                </c:pt>
                <c:pt idx="2">
                  <c:v>2</c:v>
                </c:pt>
                <c:pt idx="3">
                  <c:v>3</c:v>
                </c:pt>
                <c:pt idx="4">
                  <c:v>4</c:v>
                </c:pt>
              </c:strCache>
            </c:strRef>
          </c:cat>
          <c:val>
            <c:numRef>
              <c:f>'User Behaviour Risk Analysis'!$C$15:$C$20</c:f>
              <c:numCache>
                <c:formatCode>General</c:formatCode>
                <c:ptCount val="5"/>
                <c:pt idx="0">
                  <c:v>9797</c:v>
                </c:pt>
                <c:pt idx="1">
                  <c:v>9612</c:v>
                </c:pt>
                <c:pt idx="2">
                  <c:v>9809</c:v>
                </c:pt>
                <c:pt idx="3">
                  <c:v>9563</c:v>
                </c:pt>
                <c:pt idx="4">
                  <c:v>9709</c:v>
                </c:pt>
              </c:numCache>
            </c:numRef>
          </c:val>
          <c:extLst>
            <c:ext xmlns:c16="http://schemas.microsoft.com/office/drawing/2014/chart" uri="{C3380CC4-5D6E-409C-BE32-E72D297353CC}">
              <c16:uniqueId val="{00000000-AA0F-4210-86E7-E7732CBFD1A6}"/>
            </c:ext>
          </c:extLst>
        </c:ser>
        <c:ser>
          <c:idx val="1"/>
          <c:order val="1"/>
          <c:tx>
            <c:strRef>
              <c:f>'User Behaviour Risk Analysis'!$D$13:$D$14</c:f>
              <c:strCache>
                <c:ptCount val="1"/>
                <c:pt idx="0">
                  <c:v>1</c:v>
                </c:pt>
              </c:strCache>
            </c:strRef>
          </c:tx>
          <c:spPr>
            <a:solidFill>
              <a:schemeClr val="accent2">
                <a:tint val="77000"/>
              </a:schemeClr>
            </a:solidFill>
            <a:ln>
              <a:noFill/>
            </a:ln>
            <a:effectLst/>
          </c:spPr>
          <c:invertIfNegative val="0"/>
          <c:cat>
            <c:strRef>
              <c:f>'User Behaviour Risk Analysis'!$B$15:$B$20</c:f>
              <c:strCache>
                <c:ptCount val="5"/>
                <c:pt idx="0">
                  <c:v>0</c:v>
                </c:pt>
                <c:pt idx="1">
                  <c:v>1</c:v>
                </c:pt>
                <c:pt idx="2">
                  <c:v>2</c:v>
                </c:pt>
                <c:pt idx="3">
                  <c:v>3</c:v>
                </c:pt>
                <c:pt idx="4">
                  <c:v>4</c:v>
                </c:pt>
              </c:strCache>
            </c:strRef>
          </c:cat>
          <c:val>
            <c:numRef>
              <c:f>'User Behaviour Risk Analysis'!$D$15:$D$20</c:f>
              <c:numCache>
                <c:formatCode>General</c:formatCode>
                <c:ptCount val="5"/>
                <c:pt idx="0">
                  <c:v>483</c:v>
                </c:pt>
                <c:pt idx="1">
                  <c:v>519</c:v>
                </c:pt>
                <c:pt idx="2">
                  <c:v>512</c:v>
                </c:pt>
                <c:pt idx="3">
                  <c:v>500</c:v>
                </c:pt>
                <c:pt idx="4">
                  <c:v>496</c:v>
                </c:pt>
              </c:numCache>
            </c:numRef>
          </c:val>
          <c:extLst>
            <c:ext xmlns:c16="http://schemas.microsoft.com/office/drawing/2014/chart" uri="{C3380CC4-5D6E-409C-BE32-E72D297353CC}">
              <c16:uniqueId val="{00000001-AA0F-4210-86E7-E7732CBFD1A6}"/>
            </c:ext>
          </c:extLst>
        </c:ser>
        <c:dLbls>
          <c:showLegendKey val="0"/>
          <c:showVal val="0"/>
          <c:showCatName val="0"/>
          <c:showSerName val="0"/>
          <c:showPercent val="0"/>
          <c:showBubbleSize val="0"/>
        </c:dLbls>
        <c:gapWidth val="219"/>
        <c:overlap val="-27"/>
        <c:axId val="1380525224"/>
        <c:axId val="1380533504"/>
      </c:barChart>
      <c:catAx>
        <c:axId val="13805252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Fraudulent</a:t>
                </a:r>
              </a:p>
            </c:rich>
          </c:tx>
          <c:layout>
            <c:manualLayout>
              <c:xMode val="edge"/>
              <c:yMode val="edge"/>
              <c:x val="0.85790638670166219"/>
              <c:y val="0.425131709423041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0533504"/>
        <c:crosses val="autoZero"/>
        <c:auto val="1"/>
        <c:lblAlgn val="ctr"/>
        <c:lblOffset val="100"/>
        <c:noMultiLvlLbl val="0"/>
      </c:catAx>
      <c:valAx>
        <c:axId val="1380533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052522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Dataset(6).xlsx]Channel, Device, and Location R!PivotTable8</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Fraud by Payment Method</a:t>
            </a:r>
            <a:endParaRPr lang="en-US"/>
          </a:p>
        </c:rich>
      </c:tx>
      <c:layout>
        <c:manualLayout>
          <c:xMode val="edge"/>
          <c:yMode val="edge"/>
          <c:x val="0.14173270454284775"/>
          <c:y val="6.19344015527490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 Device, and Location R'!$C$21:$C$22</c:f>
              <c:strCache>
                <c:ptCount val="1"/>
                <c:pt idx="0">
                  <c:v>0</c:v>
                </c:pt>
              </c:strCache>
            </c:strRef>
          </c:tx>
          <c:spPr>
            <a:solidFill>
              <a:schemeClr val="accent2">
                <a:shade val="76000"/>
              </a:schemeClr>
            </a:solidFill>
            <a:ln>
              <a:noFill/>
            </a:ln>
            <a:effectLst/>
          </c:spPr>
          <c:invertIfNegative val="0"/>
          <c:cat>
            <c:strRef>
              <c:f>'Channel, Device, and Location R'!$B$23:$B$28</c:f>
              <c:strCache>
                <c:ptCount val="5"/>
                <c:pt idx="0">
                  <c:v>Debit Card</c:v>
                </c:pt>
                <c:pt idx="1">
                  <c:v>Invalid Method</c:v>
                </c:pt>
                <c:pt idx="2">
                  <c:v>Online Banking</c:v>
                </c:pt>
                <c:pt idx="3">
                  <c:v>QR Payments</c:v>
                </c:pt>
                <c:pt idx="4">
                  <c:v>USSD</c:v>
                </c:pt>
              </c:strCache>
            </c:strRef>
          </c:cat>
          <c:val>
            <c:numRef>
              <c:f>'Channel, Device, and Location R'!$C$23:$C$28</c:f>
              <c:numCache>
                <c:formatCode>General</c:formatCode>
                <c:ptCount val="5"/>
                <c:pt idx="0">
                  <c:v>15628</c:v>
                </c:pt>
                <c:pt idx="1">
                  <c:v>1457</c:v>
                </c:pt>
                <c:pt idx="2">
                  <c:v>13358</c:v>
                </c:pt>
                <c:pt idx="3">
                  <c:v>4506</c:v>
                </c:pt>
                <c:pt idx="4">
                  <c:v>11177</c:v>
                </c:pt>
              </c:numCache>
            </c:numRef>
          </c:val>
          <c:extLst>
            <c:ext xmlns:c16="http://schemas.microsoft.com/office/drawing/2014/chart" uri="{C3380CC4-5D6E-409C-BE32-E72D297353CC}">
              <c16:uniqueId val="{00000000-7F1B-4ED3-BB7A-992FD9A9C3CE}"/>
            </c:ext>
          </c:extLst>
        </c:ser>
        <c:ser>
          <c:idx val="1"/>
          <c:order val="1"/>
          <c:tx>
            <c:strRef>
              <c:f>'Channel, Device, and Location R'!$D$21:$D$22</c:f>
              <c:strCache>
                <c:ptCount val="1"/>
                <c:pt idx="0">
                  <c:v>1</c:v>
                </c:pt>
              </c:strCache>
            </c:strRef>
          </c:tx>
          <c:spPr>
            <a:solidFill>
              <a:schemeClr val="accent2">
                <a:tint val="77000"/>
              </a:schemeClr>
            </a:solidFill>
            <a:ln>
              <a:noFill/>
            </a:ln>
            <a:effectLst/>
          </c:spPr>
          <c:invertIfNegative val="0"/>
          <c:cat>
            <c:strRef>
              <c:f>'Channel, Device, and Location R'!$B$23:$B$28</c:f>
              <c:strCache>
                <c:ptCount val="5"/>
                <c:pt idx="0">
                  <c:v>Debit Card</c:v>
                </c:pt>
                <c:pt idx="1">
                  <c:v>Invalid Method</c:v>
                </c:pt>
                <c:pt idx="2">
                  <c:v>Online Banking</c:v>
                </c:pt>
                <c:pt idx="3">
                  <c:v>QR Payments</c:v>
                </c:pt>
                <c:pt idx="4">
                  <c:v>USSD</c:v>
                </c:pt>
              </c:strCache>
            </c:strRef>
          </c:cat>
          <c:val>
            <c:numRef>
              <c:f>'Channel, Device, and Location R'!$D$23:$D$28</c:f>
              <c:numCache>
                <c:formatCode>General</c:formatCode>
                <c:ptCount val="5"/>
                <c:pt idx="0">
                  <c:v>790</c:v>
                </c:pt>
                <c:pt idx="1">
                  <c:v>73</c:v>
                </c:pt>
                <c:pt idx="2">
                  <c:v>715</c:v>
                </c:pt>
                <c:pt idx="3">
                  <c:v>248</c:v>
                </c:pt>
                <c:pt idx="4">
                  <c:v>579</c:v>
                </c:pt>
              </c:numCache>
            </c:numRef>
          </c:val>
          <c:extLst>
            <c:ext xmlns:c16="http://schemas.microsoft.com/office/drawing/2014/chart" uri="{C3380CC4-5D6E-409C-BE32-E72D297353CC}">
              <c16:uniqueId val="{00000001-7F1B-4ED3-BB7A-992FD9A9C3CE}"/>
            </c:ext>
          </c:extLst>
        </c:ser>
        <c:dLbls>
          <c:showLegendKey val="0"/>
          <c:showVal val="0"/>
          <c:showCatName val="0"/>
          <c:showSerName val="0"/>
          <c:showPercent val="0"/>
          <c:showBubbleSize val="0"/>
        </c:dLbls>
        <c:gapWidth val="219"/>
        <c:overlap val="-27"/>
        <c:axId val="554696304"/>
        <c:axId val="554694544"/>
      </c:barChart>
      <c:catAx>
        <c:axId val="5546963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dirty="0">
                    <a:solidFill>
                      <a:prstClr val="black">
                        <a:lumMod val="65000"/>
                        <a:lumOff val="35000"/>
                      </a:prstClr>
                    </a:solidFill>
                  </a:rPr>
                  <a:t>Fraudulent</a:t>
                </a:r>
              </a:p>
            </c:rich>
          </c:tx>
          <c:layout>
            <c:manualLayout>
              <c:xMode val="edge"/>
              <c:yMode val="edge"/>
              <c:x val="0.84373289439742061"/>
              <c:y val="0.3982017571677524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4694544"/>
        <c:crosses val="autoZero"/>
        <c:auto val="1"/>
        <c:lblAlgn val="ctr"/>
        <c:lblOffset val="100"/>
        <c:noMultiLvlLbl val="0"/>
      </c:catAx>
      <c:valAx>
        <c:axId val="5546945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46963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Dataset(6).xlsx]Channel, Device, and Location R!PivotTable6</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Fraud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 Device, and Location R'!$C$3:$C$4</c:f>
              <c:strCache>
                <c:ptCount val="1"/>
                <c:pt idx="0">
                  <c:v>0</c:v>
                </c:pt>
              </c:strCache>
            </c:strRef>
          </c:tx>
          <c:spPr>
            <a:solidFill>
              <a:schemeClr val="accent2">
                <a:shade val="76000"/>
              </a:schemeClr>
            </a:solidFill>
            <a:ln>
              <a:noFill/>
            </a:ln>
            <a:effectLst/>
          </c:spPr>
          <c:invertIfNegative val="0"/>
          <c:cat>
            <c:strRef>
              <c:f>'Channel, Device, and Location R'!$B$5:$B$11</c:f>
              <c:strCache>
                <c:ptCount val="6"/>
                <c:pt idx="0">
                  <c:v>Azikiwe Road</c:v>
                </c:pt>
                <c:pt idx="1">
                  <c:v>Garrison</c:v>
                </c:pt>
                <c:pt idx="2">
                  <c:v>Olu Obasanjo Road</c:v>
                </c:pt>
                <c:pt idx="3">
                  <c:v>Rumukurushi</c:v>
                </c:pt>
                <c:pt idx="4">
                  <c:v>Rumuokoro</c:v>
                </c:pt>
                <c:pt idx="5">
                  <c:v>Trans-Amadi</c:v>
                </c:pt>
              </c:strCache>
            </c:strRef>
          </c:cat>
          <c:val>
            <c:numRef>
              <c:f>'Channel, Device, and Location R'!$C$5:$C$11</c:f>
              <c:numCache>
                <c:formatCode>General</c:formatCode>
                <c:ptCount val="6"/>
                <c:pt idx="0">
                  <c:v>5749</c:v>
                </c:pt>
                <c:pt idx="1">
                  <c:v>11390</c:v>
                </c:pt>
                <c:pt idx="2">
                  <c:v>5693</c:v>
                </c:pt>
                <c:pt idx="3">
                  <c:v>5820</c:v>
                </c:pt>
                <c:pt idx="4">
                  <c:v>5838</c:v>
                </c:pt>
                <c:pt idx="5">
                  <c:v>11576</c:v>
                </c:pt>
              </c:numCache>
            </c:numRef>
          </c:val>
          <c:extLst>
            <c:ext xmlns:c16="http://schemas.microsoft.com/office/drawing/2014/chart" uri="{C3380CC4-5D6E-409C-BE32-E72D297353CC}">
              <c16:uniqueId val="{00000000-009A-4CB4-A2E6-70D9605255EA}"/>
            </c:ext>
          </c:extLst>
        </c:ser>
        <c:ser>
          <c:idx val="1"/>
          <c:order val="1"/>
          <c:tx>
            <c:strRef>
              <c:f>'Channel, Device, and Location R'!$D$3:$D$4</c:f>
              <c:strCache>
                <c:ptCount val="1"/>
                <c:pt idx="0">
                  <c:v>1</c:v>
                </c:pt>
              </c:strCache>
            </c:strRef>
          </c:tx>
          <c:spPr>
            <a:solidFill>
              <a:schemeClr val="accent2">
                <a:tint val="77000"/>
              </a:schemeClr>
            </a:solidFill>
            <a:ln>
              <a:noFill/>
            </a:ln>
            <a:effectLst/>
          </c:spPr>
          <c:invertIfNegative val="0"/>
          <c:cat>
            <c:strRef>
              <c:f>'Channel, Device, and Location R'!$B$5:$B$11</c:f>
              <c:strCache>
                <c:ptCount val="6"/>
                <c:pt idx="0">
                  <c:v>Azikiwe Road</c:v>
                </c:pt>
                <c:pt idx="1">
                  <c:v>Garrison</c:v>
                </c:pt>
                <c:pt idx="2">
                  <c:v>Olu Obasanjo Road</c:v>
                </c:pt>
                <c:pt idx="3">
                  <c:v>Rumukurushi</c:v>
                </c:pt>
                <c:pt idx="4">
                  <c:v>Rumuokoro</c:v>
                </c:pt>
                <c:pt idx="5">
                  <c:v>Trans-Amadi</c:v>
                </c:pt>
              </c:strCache>
            </c:strRef>
          </c:cat>
          <c:val>
            <c:numRef>
              <c:f>'Channel, Device, and Location R'!$D$5:$D$11</c:f>
              <c:numCache>
                <c:formatCode>General</c:formatCode>
                <c:ptCount val="6"/>
                <c:pt idx="0">
                  <c:v>282</c:v>
                </c:pt>
                <c:pt idx="1">
                  <c:v>607</c:v>
                </c:pt>
                <c:pt idx="2">
                  <c:v>298</c:v>
                </c:pt>
                <c:pt idx="3">
                  <c:v>290</c:v>
                </c:pt>
                <c:pt idx="4">
                  <c:v>266</c:v>
                </c:pt>
                <c:pt idx="5">
                  <c:v>644</c:v>
                </c:pt>
              </c:numCache>
            </c:numRef>
          </c:val>
          <c:extLst>
            <c:ext xmlns:c16="http://schemas.microsoft.com/office/drawing/2014/chart" uri="{C3380CC4-5D6E-409C-BE32-E72D297353CC}">
              <c16:uniqueId val="{00000001-009A-4CB4-A2E6-70D9605255EA}"/>
            </c:ext>
          </c:extLst>
        </c:ser>
        <c:dLbls>
          <c:showLegendKey val="0"/>
          <c:showVal val="0"/>
          <c:showCatName val="0"/>
          <c:showSerName val="0"/>
          <c:showPercent val="0"/>
          <c:showBubbleSize val="0"/>
        </c:dLbls>
        <c:gapWidth val="219"/>
        <c:overlap val="-27"/>
        <c:axId val="542894328"/>
        <c:axId val="542894680"/>
      </c:barChart>
      <c:catAx>
        <c:axId val="5428943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dirty="0">
                    <a:solidFill>
                      <a:prstClr val="black">
                        <a:lumMod val="65000"/>
                        <a:lumOff val="35000"/>
                      </a:prstClr>
                    </a:solidFill>
                  </a:rPr>
                  <a:t>Fraudulent</a:t>
                </a:r>
              </a:p>
            </c:rich>
          </c:tx>
          <c:layout>
            <c:manualLayout>
              <c:xMode val="edge"/>
              <c:yMode val="edge"/>
              <c:x val="0.91286324773166994"/>
              <c:y val="0.3943960081069490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894680"/>
        <c:crosses val="autoZero"/>
        <c:auto val="1"/>
        <c:lblAlgn val="ctr"/>
        <c:lblOffset val="100"/>
        <c:noMultiLvlLbl val="0"/>
      </c:catAx>
      <c:valAx>
        <c:axId val="5428946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8943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Dataset(6).xlsx]Channel, Device, and Location R!PivotTable7</c:name>
    <c:fmtId val="1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Fraud by Device Used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 Device, and Location R'!$C$13:$C$14</c:f>
              <c:strCache>
                <c:ptCount val="1"/>
                <c:pt idx="0">
                  <c:v>0</c:v>
                </c:pt>
              </c:strCache>
            </c:strRef>
          </c:tx>
          <c:spPr>
            <a:solidFill>
              <a:schemeClr val="accent2">
                <a:shade val="76000"/>
              </a:schemeClr>
            </a:solidFill>
            <a:ln>
              <a:noFill/>
            </a:ln>
            <a:effectLst/>
          </c:spPr>
          <c:invertIfNegative val="0"/>
          <c:cat>
            <c:strRef>
              <c:f>'Channel, Device, and Location R'!$B$15:$B$19</c:f>
              <c:strCache>
                <c:ptCount val="4"/>
                <c:pt idx="0">
                  <c:v>Desktop</c:v>
                </c:pt>
                <c:pt idx="1">
                  <c:v>Mobile</c:v>
                </c:pt>
                <c:pt idx="2">
                  <c:v>Tablet</c:v>
                </c:pt>
                <c:pt idx="3">
                  <c:v>Unknown Device</c:v>
                </c:pt>
              </c:strCache>
            </c:strRef>
          </c:cat>
          <c:val>
            <c:numRef>
              <c:f>'Channel, Device, and Location R'!$C$15:$C$19</c:f>
              <c:numCache>
                <c:formatCode>General</c:formatCode>
                <c:ptCount val="4"/>
                <c:pt idx="0">
                  <c:v>15047</c:v>
                </c:pt>
                <c:pt idx="1">
                  <c:v>14808</c:v>
                </c:pt>
                <c:pt idx="2">
                  <c:v>14859</c:v>
                </c:pt>
                <c:pt idx="3">
                  <c:v>3776</c:v>
                </c:pt>
              </c:numCache>
            </c:numRef>
          </c:val>
          <c:extLst>
            <c:ext xmlns:c16="http://schemas.microsoft.com/office/drawing/2014/chart" uri="{C3380CC4-5D6E-409C-BE32-E72D297353CC}">
              <c16:uniqueId val="{00000000-4F5C-47BF-AEBF-1EBBBC4D2B01}"/>
            </c:ext>
          </c:extLst>
        </c:ser>
        <c:ser>
          <c:idx val="1"/>
          <c:order val="1"/>
          <c:tx>
            <c:strRef>
              <c:f>'Channel, Device, and Location R'!$D$13:$D$14</c:f>
              <c:strCache>
                <c:ptCount val="1"/>
                <c:pt idx="0">
                  <c:v>1</c:v>
                </c:pt>
              </c:strCache>
            </c:strRef>
          </c:tx>
          <c:spPr>
            <a:solidFill>
              <a:schemeClr val="accent2">
                <a:tint val="77000"/>
              </a:schemeClr>
            </a:solidFill>
            <a:ln>
              <a:noFill/>
            </a:ln>
            <a:effectLst/>
          </c:spPr>
          <c:invertIfNegative val="0"/>
          <c:cat>
            <c:strRef>
              <c:f>'Channel, Device, and Location R'!$B$15:$B$19</c:f>
              <c:strCache>
                <c:ptCount val="4"/>
                <c:pt idx="0">
                  <c:v>Desktop</c:v>
                </c:pt>
                <c:pt idx="1">
                  <c:v>Mobile</c:v>
                </c:pt>
                <c:pt idx="2">
                  <c:v>Tablet</c:v>
                </c:pt>
                <c:pt idx="3">
                  <c:v>Unknown Device</c:v>
                </c:pt>
              </c:strCache>
            </c:strRef>
          </c:cat>
          <c:val>
            <c:numRef>
              <c:f>'Channel, Device, and Location R'!$D$15:$D$19</c:f>
              <c:numCache>
                <c:formatCode>General</c:formatCode>
                <c:ptCount val="4"/>
                <c:pt idx="0">
                  <c:v>748</c:v>
                </c:pt>
                <c:pt idx="1">
                  <c:v>806</c:v>
                </c:pt>
                <c:pt idx="2">
                  <c:v>729</c:v>
                </c:pt>
                <c:pt idx="3">
                  <c:v>227</c:v>
                </c:pt>
              </c:numCache>
            </c:numRef>
          </c:val>
          <c:extLst>
            <c:ext xmlns:c16="http://schemas.microsoft.com/office/drawing/2014/chart" uri="{C3380CC4-5D6E-409C-BE32-E72D297353CC}">
              <c16:uniqueId val="{00000001-4F5C-47BF-AEBF-1EBBBC4D2B01}"/>
            </c:ext>
          </c:extLst>
        </c:ser>
        <c:dLbls>
          <c:showLegendKey val="0"/>
          <c:showVal val="0"/>
          <c:showCatName val="0"/>
          <c:showSerName val="0"/>
          <c:showPercent val="0"/>
          <c:showBubbleSize val="0"/>
        </c:dLbls>
        <c:gapWidth val="219"/>
        <c:overlap val="-27"/>
        <c:axId val="391260800"/>
        <c:axId val="391261520"/>
      </c:barChart>
      <c:catAx>
        <c:axId val="3912608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Fraudulent</a:t>
                </a:r>
              </a:p>
            </c:rich>
          </c:tx>
          <c:layout>
            <c:manualLayout>
              <c:xMode val="edge"/>
              <c:yMode val="edge"/>
              <c:x val="0.838990360543445"/>
              <c:y val="0.3982597812807294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1261520"/>
        <c:crosses val="autoZero"/>
        <c:auto val="1"/>
        <c:lblAlgn val="ctr"/>
        <c:lblOffset val="100"/>
        <c:noMultiLvlLbl val="0"/>
      </c:catAx>
      <c:valAx>
        <c:axId val="391261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12608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Dataset(6).xlsx]Channel, Device, and Location R!PivotTable8</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Fraud by Payment Method</a:t>
            </a:r>
            <a:endParaRPr lang="en-US"/>
          </a:p>
        </c:rich>
      </c:tx>
      <c:layout>
        <c:manualLayout>
          <c:xMode val="edge"/>
          <c:yMode val="edge"/>
          <c:x val="0.14173270454284775"/>
          <c:y val="6.19344015527490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 Device, and Location R'!$C$21:$C$22</c:f>
              <c:strCache>
                <c:ptCount val="1"/>
                <c:pt idx="0">
                  <c:v>0</c:v>
                </c:pt>
              </c:strCache>
            </c:strRef>
          </c:tx>
          <c:spPr>
            <a:solidFill>
              <a:schemeClr val="accent2">
                <a:shade val="76000"/>
              </a:schemeClr>
            </a:solidFill>
            <a:ln>
              <a:noFill/>
            </a:ln>
            <a:effectLst/>
          </c:spPr>
          <c:invertIfNegative val="0"/>
          <c:cat>
            <c:strRef>
              <c:f>'Channel, Device, and Location R'!$B$23:$B$28</c:f>
              <c:strCache>
                <c:ptCount val="5"/>
                <c:pt idx="0">
                  <c:v>Debit Card</c:v>
                </c:pt>
                <c:pt idx="1">
                  <c:v>Invalid Method</c:v>
                </c:pt>
                <c:pt idx="2">
                  <c:v>Online Banking</c:v>
                </c:pt>
                <c:pt idx="3">
                  <c:v>QR Payments</c:v>
                </c:pt>
                <c:pt idx="4">
                  <c:v>USSD</c:v>
                </c:pt>
              </c:strCache>
            </c:strRef>
          </c:cat>
          <c:val>
            <c:numRef>
              <c:f>'Channel, Device, and Location R'!$C$23:$C$28</c:f>
              <c:numCache>
                <c:formatCode>General</c:formatCode>
                <c:ptCount val="5"/>
                <c:pt idx="0">
                  <c:v>15628</c:v>
                </c:pt>
                <c:pt idx="1">
                  <c:v>1457</c:v>
                </c:pt>
                <c:pt idx="2">
                  <c:v>13358</c:v>
                </c:pt>
                <c:pt idx="3">
                  <c:v>4506</c:v>
                </c:pt>
                <c:pt idx="4">
                  <c:v>11177</c:v>
                </c:pt>
              </c:numCache>
            </c:numRef>
          </c:val>
          <c:extLst>
            <c:ext xmlns:c16="http://schemas.microsoft.com/office/drawing/2014/chart" uri="{C3380CC4-5D6E-409C-BE32-E72D297353CC}">
              <c16:uniqueId val="{00000000-7B08-4A89-8DF8-432F47151725}"/>
            </c:ext>
          </c:extLst>
        </c:ser>
        <c:ser>
          <c:idx val="1"/>
          <c:order val="1"/>
          <c:tx>
            <c:strRef>
              <c:f>'Channel, Device, and Location R'!$D$21:$D$22</c:f>
              <c:strCache>
                <c:ptCount val="1"/>
                <c:pt idx="0">
                  <c:v>1</c:v>
                </c:pt>
              </c:strCache>
            </c:strRef>
          </c:tx>
          <c:spPr>
            <a:solidFill>
              <a:schemeClr val="accent2">
                <a:tint val="77000"/>
              </a:schemeClr>
            </a:solidFill>
            <a:ln>
              <a:noFill/>
            </a:ln>
            <a:effectLst/>
          </c:spPr>
          <c:invertIfNegative val="0"/>
          <c:cat>
            <c:strRef>
              <c:f>'Channel, Device, and Location R'!$B$23:$B$28</c:f>
              <c:strCache>
                <c:ptCount val="5"/>
                <c:pt idx="0">
                  <c:v>Debit Card</c:v>
                </c:pt>
                <c:pt idx="1">
                  <c:v>Invalid Method</c:v>
                </c:pt>
                <c:pt idx="2">
                  <c:v>Online Banking</c:v>
                </c:pt>
                <c:pt idx="3">
                  <c:v>QR Payments</c:v>
                </c:pt>
                <c:pt idx="4">
                  <c:v>USSD</c:v>
                </c:pt>
              </c:strCache>
            </c:strRef>
          </c:cat>
          <c:val>
            <c:numRef>
              <c:f>'Channel, Device, and Location R'!$D$23:$D$28</c:f>
              <c:numCache>
                <c:formatCode>General</c:formatCode>
                <c:ptCount val="5"/>
                <c:pt idx="0">
                  <c:v>790</c:v>
                </c:pt>
                <c:pt idx="1">
                  <c:v>73</c:v>
                </c:pt>
                <c:pt idx="2">
                  <c:v>715</c:v>
                </c:pt>
                <c:pt idx="3">
                  <c:v>248</c:v>
                </c:pt>
                <c:pt idx="4">
                  <c:v>579</c:v>
                </c:pt>
              </c:numCache>
            </c:numRef>
          </c:val>
          <c:extLst>
            <c:ext xmlns:c16="http://schemas.microsoft.com/office/drawing/2014/chart" uri="{C3380CC4-5D6E-409C-BE32-E72D297353CC}">
              <c16:uniqueId val="{00000001-7B08-4A89-8DF8-432F47151725}"/>
            </c:ext>
          </c:extLst>
        </c:ser>
        <c:dLbls>
          <c:showLegendKey val="0"/>
          <c:showVal val="0"/>
          <c:showCatName val="0"/>
          <c:showSerName val="0"/>
          <c:showPercent val="0"/>
          <c:showBubbleSize val="0"/>
        </c:dLbls>
        <c:gapWidth val="219"/>
        <c:overlap val="-27"/>
        <c:axId val="554696304"/>
        <c:axId val="554694544"/>
      </c:barChart>
      <c:catAx>
        <c:axId val="554696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4694544"/>
        <c:crosses val="autoZero"/>
        <c:auto val="1"/>
        <c:lblAlgn val="ctr"/>
        <c:lblOffset val="100"/>
        <c:noMultiLvlLbl val="0"/>
      </c:catAx>
      <c:valAx>
        <c:axId val="5546945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46963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Dataset(6).xlsx]Channel, Device, and Location R!PivotTable6</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Fraud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 Device, and Location R'!$C$3:$C$4</c:f>
              <c:strCache>
                <c:ptCount val="1"/>
                <c:pt idx="0">
                  <c:v>0</c:v>
                </c:pt>
              </c:strCache>
            </c:strRef>
          </c:tx>
          <c:spPr>
            <a:solidFill>
              <a:schemeClr val="accent2">
                <a:shade val="76000"/>
              </a:schemeClr>
            </a:solidFill>
            <a:ln>
              <a:noFill/>
            </a:ln>
            <a:effectLst/>
          </c:spPr>
          <c:invertIfNegative val="0"/>
          <c:cat>
            <c:strRef>
              <c:f>'Channel, Device, and Location R'!$B$5:$B$11</c:f>
              <c:strCache>
                <c:ptCount val="6"/>
                <c:pt idx="0">
                  <c:v>Azikiwe Road</c:v>
                </c:pt>
                <c:pt idx="1">
                  <c:v>Garrison</c:v>
                </c:pt>
                <c:pt idx="2">
                  <c:v>Olu Obasanjo Road</c:v>
                </c:pt>
                <c:pt idx="3">
                  <c:v>Rumukurushi</c:v>
                </c:pt>
                <c:pt idx="4">
                  <c:v>Rumuokoro</c:v>
                </c:pt>
                <c:pt idx="5">
                  <c:v>Trans-Amadi</c:v>
                </c:pt>
              </c:strCache>
            </c:strRef>
          </c:cat>
          <c:val>
            <c:numRef>
              <c:f>'Channel, Device, and Location R'!$C$5:$C$11</c:f>
              <c:numCache>
                <c:formatCode>General</c:formatCode>
                <c:ptCount val="6"/>
                <c:pt idx="0">
                  <c:v>5749</c:v>
                </c:pt>
                <c:pt idx="1">
                  <c:v>11390</c:v>
                </c:pt>
                <c:pt idx="2">
                  <c:v>5693</c:v>
                </c:pt>
                <c:pt idx="3">
                  <c:v>5820</c:v>
                </c:pt>
                <c:pt idx="4">
                  <c:v>5838</c:v>
                </c:pt>
                <c:pt idx="5">
                  <c:v>11576</c:v>
                </c:pt>
              </c:numCache>
            </c:numRef>
          </c:val>
          <c:extLst>
            <c:ext xmlns:c16="http://schemas.microsoft.com/office/drawing/2014/chart" uri="{C3380CC4-5D6E-409C-BE32-E72D297353CC}">
              <c16:uniqueId val="{00000000-0FBD-44B8-97BB-A9F45E5FD435}"/>
            </c:ext>
          </c:extLst>
        </c:ser>
        <c:ser>
          <c:idx val="1"/>
          <c:order val="1"/>
          <c:tx>
            <c:strRef>
              <c:f>'Channel, Device, and Location R'!$D$3:$D$4</c:f>
              <c:strCache>
                <c:ptCount val="1"/>
                <c:pt idx="0">
                  <c:v>1</c:v>
                </c:pt>
              </c:strCache>
            </c:strRef>
          </c:tx>
          <c:spPr>
            <a:solidFill>
              <a:schemeClr val="accent2">
                <a:tint val="77000"/>
              </a:schemeClr>
            </a:solidFill>
            <a:ln>
              <a:noFill/>
            </a:ln>
            <a:effectLst/>
          </c:spPr>
          <c:invertIfNegative val="0"/>
          <c:cat>
            <c:strRef>
              <c:f>'Channel, Device, and Location R'!$B$5:$B$11</c:f>
              <c:strCache>
                <c:ptCount val="6"/>
                <c:pt idx="0">
                  <c:v>Azikiwe Road</c:v>
                </c:pt>
                <c:pt idx="1">
                  <c:v>Garrison</c:v>
                </c:pt>
                <c:pt idx="2">
                  <c:v>Olu Obasanjo Road</c:v>
                </c:pt>
                <c:pt idx="3">
                  <c:v>Rumukurushi</c:v>
                </c:pt>
                <c:pt idx="4">
                  <c:v>Rumuokoro</c:v>
                </c:pt>
                <c:pt idx="5">
                  <c:v>Trans-Amadi</c:v>
                </c:pt>
              </c:strCache>
            </c:strRef>
          </c:cat>
          <c:val>
            <c:numRef>
              <c:f>'Channel, Device, and Location R'!$D$5:$D$11</c:f>
              <c:numCache>
                <c:formatCode>General</c:formatCode>
                <c:ptCount val="6"/>
                <c:pt idx="0">
                  <c:v>282</c:v>
                </c:pt>
                <c:pt idx="1">
                  <c:v>607</c:v>
                </c:pt>
                <c:pt idx="2">
                  <c:v>298</c:v>
                </c:pt>
                <c:pt idx="3">
                  <c:v>290</c:v>
                </c:pt>
                <c:pt idx="4">
                  <c:v>266</c:v>
                </c:pt>
                <c:pt idx="5">
                  <c:v>644</c:v>
                </c:pt>
              </c:numCache>
            </c:numRef>
          </c:val>
          <c:extLst>
            <c:ext xmlns:c16="http://schemas.microsoft.com/office/drawing/2014/chart" uri="{C3380CC4-5D6E-409C-BE32-E72D297353CC}">
              <c16:uniqueId val="{00000001-0FBD-44B8-97BB-A9F45E5FD435}"/>
            </c:ext>
          </c:extLst>
        </c:ser>
        <c:dLbls>
          <c:showLegendKey val="0"/>
          <c:showVal val="0"/>
          <c:showCatName val="0"/>
          <c:showSerName val="0"/>
          <c:showPercent val="0"/>
          <c:showBubbleSize val="0"/>
        </c:dLbls>
        <c:gapWidth val="219"/>
        <c:overlap val="-27"/>
        <c:axId val="542894328"/>
        <c:axId val="542894680"/>
      </c:barChart>
      <c:catAx>
        <c:axId val="542894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894680"/>
        <c:crosses val="autoZero"/>
        <c:auto val="1"/>
        <c:lblAlgn val="ctr"/>
        <c:lblOffset val="100"/>
        <c:noMultiLvlLbl val="0"/>
      </c:catAx>
      <c:valAx>
        <c:axId val="5428946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8943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Dataset(6).xlsx]Sheet6!PivotTable9</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Fraud Distribution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pivotFmt>
      <c:pivotFmt>
        <c:idx val="4"/>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tint val="77000"/>
            </a:schemeClr>
          </a:solidFill>
          <a:ln w="19050">
            <a:solidFill>
              <a:schemeClr val="lt1"/>
            </a:solidFill>
          </a:ln>
          <a:effectLst/>
        </c:spPr>
      </c:pivotFmt>
      <c:pivotFmt>
        <c:idx val="6"/>
        <c:spPr>
          <a:solidFill>
            <a:schemeClr val="accent2">
              <a:shade val="76000"/>
            </a:schemeClr>
          </a:solidFill>
          <a:ln w="19050">
            <a:solidFill>
              <a:schemeClr val="lt1"/>
            </a:solidFill>
          </a:ln>
          <a:effectLst/>
        </c:spPr>
      </c:pivotFmt>
      <c:pivotFmt>
        <c:idx val="7"/>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2">
              <a:tint val="77000"/>
            </a:schemeClr>
          </a:solidFill>
          <a:ln w="19050">
            <a:solidFill>
              <a:schemeClr val="lt1"/>
            </a:solidFill>
          </a:ln>
          <a:effectLst/>
        </c:spPr>
      </c:pivotFmt>
      <c:pivotFmt>
        <c:idx val="9"/>
        <c:spPr>
          <a:solidFill>
            <a:schemeClr val="accent2">
              <a:shade val="76000"/>
            </a:schemeClr>
          </a:solidFill>
          <a:ln w="19050">
            <a:solidFill>
              <a:schemeClr val="lt1"/>
            </a:solidFill>
          </a:ln>
          <a:effectLst/>
        </c:spPr>
      </c:pivotFmt>
      <c:pivotFmt>
        <c:idx val="1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tint val="77000"/>
            </a:schemeClr>
          </a:solidFill>
          <a:ln w="19050">
            <a:solidFill>
              <a:schemeClr val="lt1"/>
            </a:solidFill>
          </a:ln>
          <a:effectLst/>
        </c:spPr>
      </c:pivotFmt>
      <c:pivotFmt>
        <c:idx val="12"/>
        <c:spPr>
          <a:solidFill>
            <a:schemeClr val="accent2">
              <a:shade val="76000"/>
            </a:schemeClr>
          </a:solidFill>
          <a:ln w="19050">
            <a:solidFill>
              <a:schemeClr val="lt1"/>
            </a:solidFill>
          </a:ln>
          <a:effectLst/>
        </c:spPr>
      </c:pivotFmt>
    </c:pivotFmts>
    <c:plotArea>
      <c:layout/>
      <c:pieChart>
        <c:varyColors val="1"/>
        <c:ser>
          <c:idx val="0"/>
          <c:order val="0"/>
          <c:tx>
            <c:strRef>
              <c:f>Sheet6!$C$5</c:f>
              <c:strCache>
                <c:ptCount val="1"/>
                <c:pt idx="0">
                  <c:v>Total</c:v>
                </c:pt>
              </c:strCache>
            </c:strRef>
          </c:tx>
          <c:dPt>
            <c:idx val="0"/>
            <c:bubble3D val="0"/>
            <c:spPr>
              <a:solidFill>
                <a:schemeClr val="accent2">
                  <a:tint val="77000"/>
                </a:schemeClr>
              </a:solidFill>
              <a:ln w="19050">
                <a:solidFill>
                  <a:schemeClr val="lt1"/>
                </a:solidFill>
              </a:ln>
              <a:effectLst/>
            </c:spPr>
            <c:extLst>
              <c:ext xmlns:c16="http://schemas.microsoft.com/office/drawing/2014/chart" uri="{C3380CC4-5D6E-409C-BE32-E72D297353CC}">
                <c16:uniqueId val="{00000001-EE88-487E-9011-15D03BF9EBD3}"/>
              </c:ext>
            </c:extLst>
          </c:dPt>
          <c:dPt>
            <c:idx val="1"/>
            <c:bubble3D val="0"/>
            <c:spPr>
              <a:solidFill>
                <a:schemeClr val="accent2">
                  <a:shade val="76000"/>
                </a:schemeClr>
              </a:solidFill>
              <a:ln w="19050">
                <a:solidFill>
                  <a:schemeClr val="lt1"/>
                </a:solidFill>
              </a:ln>
              <a:effectLst/>
            </c:spPr>
            <c:extLst>
              <c:ext xmlns:c16="http://schemas.microsoft.com/office/drawing/2014/chart" uri="{C3380CC4-5D6E-409C-BE32-E72D297353CC}">
                <c16:uniqueId val="{00000003-EE88-487E-9011-15D03BF9EBD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Sheet6!$B$6:$B$8</c:f>
              <c:strCache>
                <c:ptCount val="2"/>
                <c:pt idx="0">
                  <c:v>0</c:v>
                </c:pt>
                <c:pt idx="1">
                  <c:v>1</c:v>
                </c:pt>
              </c:strCache>
            </c:strRef>
          </c:cat>
          <c:val>
            <c:numRef>
              <c:f>Sheet6!$C$6:$C$8</c:f>
              <c:numCache>
                <c:formatCode>General</c:formatCode>
                <c:ptCount val="2"/>
                <c:pt idx="0">
                  <c:v>48490</c:v>
                </c:pt>
                <c:pt idx="1">
                  <c:v>2510</c:v>
                </c:pt>
              </c:numCache>
            </c:numRef>
          </c:val>
          <c:extLst>
            <c:ext xmlns:c16="http://schemas.microsoft.com/office/drawing/2014/chart" uri="{C3380CC4-5D6E-409C-BE32-E72D297353CC}">
              <c16:uniqueId val="{00000004-EE88-487E-9011-15D03BF9EBD3}"/>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[Fraud Detection Dataset(6).xlsx]Channel, Device, and Location R!PivotTable7</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Fraud by Device Used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'Channel, Device, and Location R'!$C$13:$C$14</c:f>
              <c:strCache>
                <c:ptCount val="1"/>
                <c:pt idx="0">
                  <c:v>0</c:v>
                </c:pt>
              </c:strCache>
            </c:strRef>
          </c:tx>
          <c:spPr>
            <a:solidFill>
              <a:schemeClr val="accent2">
                <a:shade val="76000"/>
              </a:schemeClr>
            </a:solidFill>
            <a:ln>
              <a:noFill/>
            </a:ln>
            <a:effectLst/>
          </c:spPr>
          <c:invertIfNegative val="0"/>
          <c:cat>
            <c:strRef>
              <c:f>'Channel, Device, and Location R'!$B$15:$B$19</c:f>
              <c:strCache>
                <c:ptCount val="4"/>
                <c:pt idx="0">
                  <c:v>Desktop</c:v>
                </c:pt>
                <c:pt idx="1">
                  <c:v>Mobile</c:v>
                </c:pt>
                <c:pt idx="2">
                  <c:v>Tablet</c:v>
                </c:pt>
                <c:pt idx="3">
                  <c:v>Unknown Device</c:v>
                </c:pt>
              </c:strCache>
            </c:strRef>
          </c:cat>
          <c:val>
            <c:numRef>
              <c:f>'Channel, Device, and Location R'!$C$15:$C$19</c:f>
              <c:numCache>
                <c:formatCode>General</c:formatCode>
                <c:ptCount val="4"/>
                <c:pt idx="0">
                  <c:v>15047</c:v>
                </c:pt>
                <c:pt idx="1">
                  <c:v>14808</c:v>
                </c:pt>
                <c:pt idx="2">
                  <c:v>14859</c:v>
                </c:pt>
                <c:pt idx="3">
                  <c:v>3776</c:v>
                </c:pt>
              </c:numCache>
            </c:numRef>
          </c:val>
          <c:extLst>
            <c:ext xmlns:c16="http://schemas.microsoft.com/office/drawing/2014/chart" uri="{C3380CC4-5D6E-409C-BE32-E72D297353CC}">
              <c16:uniqueId val="{00000000-2353-4D69-A875-1DCD3FE33514}"/>
            </c:ext>
          </c:extLst>
        </c:ser>
        <c:ser>
          <c:idx val="1"/>
          <c:order val="1"/>
          <c:tx>
            <c:strRef>
              <c:f>'Channel, Device, and Location R'!$D$13:$D$14</c:f>
              <c:strCache>
                <c:ptCount val="1"/>
                <c:pt idx="0">
                  <c:v>1</c:v>
                </c:pt>
              </c:strCache>
            </c:strRef>
          </c:tx>
          <c:spPr>
            <a:solidFill>
              <a:schemeClr val="accent2">
                <a:tint val="77000"/>
              </a:schemeClr>
            </a:solidFill>
            <a:ln>
              <a:noFill/>
            </a:ln>
            <a:effectLst/>
          </c:spPr>
          <c:invertIfNegative val="0"/>
          <c:cat>
            <c:strRef>
              <c:f>'Channel, Device, and Location R'!$B$15:$B$19</c:f>
              <c:strCache>
                <c:ptCount val="4"/>
                <c:pt idx="0">
                  <c:v>Desktop</c:v>
                </c:pt>
                <c:pt idx="1">
                  <c:v>Mobile</c:v>
                </c:pt>
                <c:pt idx="2">
                  <c:v>Tablet</c:v>
                </c:pt>
                <c:pt idx="3">
                  <c:v>Unknown Device</c:v>
                </c:pt>
              </c:strCache>
            </c:strRef>
          </c:cat>
          <c:val>
            <c:numRef>
              <c:f>'Channel, Device, and Location R'!$D$15:$D$19</c:f>
              <c:numCache>
                <c:formatCode>General</c:formatCode>
                <c:ptCount val="4"/>
                <c:pt idx="0">
                  <c:v>748</c:v>
                </c:pt>
                <c:pt idx="1">
                  <c:v>806</c:v>
                </c:pt>
                <c:pt idx="2">
                  <c:v>729</c:v>
                </c:pt>
                <c:pt idx="3">
                  <c:v>227</c:v>
                </c:pt>
              </c:numCache>
            </c:numRef>
          </c:val>
          <c:extLst>
            <c:ext xmlns:c16="http://schemas.microsoft.com/office/drawing/2014/chart" uri="{C3380CC4-5D6E-409C-BE32-E72D297353CC}">
              <c16:uniqueId val="{00000001-2353-4D69-A875-1DCD3FE33514}"/>
            </c:ext>
          </c:extLst>
        </c:ser>
        <c:dLbls>
          <c:showLegendKey val="0"/>
          <c:showVal val="0"/>
          <c:showCatName val="0"/>
          <c:showSerName val="0"/>
          <c:showPercent val="0"/>
          <c:showBubbleSize val="0"/>
        </c:dLbls>
        <c:gapWidth val="219"/>
        <c:overlap val="-27"/>
        <c:axId val="391260800"/>
        <c:axId val="391261520"/>
      </c:barChart>
      <c:catAx>
        <c:axId val="39126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1261520"/>
        <c:crosses val="autoZero"/>
        <c:auto val="1"/>
        <c:lblAlgn val="ctr"/>
        <c:lblOffset val="100"/>
        <c:noMultiLvlLbl val="0"/>
      </c:catAx>
      <c:valAx>
        <c:axId val="391261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12608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Reversed" id="22">
  <a:schemeClr val="accent2"/>
</cs:colorStyle>
</file>

<file path=ppt/charts/colors9.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E9C3-3DA8-42FA-CF11-44752A4F85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010937-54B2-1D52-4016-FAEDF74128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EFE326-A120-6A57-AC41-02E8DACC9572}"/>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5" name="Footer Placeholder 4">
            <a:extLst>
              <a:ext uri="{FF2B5EF4-FFF2-40B4-BE49-F238E27FC236}">
                <a16:creationId xmlns:a16="http://schemas.microsoft.com/office/drawing/2014/main" id="{A331FA2D-84EC-CD1E-5C9D-E8089CEE0E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775E62-EB5F-6326-17D8-A6E5AB699BD5}"/>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2825176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8798F-A855-FA15-FB7B-139CD537DF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D4AD10-7973-3240-8F8D-9C4895B309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C0542A-EEA3-31C0-2917-B42A868E6B32}"/>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5" name="Footer Placeholder 4">
            <a:extLst>
              <a:ext uri="{FF2B5EF4-FFF2-40B4-BE49-F238E27FC236}">
                <a16:creationId xmlns:a16="http://schemas.microsoft.com/office/drawing/2014/main" id="{FE1E1162-68F9-2463-7539-D77B4C6BBE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95EE63-28B2-E9B6-3B67-B0A5CC4AB632}"/>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2313542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D4243-D936-CBFB-05EA-A6C9D40C7B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DEE9EC-015C-DCD4-A93A-14B084FFD5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415703-F8B4-D872-1BF9-FF684E95DF42}"/>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5" name="Footer Placeholder 4">
            <a:extLst>
              <a:ext uri="{FF2B5EF4-FFF2-40B4-BE49-F238E27FC236}">
                <a16:creationId xmlns:a16="http://schemas.microsoft.com/office/drawing/2014/main" id="{10569C0E-496E-6FBF-99B6-DE2278E4B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AFE01-E955-C4A1-D132-8AD8E6051BCE}"/>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4184232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40819-A6AD-CA88-F8CA-D28956278D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40B7E7-B91C-BE31-2128-433CAFB2A5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8EC691-119B-255B-AF50-2F70DC5486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7AD8A8-1CA7-C8C0-314C-52B62288F5E4}"/>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6" name="Footer Placeholder 5">
            <a:extLst>
              <a:ext uri="{FF2B5EF4-FFF2-40B4-BE49-F238E27FC236}">
                <a16:creationId xmlns:a16="http://schemas.microsoft.com/office/drawing/2014/main" id="{01074646-C545-47B8-5963-99C11F8C19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3795D2-94FA-3E24-ACF1-6C316028F3E2}"/>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4197870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4AABB-4E24-1B42-5A96-E488A6C427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1324D3-A41C-3291-7983-4CDC84D122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FD1EA7-B7C0-12EA-D80D-2E79F5BBF2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A8EAE2-9D67-FC62-7D63-32EA6615BD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F9D8D0-5373-D219-D774-F7C20DA800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9A9FD2-F7EA-0393-8A91-D547F7A6487E}"/>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8" name="Footer Placeholder 7">
            <a:extLst>
              <a:ext uri="{FF2B5EF4-FFF2-40B4-BE49-F238E27FC236}">
                <a16:creationId xmlns:a16="http://schemas.microsoft.com/office/drawing/2014/main" id="{A1B28598-9A0D-ACF5-D3D9-9CDD523B6E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65DA66-3F2C-7EF1-BAA0-77A910918A87}"/>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349341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2680E-EA1C-74B8-27AB-1ECBC0F676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8E47D7-117F-78B7-1E69-36B718BA91C0}"/>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4" name="Footer Placeholder 3">
            <a:extLst>
              <a:ext uri="{FF2B5EF4-FFF2-40B4-BE49-F238E27FC236}">
                <a16:creationId xmlns:a16="http://schemas.microsoft.com/office/drawing/2014/main" id="{A65B2D1B-AB68-EA86-D31F-0C5141ECA0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7417A8-CA35-E0DD-BDC4-F9E863EAD6AD}"/>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901075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E11EBE-8774-327D-822C-A8370D71F156}"/>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3" name="Footer Placeholder 2">
            <a:extLst>
              <a:ext uri="{FF2B5EF4-FFF2-40B4-BE49-F238E27FC236}">
                <a16:creationId xmlns:a16="http://schemas.microsoft.com/office/drawing/2014/main" id="{5CA45C93-4A74-1F24-2400-16E5175243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FB7E77-158B-22A8-77B8-8BC97B913FB1}"/>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2856772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5640B-AC18-C5A0-9A51-602C98F228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A63E47-C7EB-E78F-58DA-E43423F4F8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58AC7C-1295-8478-E94D-49D9B308F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5290D-7433-2BD2-6D07-DE5CCBEB97C3}"/>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6" name="Footer Placeholder 5">
            <a:extLst>
              <a:ext uri="{FF2B5EF4-FFF2-40B4-BE49-F238E27FC236}">
                <a16:creationId xmlns:a16="http://schemas.microsoft.com/office/drawing/2014/main" id="{728EBA55-6E2B-D930-039A-A7F3903165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3A364-C7F7-0E7B-DA2E-B803035F555C}"/>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2086306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BD820-BEAA-7A86-EDFB-4A13CAA7D5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5F262B-295E-1436-D12A-25C4F567C2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081555-5120-DC90-A0AE-DDB497D1C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51D6F-DCA7-8DCE-F39B-A66046D73524}"/>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6" name="Footer Placeholder 5">
            <a:extLst>
              <a:ext uri="{FF2B5EF4-FFF2-40B4-BE49-F238E27FC236}">
                <a16:creationId xmlns:a16="http://schemas.microsoft.com/office/drawing/2014/main" id="{233BE2FF-E1AE-A860-ED26-C3E7F2B9F1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C91BA6-AB22-B910-6C22-FEF44D6F0DDB}"/>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2668787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63D05-CA62-FCD1-4ED6-11591A8C80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210D86-79E2-A7DC-6C40-8CFB8FFD16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022F73-7FE4-0781-58A7-61D98EADB9DB}"/>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5" name="Footer Placeholder 4">
            <a:extLst>
              <a:ext uri="{FF2B5EF4-FFF2-40B4-BE49-F238E27FC236}">
                <a16:creationId xmlns:a16="http://schemas.microsoft.com/office/drawing/2014/main" id="{B02B1FB4-252F-CD46-5D79-78B13EB702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770D8B-A7BD-F6E1-0D5B-120572038936}"/>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3710554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91D55C-B975-CD7D-479A-50A9AC1CC6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A3BD4D-E5A3-248E-B868-AD92FA1BF1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43AEBF-8F93-12D3-E02B-C0F16979A783}"/>
              </a:ext>
            </a:extLst>
          </p:cNvPr>
          <p:cNvSpPr>
            <a:spLocks noGrp="1"/>
          </p:cNvSpPr>
          <p:nvPr>
            <p:ph type="dt" sz="half" idx="10"/>
          </p:nvPr>
        </p:nvSpPr>
        <p:spPr/>
        <p:txBody>
          <a:bodyPr/>
          <a:lstStyle/>
          <a:p>
            <a:fld id="{98335D5C-7CF3-416A-98C7-7FB9241774D3}" type="datetimeFigureOut">
              <a:rPr lang="en-US" smtClean="0"/>
              <a:t>8/3/2026</a:t>
            </a:fld>
            <a:endParaRPr lang="en-US"/>
          </a:p>
        </p:txBody>
      </p:sp>
      <p:sp>
        <p:nvSpPr>
          <p:cNvPr id="5" name="Footer Placeholder 4">
            <a:extLst>
              <a:ext uri="{FF2B5EF4-FFF2-40B4-BE49-F238E27FC236}">
                <a16:creationId xmlns:a16="http://schemas.microsoft.com/office/drawing/2014/main" id="{DD634C42-C056-38C9-B107-C42390953C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CC9D3B-7B13-FCA1-4D8D-6B84AA0C80B0}"/>
              </a:ext>
            </a:extLst>
          </p:cNvPr>
          <p:cNvSpPr>
            <a:spLocks noGrp="1"/>
          </p:cNvSpPr>
          <p:nvPr>
            <p:ph type="sldNum" sz="quarter" idx="12"/>
          </p:nvPr>
        </p:nvSpPr>
        <p:spPr/>
        <p:txBody>
          <a:bodyPr/>
          <a:lstStyle/>
          <a:p>
            <a:fld id="{F69DE56B-AA6D-4499-9FEA-B2DE82241970}" type="slidenum">
              <a:rPr lang="en-US" smtClean="0"/>
              <a:t>‹#›</a:t>
            </a:fld>
            <a:endParaRPr lang="en-US"/>
          </a:p>
        </p:txBody>
      </p:sp>
    </p:spTree>
    <p:extLst>
      <p:ext uri="{BB962C8B-B14F-4D97-AF65-F5344CB8AC3E}">
        <p14:creationId xmlns:p14="http://schemas.microsoft.com/office/powerpoint/2010/main" val="1885289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EDF0EB-8380-C46A-E2EE-E4E25C4710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BF2344-56E1-52A1-A43C-40516413FF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69748A-4536-8415-2759-029FB65C2B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335D5C-7CF3-416A-98C7-7FB9241774D3}" type="datetimeFigureOut">
              <a:rPr lang="en-US" smtClean="0"/>
              <a:t>8/3/2026</a:t>
            </a:fld>
            <a:endParaRPr lang="en-US"/>
          </a:p>
        </p:txBody>
      </p:sp>
      <p:sp>
        <p:nvSpPr>
          <p:cNvPr id="5" name="Footer Placeholder 4">
            <a:extLst>
              <a:ext uri="{FF2B5EF4-FFF2-40B4-BE49-F238E27FC236}">
                <a16:creationId xmlns:a16="http://schemas.microsoft.com/office/drawing/2014/main" id="{7DDED269-B8E9-5CC7-76EC-C6B38BC097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4342C4-0099-4B6E-7FDB-EB9D68DF00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DE56B-AA6D-4499-9FEA-B2DE82241970}" type="slidenum">
              <a:rPr lang="en-US" smtClean="0"/>
              <a:t>‹#›</a:t>
            </a:fld>
            <a:endParaRPr lang="en-US"/>
          </a:p>
        </p:txBody>
      </p:sp>
    </p:spTree>
    <p:extLst>
      <p:ext uri="{BB962C8B-B14F-4D97-AF65-F5344CB8AC3E}">
        <p14:creationId xmlns:p14="http://schemas.microsoft.com/office/powerpoint/2010/main" val="610045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CC4A00-72D7-9258-3379-66D43BE77DC4}"/>
              </a:ext>
            </a:extLst>
          </p:cNvPr>
          <p:cNvSpPr txBox="1"/>
          <p:nvPr/>
        </p:nvSpPr>
        <p:spPr>
          <a:xfrm>
            <a:off x="2346694" y="2659559"/>
            <a:ext cx="7498612" cy="769441"/>
          </a:xfrm>
          <a:prstGeom prst="rect">
            <a:avLst/>
          </a:prstGeom>
          <a:noFill/>
        </p:spPr>
        <p:txBody>
          <a:bodyPr wrap="square">
            <a:spAutoFit/>
          </a:bodyPr>
          <a:lstStyle/>
          <a:p>
            <a:r>
              <a:rPr lang="en-US" sz="4400" b="1" dirty="0"/>
              <a:t>FRAUD DETECTION DATASET</a:t>
            </a:r>
          </a:p>
        </p:txBody>
      </p:sp>
    </p:spTree>
    <p:extLst>
      <p:ext uri="{BB962C8B-B14F-4D97-AF65-F5344CB8AC3E}">
        <p14:creationId xmlns:p14="http://schemas.microsoft.com/office/powerpoint/2010/main" val="249987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CA8834E-88A3-B00E-AD37-917648DF343F}"/>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400" b="1" dirty="0">
                <a:solidFill>
                  <a:schemeClr val="bg1"/>
                </a:solidFill>
              </a:rPr>
              <a:t>TABLE OF CONTENT</a:t>
            </a:r>
          </a:p>
        </p:txBody>
      </p:sp>
      <p:sp>
        <p:nvSpPr>
          <p:cNvPr id="3" name="TextBox 2">
            <a:extLst>
              <a:ext uri="{FF2B5EF4-FFF2-40B4-BE49-F238E27FC236}">
                <a16:creationId xmlns:a16="http://schemas.microsoft.com/office/drawing/2014/main" id="{D1824788-982D-2865-7823-5C53AB393E7E}"/>
              </a:ext>
            </a:extLst>
          </p:cNvPr>
          <p:cNvSpPr txBox="1"/>
          <p:nvPr/>
        </p:nvSpPr>
        <p:spPr>
          <a:xfrm>
            <a:off x="595423" y="737437"/>
            <a:ext cx="6103088"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PROJECT OVERVIEW</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DATA CLEANING &amp; PREPARATION</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ANALYSIS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KEY FINDINGS &amp; VISUALIZATIONS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DASHBOARD</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INSIGHT &amp; RECOMMENDATION</a:t>
            </a:r>
          </a:p>
        </p:txBody>
      </p:sp>
    </p:spTree>
    <p:extLst>
      <p:ext uri="{BB962C8B-B14F-4D97-AF65-F5344CB8AC3E}">
        <p14:creationId xmlns:p14="http://schemas.microsoft.com/office/powerpoint/2010/main" val="2084984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F07D52-5BBC-206B-2698-3D5151AAB9DB}"/>
              </a:ext>
            </a:extLst>
          </p:cNvPr>
          <p:cNvSpPr txBox="1"/>
          <p:nvPr/>
        </p:nvSpPr>
        <p:spPr>
          <a:xfrm>
            <a:off x="412012" y="773439"/>
            <a:ext cx="11507086" cy="5647700"/>
          </a:xfrm>
          <a:prstGeom prst="rect">
            <a:avLst/>
          </a:prstGeom>
          <a:noFill/>
        </p:spPr>
        <p:txBody>
          <a:bodyPr wrap="square">
            <a:spAutoFit/>
          </a:bodyPr>
          <a:lstStyle/>
          <a:p>
            <a:r>
              <a:rPr lang="en-US" sz="1900" b="1" dirty="0"/>
              <a:t>Project Background:</a:t>
            </a:r>
            <a:br>
              <a:rPr lang="en-US" sz="1900" dirty="0"/>
            </a:br>
            <a:r>
              <a:rPr lang="en-US" sz="1900" dirty="0"/>
              <a:t>This project analyzed over </a:t>
            </a:r>
            <a:r>
              <a:rPr lang="en-US" sz="1900" b="1" dirty="0"/>
              <a:t>51,000 financial transactions from a Nigerian digital payment platform</a:t>
            </a:r>
            <a:r>
              <a:rPr lang="en-US" sz="1900" dirty="0"/>
              <a:t> to understand patterns associated with fraudulent activity. Each transaction was classified as either legitimate or fraudulent and contained information on customer behavior, transaction characteristics, devices, locations, and payment channels.</a:t>
            </a:r>
          </a:p>
          <a:p>
            <a:endParaRPr lang="en-US" sz="1900" dirty="0"/>
          </a:p>
          <a:p>
            <a:r>
              <a:rPr lang="en-US" sz="1900" b="1" dirty="0"/>
              <a:t>Objective:</a:t>
            </a:r>
            <a:br>
              <a:rPr lang="en-US" sz="1900" dirty="0"/>
            </a:br>
            <a:r>
              <a:rPr lang="en-US" sz="1900" dirty="0"/>
              <a:t>To identify transaction patterns and risk factors associated with fraudulent activity and generate insights that could support improved </a:t>
            </a:r>
            <a:r>
              <a:rPr lang="en-US" sz="1900" b="1" dirty="0"/>
              <a:t>fraud detection, transaction monitoring, customer protection, and risk management</a:t>
            </a:r>
            <a:r>
              <a:rPr lang="en-US" sz="1900" dirty="0"/>
              <a:t>.</a:t>
            </a:r>
          </a:p>
          <a:p>
            <a:endParaRPr lang="en-US" sz="1900" dirty="0"/>
          </a:p>
          <a:p>
            <a:r>
              <a:rPr lang="en-US" sz="1900" b="1" dirty="0"/>
              <a:t>Key Analytical Tasks:</a:t>
            </a:r>
            <a:br>
              <a:rPr lang="en-US" sz="1900" dirty="0"/>
            </a:br>
            <a:r>
              <a:rPr lang="en-US" sz="1900" dirty="0"/>
              <a:t>Data cleaning and preparation; fraud pattern exploration; comparison of fraudulent and legitimate transactions; user behavior risk analysis; account age and transaction frequency assessment; previous fraud history analysis; device, payment method, and location risk assessment; fraud visualization and dashboard development; and strategic recommendations.</a:t>
            </a:r>
          </a:p>
          <a:p>
            <a:endParaRPr lang="en-US" sz="1900" dirty="0"/>
          </a:p>
          <a:p>
            <a:r>
              <a:rPr lang="en-US" sz="1900" b="1" dirty="0"/>
              <a:t>Key Variables:</a:t>
            </a:r>
            <a:br>
              <a:rPr lang="en-US" sz="1900" dirty="0"/>
            </a:br>
            <a:r>
              <a:rPr lang="en-US" sz="1900" dirty="0"/>
              <a:t>Fraud status, transaction type, transaction amount, transaction date/time, account age, transaction frequency, previous fraud history, device type, geographic location, payment method, and other customer and transaction characteristics.</a:t>
            </a:r>
          </a:p>
        </p:txBody>
      </p:sp>
      <p:sp>
        <p:nvSpPr>
          <p:cNvPr id="9" name="TextBox 1">
            <a:extLst>
              <a:ext uri="{FF2B5EF4-FFF2-40B4-BE49-F238E27FC236}">
                <a16:creationId xmlns:a16="http://schemas.microsoft.com/office/drawing/2014/main" id="{CF99E465-BE6B-B1E7-EBEC-98670154E965}"/>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400" b="1" dirty="0">
                <a:solidFill>
                  <a:schemeClr val="bg1"/>
                </a:solidFill>
              </a:rPr>
              <a:t>PROJECT OVERVIEW</a:t>
            </a:r>
          </a:p>
        </p:txBody>
      </p:sp>
    </p:spTree>
    <p:extLst>
      <p:ext uri="{BB962C8B-B14F-4D97-AF65-F5344CB8AC3E}">
        <p14:creationId xmlns:p14="http://schemas.microsoft.com/office/powerpoint/2010/main" val="2976981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extBox 1">
            <a:extLst>
              <a:ext uri="{FF2B5EF4-FFF2-40B4-BE49-F238E27FC236}">
                <a16:creationId xmlns:a16="http://schemas.microsoft.com/office/drawing/2014/main" id="{DD10571E-138C-3522-C6AE-14019C111BFA}"/>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400" b="1" dirty="0">
                <a:solidFill>
                  <a:schemeClr val="bg1"/>
                </a:solidFill>
              </a:rPr>
              <a:t>DATA CLEANING AND PREPARATION</a:t>
            </a:r>
          </a:p>
        </p:txBody>
      </p:sp>
      <p:sp>
        <p:nvSpPr>
          <p:cNvPr id="7" name="TextBox 1">
            <a:extLst>
              <a:ext uri="{FF2B5EF4-FFF2-40B4-BE49-F238E27FC236}">
                <a16:creationId xmlns:a16="http://schemas.microsoft.com/office/drawing/2014/main" id="{42E73D2F-0375-D1E3-2F4F-4DD1A7BFE708}"/>
              </a:ext>
            </a:extLst>
          </p:cNvPr>
          <p:cNvSpPr txBox="1"/>
          <p:nvPr/>
        </p:nvSpPr>
        <p:spPr>
          <a:xfrm>
            <a:off x="404037" y="810795"/>
            <a:ext cx="11344940" cy="5611270"/>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dirty="0"/>
              <a:t>The dataset was reviewed to ensure it was suitable for fraud analysis. Missing values, duplicate records, inconsistent formatting, and incorrect data types were checked. The review identified </a:t>
            </a:r>
            <a:r>
              <a:rPr lang="en-US" sz="2000" b="1" dirty="0"/>
              <a:t>blank cells</a:t>
            </a:r>
            <a:r>
              <a:rPr lang="en-US" sz="2000" dirty="0"/>
              <a:t> and </a:t>
            </a:r>
            <a:r>
              <a:rPr lang="en-US" sz="2000" b="1" dirty="0"/>
              <a:t>"Unknown"</a:t>
            </a:r>
            <a:r>
              <a:rPr lang="en-US" sz="2000" dirty="0"/>
              <a:t> entries in several variables, including </a:t>
            </a:r>
            <a:r>
              <a:rPr lang="en-US" sz="2000" b="1" dirty="0"/>
              <a:t>Transaction Amount</a:t>
            </a:r>
            <a:r>
              <a:rPr lang="en-US" sz="2000" dirty="0"/>
              <a:t>, </a:t>
            </a:r>
            <a:r>
              <a:rPr lang="en-US" sz="2000" b="1" dirty="0"/>
              <a:t>Time of Transaction</a:t>
            </a:r>
            <a:r>
              <a:rPr lang="en-US" sz="2000" dirty="0"/>
              <a:t>, </a:t>
            </a:r>
            <a:r>
              <a:rPr lang="en-US" sz="2000" b="1" dirty="0"/>
              <a:t>Device Used</a:t>
            </a:r>
            <a:r>
              <a:rPr lang="en-US" sz="2000" dirty="0"/>
              <a:t>, </a:t>
            </a:r>
            <a:r>
              <a:rPr lang="en-US" sz="2000" b="1" dirty="0"/>
              <a:t>Location</a:t>
            </a:r>
            <a:r>
              <a:rPr lang="en-US" sz="2000" dirty="0"/>
              <a:t>, and </a:t>
            </a:r>
            <a:r>
              <a:rPr lang="en-US" sz="2000" b="1" dirty="0"/>
              <a:t>Payment Method</a:t>
            </a:r>
            <a:r>
              <a:rPr lang="en-US" sz="2000" dirty="0"/>
              <a:t>. These </a:t>
            </a:r>
            <a:r>
              <a:rPr lang="en-US" sz="2000" b="1" dirty="0"/>
              <a:t>"Unknown"</a:t>
            </a:r>
            <a:r>
              <a:rPr lang="en-US" sz="2000" dirty="0"/>
              <a:t>  values were retained while the blanks were replaced with “</a:t>
            </a:r>
            <a:r>
              <a:rPr lang="en-US" sz="2000" b="1" dirty="0"/>
              <a:t>"Unknown"</a:t>
            </a:r>
            <a:r>
              <a:rPr lang="en-US" sz="2000" dirty="0"/>
              <a:t> as they may represent incomplete transaction records or unavailable customer information and could provide useful insights into potential fraud patterns.</a:t>
            </a:r>
          </a:p>
          <a:p>
            <a:r>
              <a:rPr lang="en-US" sz="2000" dirty="0"/>
              <a:t>Transaction amount, transaction frequency, account age, and other numerical fields were verified to ensure they were stored in the correct numeric format, while categorical variables such as </a:t>
            </a:r>
            <a:r>
              <a:rPr lang="en-US" sz="2000" b="1" dirty="0"/>
              <a:t>Transaction Type</a:t>
            </a:r>
            <a:r>
              <a:rPr lang="en-US" sz="2000" dirty="0"/>
              <a:t>, </a:t>
            </a:r>
            <a:r>
              <a:rPr lang="en-US" sz="2000" b="1" dirty="0"/>
              <a:t>Payment Method</a:t>
            </a:r>
            <a:r>
              <a:rPr lang="en-US" sz="2000" dirty="0"/>
              <a:t>, </a:t>
            </a:r>
            <a:r>
              <a:rPr lang="en-US" sz="2000" b="1" dirty="0"/>
              <a:t>Device Used</a:t>
            </a:r>
            <a:r>
              <a:rPr lang="en-US" sz="2000" dirty="0"/>
              <a:t>, and </a:t>
            </a:r>
            <a:r>
              <a:rPr lang="en-US" sz="2000" b="1" dirty="0"/>
              <a:t>Location</a:t>
            </a:r>
            <a:r>
              <a:rPr lang="en-US" sz="2000" dirty="0"/>
              <a:t> were checked for spelling and formatting consistency.</a:t>
            </a:r>
          </a:p>
          <a:p>
            <a:endParaRPr lang="en-US" sz="2000" dirty="0"/>
          </a:p>
          <a:p>
            <a:r>
              <a:rPr lang="en-US" sz="2000" dirty="0"/>
              <a:t>The target variable, </a:t>
            </a:r>
            <a:r>
              <a:rPr lang="en-US" sz="2000" b="1" dirty="0"/>
              <a:t>FRAUDULENT</a:t>
            </a:r>
            <a:r>
              <a:rPr lang="en-US" sz="2000" dirty="0"/>
              <a:t>, was also checked to ensure it contained only valid binary values, where </a:t>
            </a:r>
            <a:r>
              <a:rPr lang="en-US" sz="2000" b="1" dirty="0"/>
              <a:t>0</a:t>
            </a:r>
            <a:r>
              <a:rPr lang="en-US" sz="2000" dirty="0"/>
              <a:t> represents </a:t>
            </a:r>
            <a:r>
              <a:rPr lang="en-US" sz="2000" b="1" dirty="0"/>
              <a:t>Legitimate</a:t>
            </a:r>
            <a:r>
              <a:rPr lang="en-US" sz="2000" dirty="0"/>
              <a:t> transactions and </a:t>
            </a:r>
            <a:r>
              <a:rPr lang="en-US" sz="2000" b="1" dirty="0"/>
              <a:t>1</a:t>
            </a:r>
            <a:r>
              <a:rPr lang="en-US" sz="2000" dirty="0"/>
              <a:t> represents </a:t>
            </a:r>
            <a:r>
              <a:rPr lang="en-US" sz="2000" b="1" dirty="0"/>
              <a:t>Fraudulent</a:t>
            </a:r>
            <a:r>
              <a:rPr lang="en-US" sz="2000" dirty="0"/>
              <a:t> transactions. Where appropriate, these binary values were relabeled as </a:t>
            </a:r>
            <a:r>
              <a:rPr lang="en-US" sz="2000" b="1" dirty="0"/>
              <a:t>Legitimate</a:t>
            </a:r>
            <a:r>
              <a:rPr lang="en-US" sz="2000" dirty="0"/>
              <a:t> and </a:t>
            </a:r>
            <a:r>
              <a:rPr lang="en-US" sz="2000" b="1" dirty="0"/>
              <a:t>Fraudulent</a:t>
            </a:r>
            <a:r>
              <a:rPr lang="en-US" sz="2000" dirty="0"/>
              <a:t> to improve the readability of Pivot Tables, charts, and dashboards.</a:t>
            </a:r>
          </a:p>
          <a:p>
            <a:r>
              <a:rPr lang="en-US" sz="2000" dirty="0"/>
              <a:t>Following these data quality checks and transformations, the dataset was considered sufficiently clean and consistent for analyzing fraud patterns, user behavior, channel, device and location risks, and generating fraud prevention insights.</a:t>
            </a:r>
          </a:p>
        </p:txBody>
      </p:sp>
    </p:spTree>
    <p:extLst>
      <p:ext uri="{BB962C8B-B14F-4D97-AF65-F5344CB8AC3E}">
        <p14:creationId xmlns:p14="http://schemas.microsoft.com/office/powerpoint/2010/main" val="1445570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6BA093-A2F4-8146-854F-36D3C05A9389}"/>
              </a:ext>
            </a:extLst>
          </p:cNvPr>
          <p:cNvSpPr txBox="1"/>
          <p:nvPr/>
        </p:nvSpPr>
        <p:spPr>
          <a:xfrm>
            <a:off x="191386" y="605150"/>
            <a:ext cx="11802140" cy="5940088"/>
          </a:xfrm>
          <a:prstGeom prst="rect">
            <a:avLst/>
          </a:prstGeom>
          <a:noFill/>
        </p:spPr>
        <p:txBody>
          <a:bodyPr wrap="square">
            <a:spAutoFit/>
          </a:bodyPr>
          <a:lstStyle/>
          <a:p>
            <a:pPr>
              <a:buNone/>
            </a:pPr>
            <a:r>
              <a:rPr lang="en-US" sz="1900" dirty="0"/>
              <a:t>The cleaned transaction dataset was analyzed using </a:t>
            </a:r>
            <a:r>
              <a:rPr lang="en-US" sz="1900" b="1" dirty="0"/>
              <a:t>Microsoft Excel, PivotTables, calculated fields, </a:t>
            </a:r>
            <a:r>
              <a:rPr lang="en-US" sz="1900" b="1" dirty="0" err="1"/>
              <a:t>PivotCharts</a:t>
            </a:r>
            <a:r>
              <a:rPr lang="en-US" sz="1900" b="1" dirty="0"/>
              <a:t>, and dashboard visualizations</a:t>
            </a:r>
            <a:r>
              <a:rPr lang="en-US" sz="1900" dirty="0"/>
              <a:t> to compare fraudulent and legitimate transactions and identify patterns associated with fraud risk.</a:t>
            </a:r>
          </a:p>
          <a:p>
            <a:pPr>
              <a:buNone/>
            </a:pPr>
            <a:r>
              <a:rPr lang="en-US" sz="1900" dirty="0"/>
              <a:t>Fraud distribution was first assessed to determine the overall proportion of </a:t>
            </a:r>
            <a:r>
              <a:rPr lang="en-US" sz="1900" b="1" dirty="0"/>
              <a:t>legitimate (0)</a:t>
            </a:r>
            <a:r>
              <a:rPr lang="en-US" sz="1900" dirty="0"/>
              <a:t> and </a:t>
            </a:r>
            <a:r>
              <a:rPr lang="en-US" sz="1900" b="1" dirty="0"/>
              <a:t>fraudulent (1)</a:t>
            </a:r>
            <a:r>
              <a:rPr lang="en-US" sz="1900" dirty="0"/>
              <a:t> transactions. Transaction behavior was then compared across </a:t>
            </a:r>
            <a:r>
              <a:rPr lang="en-US" sz="1900" b="1" dirty="0"/>
              <a:t>transaction types</a:t>
            </a:r>
            <a:r>
              <a:rPr lang="en-US" sz="1900" dirty="0"/>
              <a:t> such as bill payments, credit, debit, transfers, and withdrawals to identify whether particular transaction categories recorded higher levels of fraudulent activity.</a:t>
            </a:r>
          </a:p>
          <a:p>
            <a:pPr>
              <a:buNone/>
            </a:pPr>
            <a:endParaRPr lang="en-US" sz="1900" dirty="0"/>
          </a:p>
          <a:p>
            <a:pPr>
              <a:buNone/>
            </a:pPr>
            <a:r>
              <a:rPr lang="en-US" sz="1900" dirty="0"/>
              <a:t>Customer-related risk factors were also examined, including </a:t>
            </a:r>
            <a:r>
              <a:rPr lang="en-US" sz="1900" b="1" dirty="0"/>
              <a:t>account age, transaction frequency, account balance, and previous fraud history</a:t>
            </a:r>
            <a:r>
              <a:rPr lang="en-US" sz="1900" dirty="0"/>
              <a:t>, to determine whether certain user behaviors were associated with greater fraud exposure. The analysis was extended to operational characteristics such as </a:t>
            </a:r>
            <a:r>
              <a:rPr lang="en-US" sz="1900" b="1" dirty="0"/>
              <a:t>account type, device type, payment method, transaction channel, and geographic location</a:t>
            </a:r>
            <a:r>
              <a:rPr lang="en-US" sz="1900" dirty="0"/>
              <a:t> to identify potentially higher-risk segments.</a:t>
            </a:r>
          </a:p>
          <a:p>
            <a:pPr>
              <a:buNone/>
            </a:pPr>
            <a:r>
              <a:rPr lang="en-US" sz="1900" dirty="0"/>
              <a:t>Temporal and geographic patterns were reviewed to determine whether fraud was concentrated during particular periods or in specific locations. PivotTables and charts were used to summarize these comparisons and highlight unusual patterns or potential fraud hotspots.</a:t>
            </a:r>
          </a:p>
          <a:p>
            <a:pPr>
              <a:buNone/>
            </a:pPr>
            <a:endParaRPr lang="en-US" sz="1900" dirty="0"/>
          </a:p>
          <a:p>
            <a:pPr>
              <a:buNone/>
            </a:pPr>
            <a:r>
              <a:rPr lang="en-US" sz="1900" dirty="0"/>
              <a:t>Finally, the findings were consolidated into an interactive dashboard showing </a:t>
            </a:r>
            <a:r>
              <a:rPr lang="en-US" sz="1900" b="1" dirty="0"/>
              <a:t>overall fraud distribution, fraud by transaction type, account type, device, payment method, location, and other key risk indicators</a:t>
            </a:r>
            <a:r>
              <a:rPr lang="en-US" sz="1900" dirty="0"/>
              <a:t>. The analysis was used to support recommendations for stronger transaction monitoring, targeted fraud controls, customer authentication, and improved fraud prevention strategies.</a:t>
            </a:r>
          </a:p>
        </p:txBody>
      </p:sp>
      <p:sp>
        <p:nvSpPr>
          <p:cNvPr id="5" name="TextBox 1">
            <a:extLst>
              <a:ext uri="{FF2B5EF4-FFF2-40B4-BE49-F238E27FC236}">
                <a16:creationId xmlns:a16="http://schemas.microsoft.com/office/drawing/2014/main" id="{48CAECE4-24E0-6DA3-6F08-B9550CDECD5F}"/>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400" b="1" dirty="0">
                <a:solidFill>
                  <a:schemeClr val="bg1"/>
                </a:solidFill>
              </a:rPr>
              <a:t>ANALYSIS</a:t>
            </a:r>
          </a:p>
        </p:txBody>
      </p:sp>
    </p:spTree>
    <p:extLst>
      <p:ext uri="{BB962C8B-B14F-4D97-AF65-F5344CB8AC3E}">
        <p14:creationId xmlns:p14="http://schemas.microsoft.com/office/powerpoint/2010/main" val="2281299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4B52F13E-A91B-75F7-7353-364C93791072}"/>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400" b="1" dirty="0">
                <a:solidFill>
                  <a:schemeClr val="bg1"/>
                </a:solidFill>
              </a:rPr>
              <a:t>KEY FINDINGS &amp; VISUALIZATIONS</a:t>
            </a:r>
          </a:p>
        </p:txBody>
      </p:sp>
      <p:sp>
        <p:nvSpPr>
          <p:cNvPr id="8" name="TextBox 1">
            <a:extLst>
              <a:ext uri="{FF2B5EF4-FFF2-40B4-BE49-F238E27FC236}">
                <a16:creationId xmlns:a16="http://schemas.microsoft.com/office/drawing/2014/main" id="{AF3BEECF-D3DE-A620-1513-D9E9DAD9255E}"/>
              </a:ext>
            </a:extLst>
          </p:cNvPr>
          <p:cNvSpPr txBox="1"/>
          <p:nvPr/>
        </p:nvSpPr>
        <p:spPr>
          <a:xfrm>
            <a:off x="4965405" y="724638"/>
            <a:ext cx="6937373" cy="592573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2000" dirty="0"/>
          </a:p>
          <a:p>
            <a:r>
              <a:rPr lang="en-US" sz="2000" dirty="0"/>
              <a:t>Customer related variables, including </a:t>
            </a:r>
            <a:r>
              <a:rPr lang="en-US" sz="2000" b="1" dirty="0"/>
              <a:t>account age</a:t>
            </a:r>
            <a:r>
              <a:rPr lang="en-US" sz="2000" dirty="0"/>
              <a:t>, </a:t>
            </a:r>
            <a:r>
              <a:rPr lang="en-US" sz="2000" b="1" dirty="0"/>
              <a:t>transaction frequency</a:t>
            </a:r>
            <a:r>
              <a:rPr lang="en-US" sz="2000" dirty="0"/>
              <a:t>, and </a:t>
            </a:r>
            <a:r>
              <a:rPr lang="en-US" sz="2000" b="1" dirty="0"/>
              <a:t>past fraud history</a:t>
            </a:r>
            <a:r>
              <a:rPr lang="en-US" sz="2000" dirty="0"/>
              <a:t>, were analyzed to evaluate their relationship with fraudulent activity. The analysis showed that fraudulent transactions were distributed across all customer groups, with accounts aged </a:t>
            </a:r>
            <a:r>
              <a:rPr lang="en-US" sz="2000" b="1" dirty="0"/>
              <a:t>15–20</a:t>
            </a:r>
            <a:r>
              <a:rPr lang="en-US" sz="2000" dirty="0"/>
              <a:t> recording the highest number of fraudulent transactions. Fraud cases were also relatively consistent across different transaction frequency levels, indicating that fraudulent activity was not limited to a single frequency category. These findings suggest that fraud can occur across a broad range of customer behaviors, highlighting the importance of continuously monitoring customer activity regardless of account age or transaction frequency. Customers with a </a:t>
            </a:r>
            <a:r>
              <a:rPr lang="en-US" sz="2000" b="1" dirty="0"/>
              <a:t>history of previous fraud</a:t>
            </a:r>
            <a:r>
              <a:rPr lang="en-US" sz="2000" dirty="0"/>
              <a:t> should also be subject to enhanced monitoring, as past fraudulent behavior may increase the likelihood of future fraud.</a:t>
            </a:r>
          </a:p>
        </p:txBody>
      </p:sp>
      <p:graphicFrame>
        <p:nvGraphicFramePr>
          <p:cNvPr id="3" name="Chart 2">
            <a:extLst>
              <a:ext uri="{FF2B5EF4-FFF2-40B4-BE49-F238E27FC236}">
                <a16:creationId xmlns:a16="http://schemas.microsoft.com/office/drawing/2014/main" id="{221009AB-A681-8B02-277F-CF00F8F5692C}"/>
              </a:ext>
            </a:extLst>
          </p:cNvPr>
          <p:cNvGraphicFramePr>
            <a:graphicFrameLocks/>
          </p:cNvGraphicFramePr>
          <p:nvPr>
            <p:extLst>
              <p:ext uri="{D42A27DB-BD31-4B8C-83A1-F6EECF244321}">
                <p14:modId xmlns:p14="http://schemas.microsoft.com/office/powerpoint/2010/main" val="223123217"/>
              </p:ext>
            </p:extLst>
          </p:nvPr>
        </p:nvGraphicFramePr>
        <p:xfrm>
          <a:off x="289222" y="3811476"/>
          <a:ext cx="4572000" cy="28388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0CFC46C6-6455-1C10-3FF9-EA4B2CFE7607}"/>
              </a:ext>
            </a:extLst>
          </p:cNvPr>
          <p:cNvGraphicFramePr>
            <a:graphicFrameLocks/>
          </p:cNvGraphicFramePr>
          <p:nvPr>
            <p:extLst>
              <p:ext uri="{D42A27DB-BD31-4B8C-83A1-F6EECF244321}">
                <p14:modId xmlns:p14="http://schemas.microsoft.com/office/powerpoint/2010/main" val="1881322487"/>
              </p:ext>
            </p:extLst>
          </p:nvPr>
        </p:nvGraphicFramePr>
        <p:xfrm>
          <a:off x="289222" y="724638"/>
          <a:ext cx="4572000" cy="29648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94995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extBox 1">
            <a:extLst>
              <a:ext uri="{FF2B5EF4-FFF2-40B4-BE49-F238E27FC236}">
                <a16:creationId xmlns:a16="http://schemas.microsoft.com/office/drawing/2014/main" id="{F9401302-BD04-3D07-1599-0C3FE0E7C011}"/>
              </a:ext>
            </a:extLst>
          </p:cNvPr>
          <p:cNvSpPr txBox="1"/>
          <p:nvPr/>
        </p:nvSpPr>
        <p:spPr>
          <a:xfrm>
            <a:off x="4502116" y="744280"/>
            <a:ext cx="7470143" cy="311534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t>Fraud incidence was analyzed across </a:t>
            </a:r>
            <a:r>
              <a:rPr lang="en-US" sz="1600" b="1" dirty="0"/>
              <a:t>geographic locations</a:t>
            </a:r>
            <a:r>
              <a:rPr lang="en-US" sz="1600" dirty="0"/>
              <a:t>, </a:t>
            </a:r>
            <a:r>
              <a:rPr lang="en-US" sz="1600" b="1" dirty="0"/>
              <a:t>device types</a:t>
            </a:r>
            <a:r>
              <a:rPr lang="en-US" sz="1600" dirty="0"/>
              <a:t>, and </a:t>
            </a:r>
            <a:r>
              <a:rPr lang="en-US" sz="1600" b="1" dirty="0"/>
              <a:t>payment methods</a:t>
            </a:r>
            <a:r>
              <a:rPr lang="en-US" sz="1600" dirty="0"/>
              <a:t> to identify operational risk patterns. The analysis showed that </a:t>
            </a:r>
            <a:r>
              <a:rPr lang="en-US" sz="1600" b="1" dirty="0"/>
              <a:t>Trans-Amadi</a:t>
            </a:r>
            <a:r>
              <a:rPr lang="en-US" sz="1600" dirty="0"/>
              <a:t> recorded the highest number of fraudulent transactions, indicating a higher fraud risk compared to the other locations. Among device types, </a:t>
            </a:r>
            <a:r>
              <a:rPr lang="en-US" sz="1600" b="1" dirty="0"/>
              <a:t>Mobile devices</a:t>
            </a:r>
            <a:r>
              <a:rPr lang="en-US" sz="1600" dirty="0"/>
              <a:t> recorded the highest number of fraudulent transactions, while </a:t>
            </a:r>
            <a:r>
              <a:rPr lang="en-US" sz="1600" b="1" dirty="0"/>
              <a:t>Unknown Devices</a:t>
            </a:r>
            <a:r>
              <a:rPr lang="en-US" sz="1600" dirty="0"/>
              <a:t> accounted for the fewest fraud cases. Analysis of payment methods revealed that </a:t>
            </a:r>
            <a:r>
              <a:rPr lang="en-US" sz="1600" b="1" dirty="0"/>
              <a:t>Debit Card</a:t>
            </a:r>
            <a:r>
              <a:rPr lang="en-US" sz="1600" dirty="0"/>
              <a:t> transactions experienced the highest fraud incidence, followed by </a:t>
            </a:r>
            <a:r>
              <a:rPr lang="en-US" sz="1600" b="1" dirty="0"/>
              <a:t>Online Banking</a:t>
            </a:r>
            <a:r>
              <a:rPr lang="en-US" sz="1600" dirty="0"/>
              <a:t>, whereas </a:t>
            </a:r>
            <a:r>
              <a:rPr lang="en-US" sz="1600" b="1" dirty="0"/>
              <a:t>Invalid Methods</a:t>
            </a:r>
            <a:r>
              <a:rPr lang="en-US" sz="1600" dirty="0"/>
              <a:t> recorded the lowest number of fraudulent transactions. These findings suggest that transactions involving </a:t>
            </a:r>
            <a:r>
              <a:rPr lang="en-US" sz="1600" b="1" dirty="0"/>
              <a:t>Trans-Amadi</a:t>
            </a:r>
            <a:r>
              <a:rPr lang="en-US" sz="1600" dirty="0"/>
              <a:t>, </a:t>
            </a:r>
            <a:r>
              <a:rPr lang="en-US" sz="1600" b="1" dirty="0"/>
              <a:t>Mobile devices</a:t>
            </a:r>
            <a:r>
              <a:rPr lang="en-US" sz="1600" dirty="0"/>
              <a:t>, and </a:t>
            </a:r>
            <a:r>
              <a:rPr lang="en-US" sz="1600" b="1" dirty="0"/>
              <a:t>Debit Card</a:t>
            </a:r>
            <a:r>
              <a:rPr lang="en-US" sz="1600" dirty="0"/>
              <a:t> payments should be </a:t>
            </a:r>
            <a:r>
              <a:rPr lang="en-US" sz="1600" dirty="0" err="1"/>
              <a:t>prioritised</a:t>
            </a:r>
            <a:r>
              <a:rPr lang="en-US" sz="1600" dirty="0"/>
              <a:t> for enhanced fraud monitoring, multi-factor authentication, and risk-based security controls to reduce operational risk and strengthen customer protection.</a:t>
            </a:r>
          </a:p>
        </p:txBody>
      </p:sp>
      <p:graphicFrame>
        <p:nvGraphicFramePr>
          <p:cNvPr id="3" name="Chart 2">
            <a:extLst>
              <a:ext uri="{FF2B5EF4-FFF2-40B4-BE49-F238E27FC236}">
                <a16:creationId xmlns:a16="http://schemas.microsoft.com/office/drawing/2014/main" id="{9CB0633A-BEA5-B567-2FCC-95F65EDC6659}"/>
              </a:ext>
            </a:extLst>
          </p:cNvPr>
          <p:cNvGraphicFramePr>
            <a:graphicFrameLocks/>
          </p:cNvGraphicFramePr>
          <p:nvPr>
            <p:extLst>
              <p:ext uri="{D42A27DB-BD31-4B8C-83A1-F6EECF244321}">
                <p14:modId xmlns:p14="http://schemas.microsoft.com/office/powerpoint/2010/main" val="199915816"/>
              </p:ext>
            </p:extLst>
          </p:nvPr>
        </p:nvGraphicFramePr>
        <p:xfrm>
          <a:off x="138223" y="3707970"/>
          <a:ext cx="4132418" cy="297990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EB0DB7FC-6F90-E6DC-3183-118A833C4A98}"/>
              </a:ext>
            </a:extLst>
          </p:cNvPr>
          <p:cNvGraphicFramePr>
            <a:graphicFrameLocks/>
          </p:cNvGraphicFramePr>
          <p:nvPr>
            <p:extLst>
              <p:ext uri="{D42A27DB-BD31-4B8C-83A1-F6EECF244321}">
                <p14:modId xmlns:p14="http://schemas.microsoft.com/office/powerpoint/2010/main" val="3412201342"/>
              </p:ext>
            </p:extLst>
          </p:nvPr>
        </p:nvGraphicFramePr>
        <p:xfrm>
          <a:off x="4502115" y="4083200"/>
          <a:ext cx="7470143" cy="26046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62BB24C7-EBFE-81A1-1531-CDD84AF8CB4B}"/>
              </a:ext>
            </a:extLst>
          </p:cNvPr>
          <p:cNvGraphicFramePr>
            <a:graphicFrameLocks/>
          </p:cNvGraphicFramePr>
          <p:nvPr>
            <p:extLst>
              <p:ext uri="{D42A27DB-BD31-4B8C-83A1-F6EECF244321}">
                <p14:modId xmlns:p14="http://schemas.microsoft.com/office/powerpoint/2010/main" val="1149879340"/>
              </p:ext>
            </p:extLst>
          </p:nvPr>
        </p:nvGraphicFramePr>
        <p:xfrm>
          <a:off x="138223" y="744279"/>
          <a:ext cx="4040373" cy="2684720"/>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1">
            <a:extLst>
              <a:ext uri="{FF2B5EF4-FFF2-40B4-BE49-F238E27FC236}">
                <a16:creationId xmlns:a16="http://schemas.microsoft.com/office/drawing/2014/main" id="{8A93D69D-7867-BDC1-0F3D-D3249D2EACB9}"/>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400" b="1" dirty="0">
                <a:solidFill>
                  <a:schemeClr val="bg1"/>
                </a:solidFill>
              </a:rPr>
              <a:t>KEY FINDINGS &amp; VISUALIZATIONS</a:t>
            </a:r>
          </a:p>
        </p:txBody>
      </p:sp>
    </p:spTree>
    <p:extLst>
      <p:ext uri="{BB962C8B-B14F-4D97-AF65-F5344CB8AC3E}">
        <p14:creationId xmlns:p14="http://schemas.microsoft.com/office/powerpoint/2010/main" val="37226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B857379F-889F-3FFA-FF19-6E8BAE63EC72}"/>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400" b="1" dirty="0">
                <a:solidFill>
                  <a:schemeClr val="bg1"/>
                </a:solidFill>
              </a:rPr>
              <a:t>FRAUD DETECTION DASHBOARD</a:t>
            </a:r>
          </a:p>
        </p:txBody>
      </p:sp>
      <p:graphicFrame>
        <p:nvGraphicFramePr>
          <p:cNvPr id="6" name="Chart 5">
            <a:extLst>
              <a:ext uri="{FF2B5EF4-FFF2-40B4-BE49-F238E27FC236}">
                <a16:creationId xmlns:a16="http://schemas.microsoft.com/office/drawing/2014/main" id="{3FA86274-B454-48DA-9FB0-4FA1E23A461E}"/>
              </a:ext>
            </a:extLst>
          </p:cNvPr>
          <p:cNvGraphicFramePr>
            <a:graphicFrameLocks/>
          </p:cNvGraphicFramePr>
          <p:nvPr>
            <p:extLst>
              <p:ext uri="{D42A27DB-BD31-4B8C-83A1-F6EECF244321}">
                <p14:modId xmlns:p14="http://schemas.microsoft.com/office/powerpoint/2010/main" val="2403837214"/>
              </p:ext>
            </p:extLst>
          </p:nvPr>
        </p:nvGraphicFramePr>
        <p:xfrm>
          <a:off x="7340843" y="1693740"/>
          <a:ext cx="4132418" cy="229280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D52DF01B-704A-4527-956D-568F030978F5}"/>
              </a:ext>
            </a:extLst>
          </p:cNvPr>
          <p:cNvGraphicFramePr>
            <a:graphicFrameLocks/>
          </p:cNvGraphicFramePr>
          <p:nvPr>
            <p:extLst>
              <p:ext uri="{D42A27DB-BD31-4B8C-83A1-F6EECF244321}">
                <p14:modId xmlns:p14="http://schemas.microsoft.com/office/powerpoint/2010/main" val="4083859970"/>
              </p:ext>
            </p:extLst>
          </p:nvPr>
        </p:nvGraphicFramePr>
        <p:xfrm>
          <a:off x="559251" y="4114800"/>
          <a:ext cx="1091401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B4E57A8B-E9C4-41A1-B4E7-58B51C18EAF7}"/>
              </a:ext>
            </a:extLst>
          </p:cNvPr>
          <p:cNvGraphicFramePr>
            <a:graphicFrameLocks/>
          </p:cNvGraphicFramePr>
          <p:nvPr>
            <p:extLst>
              <p:ext uri="{D42A27DB-BD31-4B8C-83A1-F6EECF244321}">
                <p14:modId xmlns:p14="http://schemas.microsoft.com/office/powerpoint/2010/main" val="3476463912"/>
              </p:ext>
            </p:extLst>
          </p:nvPr>
        </p:nvGraphicFramePr>
        <p:xfrm>
          <a:off x="559251" y="1693742"/>
          <a:ext cx="2481661" cy="22928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Table 10">
            <a:extLst>
              <a:ext uri="{FF2B5EF4-FFF2-40B4-BE49-F238E27FC236}">
                <a16:creationId xmlns:a16="http://schemas.microsoft.com/office/drawing/2014/main" id="{6B5FD257-7078-225F-A7E3-1C2408BD35AD}"/>
              </a:ext>
            </a:extLst>
          </p:cNvPr>
          <p:cNvGraphicFramePr>
            <a:graphicFrameLocks noGrp="1"/>
          </p:cNvGraphicFramePr>
          <p:nvPr>
            <p:extLst>
              <p:ext uri="{D42A27DB-BD31-4B8C-83A1-F6EECF244321}">
                <p14:modId xmlns:p14="http://schemas.microsoft.com/office/powerpoint/2010/main" val="1938481242"/>
              </p:ext>
            </p:extLst>
          </p:nvPr>
        </p:nvGraphicFramePr>
        <p:xfrm>
          <a:off x="1701209" y="834914"/>
          <a:ext cx="1219200" cy="18923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79654679"/>
                    </a:ext>
                  </a:extLst>
                </a:gridCol>
              </a:tblGrid>
              <a:tr h="0">
                <a:tc>
                  <a:txBody>
                    <a:bodyPr/>
                    <a:lstStyle/>
                    <a:p>
                      <a:pPr algn="ctr" fontAlgn="ctr">
                        <a:buNone/>
                      </a:pPr>
                      <a:r>
                        <a:rPr lang="en-US" sz="1200" u="none" strike="noStrike" dirty="0">
                          <a:solidFill>
                            <a:schemeClr val="bg1"/>
                          </a:solidFill>
                          <a:effectLst/>
                        </a:rPr>
                        <a:t>Total Transactions</a:t>
                      </a:r>
                      <a:endParaRPr lang="en-US" sz="12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2352974398"/>
                  </a:ext>
                </a:extLst>
              </a:tr>
            </a:tbl>
          </a:graphicData>
        </a:graphic>
      </p:graphicFrame>
      <p:graphicFrame>
        <p:nvGraphicFramePr>
          <p:cNvPr id="12" name="Table 11">
            <a:extLst>
              <a:ext uri="{FF2B5EF4-FFF2-40B4-BE49-F238E27FC236}">
                <a16:creationId xmlns:a16="http://schemas.microsoft.com/office/drawing/2014/main" id="{38DF8175-46F1-78AC-02D3-6C041ACF3BB3}"/>
              </a:ext>
            </a:extLst>
          </p:cNvPr>
          <p:cNvGraphicFramePr>
            <a:graphicFrameLocks noGrp="1"/>
          </p:cNvGraphicFramePr>
          <p:nvPr>
            <p:extLst>
              <p:ext uri="{D42A27DB-BD31-4B8C-83A1-F6EECF244321}">
                <p14:modId xmlns:p14="http://schemas.microsoft.com/office/powerpoint/2010/main" val="1500537692"/>
              </p:ext>
            </p:extLst>
          </p:nvPr>
        </p:nvGraphicFramePr>
        <p:xfrm>
          <a:off x="1701209" y="1053562"/>
          <a:ext cx="1219200" cy="31115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045365625"/>
                    </a:ext>
                  </a:extLst>
                </a:gridCol>
              </a:tblGrid>
              <a:tr h="0">
                <a:tc>
                  <a:txBody>
                    <a:bodyPr/>
                    <a:lstStyle/>
                    <a:p>
                      <a:pPr algn="ctr" fontAlgn="ctr">
                        <a:buNone/>
                      </a:pPr>
                      <a:r>
                        <a:rPr lang="en-US" sz="2000" u="none" strike="noStrike" dirty="0">
                          <a:solidFill>
                            <a:schemeClr val="bg1"/>
                          </a:solidFill>
                          <a:effectLst/>
                        </a:rPr>
                        <a:t>51000</a:t>
                      </a:r>
                      <a:endParaRPr lang="en-US" sz="20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71363057"/>
                  </a:ext>
                </a:extLst>
              </a:tr>
            </a:tbl>
          </a:graphicData>
        </a:graphic>
      </p:graphicFrame>
      <p:graphicFrame>
        <p:nvGraphicFramePr>
          <p:cNvPr id="13" name="Table 12">
            <a:extLst>
              <a:ext uri="{FF2B5EF4-FFF2-40B4-BE49-F238E27FC236}">
                <a16:creationId xmlns:a16="http://schemas.microsoft.com/office/drawing/2014/main" id="{6ECBE46C-F9C7-3B0E-9EE3-FE1E8713FB4B}"/>
              </a:ext>
            </a:extLst>
          </p:cNvPr>
          <p:cNvGraphicFramePr>
            <a:graphicFrameLocks noGrp="1"/>
          </p:cNvGraphicFramePr>
          <p:nvPr>
            <p:extLst>
              <p:ext uri="{D42A27DB-BD31-4B8C-83A1-F6EECF244321}">
                <p14:modId xmlns:p14="http://schemas.microsoft.com/office/powerpoint/2010/main" val="2590154264"/>
              </p:ext>
            </p:extLst>
          </p:nvPr>
        </p:nvGraphicFramePr>
        <p:xfrm>
          <a:off x="3646967" y="834914"/>
          <a:ext cx="1828800" cy="18923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661639630"/>
                    </a:ext>
                  </a:extLst>
                </a:gridCol>
              </a:tblGrid>
              <a:tr h="0">
                <a:tc>
                  <a:txBody>
                    <a:bodyPr/>
                    <a:lstStyle/>
                    <a:p>
                      <a:pPr algn="ctr" fontAlgn="ctr">
                        <a:buNone/>
                      </a:pPr>
                      <a:r>
                        <a:rPr lang="en-US" sz="1200" u="none" strike="noStrike" dirty="0">
                          <a:solidFill>
                            <a:schemeClr val="bg1"/>
                          </a:solidFill>
                          <a:effectLst/>
                        </a:rPr>
                        <a:t>Fraudulent Transactions</a:t>
                      </a:r>
                      <a:endParaRPr lang="en-US" sz="12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1907554341"/>
                  </a:ext>
                </a:extLst>
              </a:tr>
            </a:tbl>
          </a:graphicData>
        </a:graphic>
      </p:graphicFrame>
      <p:graphicFrame>
        <p:nvGraphicFramePr>
          <p:cNvPr id="14" name="Table 13">
            <a:extLst>
              <a:ext uri="{FF2B5EF4-FFF2-40B4-BE49-F238E27FC236}">
                <a16:creationId xmlns:a16="http://schemas.microsoft.com/office/drawing/2014/main" id="{3DB577EB-FC66-7B17-6308-7B7E9241CF9D}"/>
              </a:ext>
            </a:extLst>
          </p:cNvPr>
          <p:cNvGraphicFramePr>
            <a:graphicFrameLocks noGrp="1"/>
          </p:cNvGraphicFramePr>
          <p:nvPr>
            <p:extLst>
              <p:ext uri="{D42A27DB-BD31-4B8C-83A1-F6EECF244321}">
                <p14:modId xmlns:p14="http://schemas.microsoft.com/office/powerpoint/2010/main" val="131527737"/>
              </p:ext>
            </p:extLst>
          </p:nvPr>
        </p:nvGraphicFramePr>
        <p:xfrm>
          <a:off x="3646967" y="1053562"/>
          <a:ext cx="1828800" cy="31115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4038757031"/>
                    </a:ext>
                  </a:extLst>
                </a:gridCol>
              </a:tblGrid>
              <a:tr h="0">
                <a:tc>
                  <a:txBody>
                    <a:bodyPr/>
                    <a:lstStyle/>
                    <a:p>
                      <a:pPr algn="ctr" fontAlgn="ctr">
                        <a:buNone/>
                      </a:pPr>
                      <a:r>
                        <a:rPr lang="en-US" sz="2000" u="none" strike="noStrike" dirty="0">
                          <a:solidFill>
                            <a:schemeClr val="bg1"/>
                          </a:solidFill>
                          <a:effectLst/>
                        </a:rPr>
                        <a:t>2510</a:t>
                      </a:r>
                      <a:endParaRPr lang="en-US" sz="20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690083140"/>
                  </a:ext>
                </a:extLst>
              </a:tr>
            </a:tbl>
          </a:graphicData>
        </a:graphic>
      </p:graphicFrame>
      <p:graphicFrame>
        <p:nvGraphicFramePr>
          <p:cNvPr id="15" name="Table 14">
            <a:extLst>
              <a:ext uri="{FF2B5EF4-FFF2-40B4-BE49-F238E27FC236}">
                <a16:creationId xmlns:a16="http://schemas.microsoft.com/office/drawing/2014/main" id="{04026E4E-03AA-14E2-213F-D683782BF0A3}"/>
              </a:ext>
            </a:extLst>
          </p:cNvPr>
          <p:cNvGraphicFramePr>
            <a:graphicFrameLocks noGrp="1"/>
          </p:cNvGraphicFramePr>
          <p:nvPr>
            <p:extLst>
              <p:ext uri="{D42A27DB-BD31-4B8C-83A1-F6EECF244321}">
                <p14:modId xmlns:p14="http://schemas.microsoft.com/office/powerpoint/2010/main" val="1790351792"/>
              </p:ext>
            </p:extLst>
          </p:nvPr>
        </p:nvGraphicFramePr>
        <p:xfrm>
          <a:off x="6202325" y="834913"/>
          <a:ext cx="1828800" cy="18923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138754464"/>
                    </a:ext>
                  </a:extLst>
                </a:gridCol>
              </a:tblGrid>
              <a:tr h="0">
                <a:tc>
                  <a:txBody>
                    <a:bodyPr/>
                    <a:lstStyle/>
                    <a:p>
                      <a:pPr algn="ctr" fontAlgn="ctr">
                        <a:buNone/>
                      </a:pPr>
                      <a:r>
                        <a:rPr lang="en-US" sz="1200" u="none" strike="noStrike" dirty="0">
                          <a:solidFill>
                            <a:schemeClr val="bg1"/>
                          </a:solidFill>
                          <a:effectLst/>
                        </a:rPr>
                        <a:t>Legitimate Transactions</a:t>
                      </a:r>
                      <a:endParaRPr lang="en-US" sz="12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2421934781"/>
                  </a:ext>
                </a:extLst>
              </a:tr>
            </a:tbl>
          </a:graphicData>
        </a:graphic>
      </p:graphicFrame>
      <p:graphicFrame>
        <p:nvGraphicFramePr>
          <p:cNvPr id="16" name="Table 15">
            <a:extLst>
              <a:ext uri="{FF2B5EF4-FFF2-40B4-BE49-F238E27FC236}">
                <a16:creationId xmlns:a16="http://schemas.microsoft.com/office/drawing/2014/main" id="{FCF8929C-B01F-CEA3-545D-79EEF6F2EF4A}"/>
              </a:ext>
            </a:extLst>
          </p:cNvPr>
          <p:cNvGraphicFramePr>
            <a:graphicFrameLocks noGrp="1"/>
          </p:cNvGraphicFramePr>
          <p:nvPr>
            <p:extLst>
              <p:ext uri="{D42A27DB-BD31-4B8C-83A1-F6EECF244321}">
                <p14:modId xmlns:p14="http://schemas.microsoft.com/office/powerpoint/2010/main" val="1827546039"/>
              </p:ext>
            </p:extLst>
          </p:nvPr>
        </p:nvGraphicFramePr>
        <p:xfrm>
          <a:off x="6202325" y="1053560"/>
          <a:ext cx="1828800" cy="31115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3113812326"/>
                    </a:ext>
                  </a:extLst>
                </a:gridCol>
              </a:tblGrid>
              <a:tr h="0">
                <a:tc>
                  <a:txBody>
                    <a:bodyPr/>
                    <a:lstStyle/>
                    <a:p>
                      <a:pPr algn="ctr" fontAlgn="ctr">
                        <a:buNone/>
                      </a:pPr>
                      <a:r>
                        <a:rPr lang="en-US" sz="2000" u="none" strike="noStrike" dirty="0">
                          <a:solidFill>
                            <a:schemeClr val="bg1"/>
                          </a:solidFill>
                          <a:effectLst/>
                        </a:rPr>
                        <a:t>48490</a:t>
                      </a:r>
                      <a:endParaRPr lang="en-US" sz="20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2216005832"/>
                  </a:ext>
                </a:extLst>
              </a:tr>
            </a:tbl>
          </a:graphicData>
        </a:graphic>
      </p:graphicFrame>
      <p:graphicFrame>
        <p:nvGraphicFramePr>
          <p:cNvPr id="17" name="Table 16">
            <a:extLst>
              <a:ext uri="{FF2B5EF4-FFF2-40B4-BE49-F238E27FC236}">
                <a16:creationId xmlns:a16="http://schemas.microsoft.com/office/drawing/2014/main" id="{B739E7FE-0974-924D-1851-47991B666DA8}"/>
              </a:ext>
            </a:extLst>
          </p:cNvPr>
          <p:cNvGraphicFramePr>
            <a:graphicFrameLocks noGrp="1"/>
          </p:cNvGraphicFramePr>
          <p:nvPr>
            <p:extLst>
              <p:ext uri="{D42A27DB-BD31-4B8C-83A1-F6EECF244321}">
                <p14:modId xmlns:p14="http://schemas.microsoft.com/office/powerpoint/2010/main" val="2398528240"/>
              </p:ext>
            </p:extLst>
          </p:nvPr>
        </p:nvGraphicFramePr>
        <p:xfrm>
          <a:off x="8757683" y="834913"/>
          <a:ext cx="1219200" cy="18923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703471427"/>
                    </a:ext>
                  </a:extLst>
                </a:gridCol>
              </a:tblGrid>
              <a:tr h="0">
                <a:tc>
                  <a:txBody>
                    <a:bodyPr/>
                    <a:lstStyle/>
                    <a:p>
                      <a:pPr algn="ctr" fontAlgn="ctr">
                        <a:buNone/>
                      </a:pPr>
                      <a:r>
                        <a:rPr lang="en-US" sz="1200" u="none" strike="noStrike" dirty="0">
                          <a:solidFill>
                            <a:schemeClr val="bg1"/>
                          </a:solidFill>
                          <a:effectLst/>
                        </a:rPr>
                        <a:t>Fraud Rate (%)</a:t>
                      </a:r>
                      <a:endParaRPr lang="en-US" sz="12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997024632"/>
                  </a:ext>
                </a:extLst>
              </a:tr>
            </a:tbl>
          </a:graphicData>
        </a:graphic>
      </p:graphicFrame>
      <p:graphicFrame>
        <p:nvGraphicFramePr>
          <p:cNvPr id="18" name="Table 17">
            <a:extLst>
              <a:ext uri="{FF2B5EF4-FFF2-40B4-BE49-F238E27FC236}">
                <a16:creationId xmlns:a16="http://schemas.microsoft.com/office/drawing/2014/main" id="{CFF50EA8-4746-4B31-6209-8CEB0305E817}"/>
              </a:ext>
            </a:extLst>
          </p:cNvPr>
          <p:cNvGraphicFramePr>
            <a:graphicFrameLocks noGrp="1"/>
          </p:cNvGraphicFramePr>
          <p:nvPr>
            <p:extLst>
              <p:ext uri="{D42A27DB-BD31-4B8C-83A1-F6EECF244321}">
                <p14:modId xmlns:p14="http://schemas.microsoft.com/office/powerpoint/2010/main" val="4293250293"/>
              </p:ext>
            </p:extLst>
          </p:nvPr>
        </p:nvGraphicFramePr>
        <p:xfrm>
          <a:off x="8757683" y="1053560"/>
          <a:ext cx="1219200" cy="31115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456864586"/>
                    </a:ext>
                  </a:extLst>
                </a:gridCol>
              </a:tblGrid>
              <a:tr h="0">
                <a:tc>
                  <a:txBody>
                    <a:bodyPr/>
                    <a:lstStyle/>
                    <a:p>
                      <a:pPr algn="ctr" fontAlgn="ctr">
                        <a:buNone/>
                      </a:pPr>
                      <a:r>
                        <a:rPr lang="en-US" sz="2000" u="none" strike="noStrike" dirty="0">
                          <a:solidFill>
                            <a:schemeClr val="bg1"/>
                          </a:solidFill>
                          <a:effectLst/>
                        </a:rPr>
                        <a:t>4.92</a:t>
                      </a:r>
                      <a:endParaRPr lang="en-US" sz="2000" b="0" i="0" u="none" strike="noStrike" dirty="0">
                        <a:solidFill>
                          <a:schemeClr val="bg1"/>
                        </a:solidFill>
                        <a:effectLst/>
                        <a:latin typeface="Calibri" panose="020F0502020204030204" pitchFamily="34" charset="0"/>
                      </a:endParaRPr>
                    </a:p>
                  </a:txBody>
                  <a:tcPr marL="6350" marR="6350" marT="6350" marB="0" anchor="ctr">
                    <a:solidFill>
                      <a:schemeClr val="accent2">
                        <a:lumMod val="75000"/>
                      </a:schemeClr>
                    </a:solidFill>
                  </a:tcPr>
                </a:tc>
                <a:extLst>
                  <a:ext uri="{0D108BD9-81ED-4DB2-BD59-A6C34878D82A}">
                    <a16:rowId xmlns:a16="http://schemas.microsoft.com/office/drawing/2014/main" val="654525296"/>
                  </a:ext>
                </a:extLst>
              </a:tr>
            </a:tbl>
          </a:graphicData>
        </a:graphic>
      </p:graphicFrame>
      <p:graphicFrame>
        <p:nvGraphicFramePr>
          <p:cNvPr id="19" name="Chart 18">
            <a:extLst>
              <a:ext uri="{FF2B5EF4-FFF2-40B4-BE49-F238E27FC236}">
                <a16:creationId xmlns:a16="http://schemas.microsoft.com/office/drawing/2014/main" id="{D143803B-D0B4-C6EE-3092-510F253073E8}"/>
              </a:ext>
            </a:extLst>
          </p:cNvPr>
          <p:cNvGraphicFramePr>
            <a:graphicFrameLocks/>
          </p:cNvGraphicFramePr>
          <p:nvPr>
            <p:extLst>
              <p:ext uri="{D42A27DB-BD31-4B8C-83A1-F6EECF244321}">
                <p14:modId xmlns:p14="http://schemas.microsoft.com/office/powerpoint/2010/main" val="119415968"/>
              </p:ext>
            </p:extLst>
          </p:nvPr>
        </p:nvGraphicFramePr>
        <p:xfrm>
          <a:off x="3189767" y="1693740"/>
          <a:ext cx="4040373" cy="229280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56768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554C1D43-F7BB-A50A-EB53-A73B56279771}"/>
              </a:ext>
            </a:extLst>
          </p:cNvPr>
          <p:cNvSpPr txBox="1"/>
          <p:nvPr/>
        </p:nvSpPr>
        <p:spPr>
          <a:xfrm>
            <a:off x="0" y="0"/>
            <a:ext cx="12192000" cy="520700"/>
          </a:xfrm>
          <a:prstGeom prst="rect">
            <a:avLst/>
          </a:prstGeom>
          <a:solidFill>
            <a:schemeClr val="accent2">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400" b="1">
                <a:solidFill>
                  <a:schemeClr val="bg1"/>
                </a:solidFill>
              </a:rPr>
              <a:t>INSIGHTS </a:t>
            </a:r>
            <a:r>
              <a:rPr lang="en-US" sz="2400" b="1" dirty="0">
                <a:solidFill>
                  <a:schemeClr val="bg1"/>
                </a:solidFill>
              </a:rPr>
              <a:t>AND RECOMMENDATIONS</a:t>
            </a:r>
          </a:p>
        </p:txBody>
      </p:sp>
      <p:sp>
        <p:nvSpPr>
          <p:cNvPr id="6" name="TextBox 1">
            <a:extLst>
              <a:ext uri="{FF2B5EF4-FFF2-40B4-BE49-F238E27FC236}">
                <a16:creationId xmlns:a16="http://schemas.microsoft.com/office/drawing/2014/main" id="{D0B2F331-44B9-C236-CE60-6898F2FA854F}"/>
              </a:ext>
            </a:extLst>
          </p:cNvPr>
          <p:cNvSpPr txBox="1"/>
          <p:nvPr/>
        </p:nvSpPr>
        <p:spPr>
          <a:xfrm>
            <a:off x="396949" y="782822"/>
            <a:ext cx="11398101" cy="575620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b="1" dirty="0"/>
              <a:t>Insights</a:t>
            </a:r>
          </a:p>
          <a:p>
            <a:r>
              <a:rPr lang="en-US" sz="2000" dirty="0"/>
              <a:t>The analysis identified several factors associated with fraudulent transactions on the digital payment platform. Fraud occurred across different customer groups but was more prevalent among accounts aged </a:t>
            </a:r>
            <a:r>
              <a:rPr lang="en-US" sz="2000" b="1" dirty="0"/>
              <a:t>15–20</a:t>
            </a:r>
            <a:r>
              <a:rPr lang="en-US" sz="2000" dirty="0"/>
              <a:t>, indicating that account age may influence fraud risk. </a:t>
            </a:r>
            <a:r>
              <a:rPr lang="en-US" sz="2000" b="1" dirty="0"/>
              <a:t>Trans-Amadi</a:t>
            </a:r>
            <a:r>
              <a:rPr lang="en-US" sz="2000" dirty="0"/>
              <a:t> recorded the highest number of fraudulent transactions among the geographic locations analyzed. Fraud was also more common on </a:t>
            </a:r>
            <a:r>
              <a:rPr lang="en-US" sz="2000" b="1" dirty="0"/>
              <a:t>mobile devices</a:t>
            </a:r>
            <a:r>
              <a:rPr lang="en-US" sz="2000" dirty="0"/>
              <a:t> and through </a:t>
            </a:r>
            <a:r>
              <a:rPr lang="en-US" sz="2000" b="1" dirty="0"/>
              <a:t>debit card</a:t>
            </a:r>
            <a:r>
              <a:rPr lang="en-US" sz="2000" dirty="0"/>
              <a:t> payments, suggesting that these channels represent higher operational risk. Overall, the findings indicate that customer behavior, transaction channels, and operational factors all contribute to fraud vulnerability.</a:t>
            </a:r>
          </a:p>
          <a:p>
            <a:endParaRPr lang="en-US" sz="2000" dirty="0"/>
          </a:p>
          <a:p>
            <a:r>
              <a:rPr lang="en-US" sz="2000" b="1" dirty="0"/>
              <a:t>Recommendations</a:t>
            </a:r>
          </a:p>
          <a:p>
            <a:r>
              <a:rPr lang="en-US" sz="2000" dirty="0"/>
              <a:t>The platform should strengthen fraud detection by implementing </a:t>
            </a:r>
            <a:r>
              <a:rPr lang="en-US" sz="2000" b="1" dirty="0"/>
              <a:t>real-time monitoring</a:t>
            </a:r>
            <a:r>
              <a:rPr lang="en-US" sz="2000" dirty="0"/>
              <a:t> for high-risk locations, particularly </a:t>
            </a:r>
            <a:r>
              <a:rPr lang="en-US" sz="2000" b="1" dirty="0"/>
              <a:t>Trans-Amadi</a:t>
            </a:r>
            <a:r>
              <a:rPr lang="en-US" sz="2000" dirty="0"/>
              <a:t>, and applying enhanced security controls to transactions conducted through </a:t>
            </a:r>
            <a:r>
              <a:rPr lang="en-US" sz="2000" b="1" dirty="0"/>
              <a:t>mobile devices</a:t>
            </a:r>
            <a:r>
              <a:rPr lang="en-US" sz="2000" dirty="0"/>
              <a:t> and </a:t>
            </a:r>
            <a:r>
              <a:rPr lang="en-US" sz="2000" b="1" dirty="0"/>
              <a:t>debit card</a:t>
            </a:r>
            <a:r>
              <a:rPr lang="en-US" sz="2000" dirty="0"/>
              <a:t> payments. Risk-based authentication, such as multi-factor authentication and transaction verification, should be introduced for high-risk transactions to improve customer security. In addition, continuous monitoring of customer behavior, regular updates to fraud detection models, and customer awareness campaigns on safe digital payment practices will help reduce fraudulent activity and strengthen the platform's overall fraud prevention strategy.</a:t>
            </a:r>
          </a:p>
          <a:p>
            <a:endParaRPr lang="en-US" sz="2000" dirty="0"/>
          </a:p>
        </p:txBody>
      </p:sp>
    </p:spTree>
    <p:extLst>
      <p:ext uri="{BB962C8B-B14F-4D97-AF65-F5344CB8AC3E}">
        <p14:creationId xmlns:p14="http://schemas.microsoft.com/office/powerpoint/2010/main" val="144634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396A12-A23C-F8F3-33FC-F754F6339551}"/>
              </a:ext>
            </a:extLst>
          </p:cNvPr>
          <p:cNvSpPr txBox="1"/>
          <p:nvPr/>
        </p:nvSpPr>
        <p:spPr>
          <a:xfrm flipH="1">
            <a:off x="-1" y="5475767"/>
            <a:ext cx="4986670" cy="1015663"/>
          </a:xfrm>
          <a:prstGeom prst="rect">
            <a:avLst/>
          </a:prstGeom>
          <a:noFill/>
        </p:spPr>
        <p:txBody>
          <a:bodyPr wrap="square" rtlCol="0">
            <a:spAutoFit/>
          </a:bodyPr>
          <a:lstStyle/>
          <a:p>
            <a:r>
              <a:rPr lang="en-US" sz="6000" b="1" dirty="0"/>
              <a:t>THANK YOU</a:t>
            </a:r>
          </a:p>
        </p:txBody>
      </p:sp>
    </p:spTree>
    <p:extLst>
      <p:ext uri="{BB962C8B-B14F-4D97-AF65-F5344CB8AC3E}">
        <p14:creationId xmlns:p14="http://schemas.microsoft.com/office/powerpoint/2010/main" val="3077240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1239</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25</cp:revision>
  <dcterms:created xsi:type="dcterms:W3CDTF">2026-07-21T21:41:16Z</dcterms:created>
  <dcterms:modified xsi:type="dcterms:W3CDTF">2026-08-03T09:35:58Z</dcterms:modified>
</cp:coreProperties>
</file>