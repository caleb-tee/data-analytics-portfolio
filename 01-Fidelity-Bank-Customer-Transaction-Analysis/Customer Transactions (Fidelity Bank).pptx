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6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C247"/>
    <a:srgbClr val="1224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557" autoAdjust="0"/>
  </p:normalViewPr>
  <p:slideViewPr>
    <p:cSldViewPr snapToGrid="0">
      <p:cViewPr varScale="1">
        <p:scale>
          <a:sx n="60" d="100"/>
          <a:sy n="60" d="100"/>
        </p:scale>
        <p:origin x="1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OneDrive\Desktop\data%20sets%20skillboost\Customer%20Transactions%20(Fidelity%20Bank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OneDrive\Desktop\data%20sets%20skillboost\Customer%20Transactions%20(Fidelity%20Bank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OneDrive\Desktop\data%20sets%20skillboost\Customer%20Transactions%20(Fidelity%20Bank)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OneDrive\Desktop\data%20sets%20skillboost\Customer%20Transactions%20(Fidelity%20Bank)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OneDrive\Desktop\data%20sets%20skillboost\Customer%20Transactions%20(Fidelity%20Bank)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OneDrive\Desktop\data%20sets%20skillboost\Customer%20Transactions%20(Fidelity%20Bank)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OneDrive\Desktop\data%20sets%20skillboost\Customer%20Transactions%20(Fidelity%20Bank)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OneDrive\Desktop\data%20sets%20skillboost\Customer%20Transactions%20(Fidelity%20Bank)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OneDrive\Desktop\data%20sets%20skillboost\Customer%20Transactions%20(Fidelity%20Bank)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OneDrive\Desktop\data%20sets%20skillboost\Customer%20Transactions%20(Fidelity%20Bank)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OneDrive\Desktop\data%20sets%20skillboost\Customer%20Transactions%20(Fidelity%20Bank)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OneDrive\Desktop\data%20sets%20skillboost\Customer%20Transactions%20(Fidelity%20Bank)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OneDrive\Desktop\data%20sets%20skillboost\Customer%20Transactions%20(Fidelity%20Bank)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OneDrive\Desktop\data%20sets%20skillboost\Customer%20Transactions%20(Fidelity%20Bank)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OneDrive\Desktop\data%20sets%20skillboost\Customer%20Transactions%20(Fidelity%20Bank)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OneDrive\Desktop\data%20sets%20skillboost\Customer%20Transactions%20(Fidelity%20Bank)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[Customer Transactions (Fidelity Bank).xlsx]Sheet3!PivotTable12</c:name>
    <c:fmtId val="1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Average Transaction Value by Age Group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Sheet3!$B$8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Sheet3!$A$9:$A$15</c:f>
              <c:strCache>
                <c:ptCount val="6"/>
                <c:pt idx="0">
                  <c:v>18-24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55+</c:v>
                </c:pt>
                <c:pt idx="5">
                  <c:v>Unknown</c:v>
                </c:pt>
              </c:strCache>
            </c:strRef>
          </c:cat>
          <c:val>
            <c:numRef>
              <c:f>Sheet3!$B$9:$B$15</c:f>
              <c:numCache>
                <c:formatCode>"₦"#,##0\ </c:formatCode>
                <c:ptCount val="6"/>
                <c:pt idx="0">
                  <c:v>801761.62759934389</c:v>
                </c:pt>
                <c:pt idx="1">
                  <c:v>1244759.7198917456</c:v>
                </c:pt>
                <c:pt idx="2">
                  <c:v>2034496.2766159095</c:v>
                </c:pt>
                <c:pt idx="3">
                  <c:v>2673215.3742090333</c:v>
                </c:pt>
                <c:pt idx="4">
                  <c:v>3354430.5638214564</c:v>
                </c:pt>
                <c:pt idx="5">
                  <c:v>3563687.1281410959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E2-4FB4-8079-B5421EF5C6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17609104"/>
        <c:axId val="613414448"/>
      </c:barChart>
      <c:catAx>
        <c:axId val="617609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3414448"/>
        <c:crosses val="autoZero"/>
        <c:auto val="1"/>
        <c:lblAlgn val="ctr"/>
        <c:lblOffset val="100"/>
        <c:noMultiLvlLbl val="0"/>
      </c:catAx>
      <c:valAx>
        <c:axId val="613414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₦&quot;#,##0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76091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[Customer Transactions (Fidelity Bank).xlsx]Demographic and Geographic Spen!PivotTable3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Average Transaction Amount by Gender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'Demographic and Geographic Spen'!$C$2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'Demographic and Geographic Spen'!$B$3:$B$5</c:f>
              <c:strCache>
                <c:ptCount val="2"/>
                <c:pt idx="0">
                  <c:v>F</c:v>
                </c:pt>
                <c:pt idx="1">
                  <c:v>M</c:v>
                </c:pt>
              </c:strCache>
            </c:strRef>
          </c:cat>
          <c:val>
            <c:numRef>
              <c:f>'Demographic and Geographic Spen'!$C$3:$C$5</c:f>
              <c:numCache>
                <c:formatCode>"₦"#,##0\ </c:formatCode>
                <c:ptCount val="2"/>
                <c:pt idx="0">
                  <c:v>1580240.9228801169</c:v>
                </c:pt>
                <c:pt idx="1">
                  <c:v>1544047.3482929515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64-448B-B69B-22F5A96900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71765376"/>
        <c:axId val="471771496"/>
      </c:barChart>
      <c:catAx>
        <c:axId val="4717653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1771496"/>
        <c:crosses val="autoZero"/>
        <c:auto val="1"/>
        <c:lblAlgn val="ctr"/>
        <c:lblOffset val="100"/>
        <c:noMultiLvlLbl val="0"/>
      </c:catAx>
      <c:valAx>
        <c:axId val="4717714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₦&quot;#,##0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17653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[Customer Transactions (Fidelity Bank).xlsx]Demographic and Geographic Spen!PivotTable4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Average Transaction Amount by Age Group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'Demographic and Geographic Spen'!$C$8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'Demographic and Geographic Spen'!$B$9:$B$15</c:f>
              <c:strCache>
                <c:ptCount val="6"/>
                <c:pt idx="0">
                  <c:v>18-24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55+</c:v>
                </c:pt>
                <c:pt idx="5">
                  <c:v>Unknown</c:v>
                </c:pt>
              </c:strCache>
            </c:strRef>
          </c:cat>
          <c:val>
            <c:numRef>
              <c:f>'Demographic and Geographic Spen'!$C$9:$C$15</c:f>
              <c:numCache>
                <c:formatCode>"₦"#,##0\ </c:formatCode>
                <c:ptCount val="6"/>
                <c:pt idx="0">
                  <c:v>801761.62759934389</c:v>
                </c:pt>
                <c:pt idx="1">
                  <c:v>1244759.7198917456</c:v>
                </c:pt>
                <c:pt idx="2">
                  <c:v>2034496.2766159095</c:v>
                </c:pt>
                <c:pt idx="3">
                  <c:v>2673215.3742090333</c:v>
                </c:pt>
                <c:pt idx="4">
                  <c:v>3354430.5638214564</c:v>
                </c:pt>
                <c:pt idx="5">
                  <c:v>3563687.1281410959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E8-4E5A-8856-A0333F8A19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86238808"/>
        <c:axId val="586231248"/>
      </c:barChart>
      <c:catAx>
        <c:axId val="586238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6231248"/>
        <c:crosses val="autoZero"/>
        <c:auto val="1"/>
        <c:lblAlgn val="ctr"/>
        <c:lblOffset val="100"/>
        <c:noMultiLvlLbl val="0"/>
      </c:catAx>
      <c:valAx>
        <c:axId val="5862312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₦&quot;#,##0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6238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[Customer Transactions (Fidelity Bank).xlsx]Demographic and Geographic Spen!PivotTable5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Average Transaction Amount by Location</a:t>
            </a:r>
          </a:p>
        </c:rich>
      </c:tx>
      <c:layout>
        <c:manualLayout>
          <c:xMode val="edge"/>
          <c:yMode val="edge"/>
          <c:x val="0.16128560309916179"/>
          <c:y val="1.300373039922535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'Demographic and Geographic Spen'!$F$8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'Demographic and Geographic Spen'!$E$9:$E$34</c:f>
              <c:strCache>
                <c:ptCount val="25"/>
                <c:pt idx="0">
                  <c:v>Aba Road, Port Harcourt</c:v>
                </c:pt>
                <c:pt idx="1">
                  <c:v>Abeokuta Oke-Ilewo</c:v>
                </c:pt>
                <c:pt idx="2">
                  <c:v>Abuja Central Area</c:v>
                </c:pt>
                <c:pt idx="3">
                  <c:v>Ajah, Lagos</c:v>
                </c:pt>
                <c:pt idx="4">
                  <c:v>Benin Ring Road</c:v>
                </c:pt>
                <c:pt idx="5">
                  <c:v>Calabar Marian Road</c:v>
                </c:pt>
                <c:pt idx="6">
                  <c:v>Enugu GRA</c:v>
                </c:pt>
                <c:pt idx="7">
                  <c:v>Ibadan Dugbe</c:v>
                </c:pt>
                <c:pt idx="8">
                  <c:v>Ikeja, Lagos</c:v>
                </c:pt>
                <c:pt idx="9">
                  <c:v>Ikorodu, Lagos</c:v>
                </c:pt>
                <c:pt idx="10">
                  <c:v>Ilorin Post Office</c:v>
                </c:pt>
                <c:pt idx="11">
                  <c:v>Jos Terminus</c:v>
                </c:pt>
                <c:pt idx="12">
                  <c:v>Kaduna Central</c:v>
                </c:pt>
                <c:pt idx="13">
                  <c:v>Kano Central</c:v>
                </c:pt>
                <c:pt idx="14">
                  <c:v>Lekki, Lagos</c:v>
                </c:pt>
                <c:pt idx="15">
                  <c:v>Maitama, Abuja</c:v>
                </c:pt>
                <c:pt idx="16">
                  <c:v>Maryland, Lagos</c:v>
                </c:pt>
                <c:pt idx="17">
                  <c:v>Onitsha Main Market</c:v>
                </c:pt>
                <c:pt idx="18">
                  <c:v>Owerri Douglas Road</c:v>
                </c:pt>
                <c:pt idx="19">
                  <c:v>Port Harcourt GRA</c:v>
                </c:pt>
                <c:pt idx="20">
                  <c:v>Surulere, Lagos</c:v>
                </c:pt>
                <c:pt idx="21">
                  <c:v>Uyo Oron Road</c:v>
                </c:pt>
                <c:pt idx="22">
                  <c:v>Victoria Island, Lagos</c:v>
                </c:pt>
                <c:pt idx="23">
                  <c:v>Warri Effurun</c:v>
                </c:pt>
                <c:pt idx="24">
                  <c:v>Wuse 2, Abuja</c:v>
                </c:pt>
              </c:strCache>
            </c:strRef>
          </c:cat>
          <c:val>
            <c:numRef>
              <c:f>'Demographic and Geographic Spen'!$F$9:$F$34</c:f>
              <c:numCache>
                <c:formatCode>"₦"#,##0\ </c:formatCode>
                <c:ptCount val="25"/>
                <c:pt idx="0">
                  <c:v>1620898.105</c:v>
                </c:pt>
                <c:pt idx="1">
                  <c:v>1553513.59</c:v>
                </c:pt>
                <c:pt idx="2">
                  <c:v>1738095.44</c:v>
                </c:pt>
                <c:pt idx="3">
                  <c:v>1625045.4075</c:v>
                </c:pt>
                <c:pt idx="4">
                  <c:v>1631603.0449999999</c:v>
                </c:pt>
                <c:pt idx="5">
                  <c:v>1516943.5525</c:v>
                </c:pt>
                <c:pt idx="6">
                  <c:v>1567773.0825</c:v>
                </c:pt>
                <c:pt idx="7">
                  <c:v>1480651.22</c:v>
                </c:pt>
                <c:pt idx="8">
                  <c:v>1414705.1950000001</c:v>
                </c:pt>
                <c:pt idx="9">
                  <c:v>1558517.0349999999</c:v>
                </c:pt>
                <c:pt idx="10">
                  <c:v>1462219.4875</c:v>
                </c:pt>
                <c:pt idx="11">
                  <c:v>1644233.6575</c:v>
                </c:pt>
                <c:pt idx="12">
                  <c:v>1797979.6375</c:v>
                </c:pt>
                <c:pt idx="13">
                  <c:v>1430916.7725</c:v>
                </c:pt>
                <c:pt idx="14">
                  <c:v>1646874.135</c:v>
                </c:pt>
                <c:pt idx="15">
                  <c:v>1416564.8149999999</c:v>
                </c:pt>
                <c:pt idx="16">
                  <c:v>1524077.7975000001</c:v>
                </c:pt>
                <c:pt idx="17">
                  <c:v>1596233.0549999999</c:v>
                </c:pt>
                <c:pt idx="18">
                  <c:v>1397914.6274999999</c:v>
                </c:pt>
                <c:pt idx="19">
                  <c:v>1475708.7775000001</c:v>
                </c:pt>
                <c:pt idx="20">
                  <c:v>1547187.915</c:v>
                </c:pt>
                <c:pt idx="21">
                  <c:v>1611428.68</c:v>
                </c:pt>
                <c:pt idx="22">
                  <c:v>1550325.6</c:v>
                </c:pt>
                <c:pt idx="23">
                  <c:v>1586832.6950000001</c:v>
                </c:pt>
                <c:pt idx="24">
                  <c:v>1452504.4325000001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3B4-4419-859F-D01158726A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371844624"/>
        <c:axId val="371845344"/>
      </c:barChart>
      <c:catAx>
        <c:axId val="37184462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1845344"/>
        <c:crosses val="autoZero"/>
        <c:auto val="1"/>
        <c:lblAlgn val="ctr"/>
        <c:lblOffset val="100"/>
        <c:noMultiLvlLbl val="0"/>
      </c:catAx>
      <c:valAx>
        <c:axId val="37184534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₦&quot;#,##0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18446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[Customer Transactions (Fidelity Bank).xlsx]High-Value Customer Identificat!PivotTable13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baseline="0"/>
              <a:t>High-Value Customers by Gender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'High-Value Customer Identificat'!$C$4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'High-Value Customer Identificat'!$B$5:$B$7</c:f>
              <c:strCache>
                <c:ptCount val="2"/>
                <c:pt idx="0">
                  <c:v>F</c:v>
                </c:pt>
                <c:pt idx="1">
                  <c:v>M</c:v>
                </c:pt>
              </c:strCache>
            </c:strRef>
          </c:cat>
          <c:val>
            <c:numRef>
              <c:f>'High-Value Customer Identificat'!$C$5:$C$7</c:f>
              <c:numCache>
                <c:formatCode>General</c:formatCode>
                <c:ptCount val="2"/>
                <c:pt idx="0">
                  <c:v>1759</c:v>
                </c:pt>
                <c:pt idx="1">
                  <c:v>4088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FF-4E92-8E30-3D65FA1F27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49856120"/>
        <c:axId val="649856840"/>
      </c:barChart>
      <c:catAx>
        <c:axId val="6498561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9856840"/>
        <c:crosses val="autoZero"/>
        <c:auto val="1"/>
        <c:lblAlgn val="ctr"/>
        <c:lblOffset val="100"/>
        <c:noMultiLvlLbl val="0"/>
      </c:catAx>
      <c:valAx>
        <c:axId val="6498568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98561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[Customer Transactions (Fidelity Bank).xlsx]High-Value Customer Identificat!PivotTable14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baseline="0"/>
              <a:t>High-Value Customers by Age Group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'High-Value Customer Identificat'!$F$4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'High-Value Customer Identificat'!$E$5:$E$11</c:f>
              <c:strCache>
                <c:ptCount val="6"/>
                <c:pt idx="0">
                  <c:v>18-24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55+</c:v>
                </c:pt>
                <c:pt idx="5">
                  <c:v>Unknown</c:v>
                </c:pt>
              </c:strCache>
            </c:strRef>
          </c:cat>
          <c:val>
            <c:numRef>
              <c:f>'High-Value Customer Identificat'!$F$5:$F$11</c:f>
              <c:numCache>
                <c:formatCode>General</c:formatCode>
                <c:ptCount val="6"/>
                <c:pt idx="0">
                  <c:v>224</c:v>
                </c:pt>
                <c:pt idx="1">
                  <c:v>1953</c:v>
                </c:pt>
                <c:pt idx="2">
                  <c:v>1505</c:v>
                </c:pt>
                <c:pt idx="3">
                  <c:v>702</c:v>
                </c:pt>
                <c:pt idx="4">
                  <c:v>425</c:v>
                </c:pt>
                <c:pt idx="5">
                  <c:v>1038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97-4DF9-B34D-4C953E7360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649866560"/>
        <c:axId val="649867280"/>
      </c:barChart>
      <c:catAx>
        <c:axId val="6498665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9867280"/>
        <c:crosses val="autoZero"/>
        <c:auto val="1"/>
        <c:lblAlgn val="ctr"/>
        <c:lblOffset val="100"/>
        <c:noMultiLvlLbl val="0"/>
      </c:catAx>
      <c:valAx>
        <c:axId val="6498672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98665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[Customer Transactions (Fidelity Bank).xlsx]High-Value Customer Identificat!PivotTable15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baseline="0"/>
              <a:t>High-Value Customers by Location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'High-Value Customer Identificat'!$C$12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'High-Value Customer Identificat'!$B$13:$B$38</c:f>
              <c:strCache>
                <c:ptCount val="25"/>
                <c:pt idx="0">
                  <c:v>Abuja Central Area</c:v>
                </c:pt>
                <c:pt idx="1">
                  <c:v>Calabar Marian Road</c:v>
                </c:pt>
                <c:pt idx="2">
                  <c:v>Jos Terminus</c:v>
                </c:pt>
                <c:pt idx="3">
                  <c:v>Abeokuta Oke-Ilewo</c:v>
                </c:pt>
                <c:pt idx="4">
                  <c:v>Maitama, Abuja</c:v>
                </c:pt>
                <c:pt idx="5">
                  <c:v>Maryland, Lagos</c:v>
                </c:pt>
                <c:pt idx="6">
                  <c:v>Aba Road, Port Harcourt</c:v>
                </c:pt>
                <c:pt idx="7">
                  <c:v>Lekki, Lagos</c:v>
                </c:pt>
                <c:pt idx="8">
                  <c:v>Surulere, Lagos</c:v>
                </c:pt>
                <c:pt idx="9">
                  <c:v>Ajah, Lagos</c:v>
                </c:pt>
                <c:pt idx="10">
                  <c:v>Onitsha Main Market</c:v>
                </c:pt>
                <c:pt idx="11">
                  <c:v>Warri Effurun</c:v>
                </c:pt>
                <c:pt idx="12">
                  <c:v>Uyo Oron Road</c:v>
                </c:pt>
                <c:pt idx="13">
                  <c:v>Port Harcourt GRA</c:v>
                </c:pt>
                <c:pt idx="14">
                  <c:v>Ikorodu, Lagos</c:v>
                </c:pt>
                <c:pt idx="15">
                  <c:v>Kaduna Central</c:v>
                </c:pt>
                <c:pt idx="16">
                  <c:v>Enugu GRA</c:v>
                </c:pt>
                <c:pt idx="17">
                  <c:v>Benin Ring Road</c:v>
                </c:pt>
                <c:pt idx="18">
                  <c:v>Ikeja, Lagos</c:v>
                </c:pt>
                <c:pt idx="19">
                  <c:v>Victoria Island, Lagos</c:v>
                </c:pt>
                <c:pt idx="20">
                  <c:v>Owerri Douglas Road</c:v>
                </c:pt>
                <c:pt idx="21">
                  <c:v>Ilorin Post Office</c:v>
                </c:pt>
                <c:pt idx="22">
                  <c:v>Kano Central</c:v>
                </c:pt>
                <c:pt idx="23">
                  <c:v>Ibadan Dugbe</c:v>
                </c:pt>
                <c:pt idx="24">
                  <c:v>Wuse 2, Abuja</c:v>
                </c:pt>
              </c:strCache>
            </c:strRef>
          </c:cat>
          <c:val>
            <c:numRef>
              <c:f>'High-Value Customer Identificat'!$C$13:$C$38</c:f>
              <c:numCache>
                <c:formatCode>General</c:formatCode>
                <c:ptCount val="25"/>
                <c:pt idx="0">
                  <c:v>259</c:v>
                </c:pt>
                <c:pt idx="1">
                  <c:v>255</c:v>
                </c:pt>
                <c:pt idx="2">
                  <c:v>254</c:v>
                </c:pt>
                <c:pt idx="3">
                  <c:v>244</c:v>
                </c:pt>
                <c:pt idx="4">
                  <c:v>244</c:v>
                </c:pt>
                <c:pt idx="5">
                  <c:v>243</c:v>
                </c:pt>
                <c:pt idx="6">
                  <c:v>243</c:v>
                </c:pt>
                <c:pt idx="7">
                  <c:v>242</c:v>
                </c:pt>
                <c:pt idx="8">
                  <c:v>239</c:v>
                </c:pt>
                <c:pt idx="9">
                  <c:v>239</c:v>
                </c:pt>
                <c:pt idx="10">
                  <c:v>239</c:v>
                </c:pt>
                <c:pt idx="11">
                  <c:v>239</c:v>
                </c:pt>
                <c:pt idx="12">
                  <c:v>238</c:v>
                </c:pt>
                <c:pt idx="13">
                  <c:v>232</c:v>
                </c:pt>
                <c:pt idx="14">
                  <c:v>230</c:v>
                </c:pt>
                <c:pt idx="15">
                  <c:v>230</c:v>
                </c:pt>
                <c:pt idx="16">
                  <c:v>227</c:v>
                </c:pt>
                <c:pt idx="17">
                  <c:v>227</c:v>
                </c:pt>
                <c:pt idx="18">
                  <c:v>226</c:v>
                </c:pt>
                <c:pt idx="19">
                  <c:v>224</c:v>
                </c:pt>
                <c:pt idx="20">
                  <c:v>222</c:v>
                </c:pt>
                <c:pt idx="21">
                  <c:v>220</c:v>
                </c:pt>
                <c:pt idx="22">
                  <c:v>216</c:v>
                </c:pt>
                <c:pt idx="23">
                  <c:v>209</c:v>
                </c:pt>
                <c:pt idx="24">
                  <c:v>206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6F-4886-A2A0-76E8C723FE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465337824"/>
        <c:axId val="465338904"/>
      </c:barChart>
      <c:catAx>
        <c:axId val="46533782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5338904"/>
        <c:crosses val="autoZero"/>
        <c:auto val="1"/>
        <c:lblAlgn val="ctr"/>
        <c:lblOffset val="100"/>
        <c:noMultiLvlLbl val="0"/>
      </c:catAx>
      <c:valAx>
        <c:axId val="46533890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53378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[Customer Transactions (Fidelity Bank).xlsx]Temporal Transaction Pattern An!PivotTable2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Transaction Value by Hour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'Temporal Transaction Pattern An'!$C$3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'Temporal Transaction Pattern An'!$B$4:$B$28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'Temporal Transaction Pattern An'!$C$4:$C$28</c:f>
              <c:numCache>
                <c:formatCode>"₦"#,##0\ </c:formatCode>
                <c:ptCount val="24"/>
                <c:pt idx="0">
                  <c:v>1973921620</c:v>
                </c:pt>
                <c:pt idx="1">
                  <c:v>668922510</c:v>
                </c:pt>
                <c:pt idx="2">
                  <c:v>716631910</c:v>
                </c:pt>
                <c:pt idx="3">
                  <c:v>712201600</c:v>
                </c:pt>
                <c:pt idx="4">
                  <c:v>465782950</c:v>
                </c:pt>
                <c:pt idx="5">
                  <c:v>493986080</c:v>
                </c:pt>
                <c:pt idx="6">
                  <c:v>902537590</c:v>
                </c:pt>
                <c:pt idx="7">
                  <c:v>1255747230</c:v>
                </c:pt>
                <c:pt idx="8">
                  <c:v>1897174930</c:v>
                </c:pt>
                <c:pt idx="9">
                  <c:v>3589393090</c:v>
                </c:pt>
                <c:pt idx="10">
                  <c:v>3687349020</c:v>
                </c:pt>
                <c:pt idx="11">
                  <c:v>6401411890</c:v>
                </c:pt>
                <c:pt idx="12">
                  <c:v>10366950440</c:v>
                </c:pt>
                <c:pt idx="13">
                  <c:v>10351132630</c:v>
                </c:pt>
                <c:pt idx="14">
                  <c:v>11737485130</c:v>
                </c:pt>
                <c:pt idx="15">
                  <c:v>13675738610</c:v>
                </c:pt>
                <c:pt idx="16">
                  <c:v>13575712140</c:v>
                </c:pt>
                <c:pt idx="17">
                  <c:v>10650184920</c:v>
                </c:pt>
                <c:pt idx="18">
                  <c:v>12897890200</c:v>
                </c:pt>
                <c:pt idx="19">
                  <c:v>16194536910</c:v>
                </c:pt>
                <c:pt idx="20">
                  <c:v>16046571380</c:v>
                </c:pt>
                <c:pt idx="21">
                  <c:v>9024858650</c:v>
                </c:pt>
                <c:pt idx="22">
                  <c:v>4978235120</c:v>
                </c:pt>
                <c:pt idx="23">
                  <c:v>3130634480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C04-452E-A47C-26CF27311B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49865480"/>
        <c:axId val="649858280"/>
      </c:lineChart>
      <c:catAx>
        <c:axId val="6498654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9858280"/>
        <c:crosses val="autoZero"/>
        <c:auto val="1"/>
        <c:lblAlgn val="ctr"/>
        <c:lblOffset val="100"/>
        <c:noMultiLvlLbl val="0"/>
      </c:catAx>
      <c:valAx>
        <c:axId val="6498582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₦&quot;#,##0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98654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[Customer Transactions (Fidelity Bank).xlsx]Temporal Transaction Pattern An!PivotTable1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Monthly Transaction Value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'Temporal Transaction Pattern An'!$G$3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'Temporal Transaction Pattern An'!$F$4:$F$7</c:f>
              <c:strCache>
                <c:ptCount val="3"/>
                <c:pt idx="0">
                  <c:v>Aug</c:v>
                </c:pt>
                <c:pt idx="1">
                  <c:v>Sep</c:v>
                </c:pt>
                <c:pt idx="2">
                  <c:v>Oct</c:v>
                </c:pt>
              </c:strCache>
            </c:strRef>
          </c:cat>
          <c:val>
            <c:numRef>
              <c:f>'Temporal Transaction Pattern An'!$G$4:$G$7</c:f>
              <c:numCache>
                <c:formatCode>"₦"#,##0\ </c:formatCode>
                <c:ptCount val="3"/>
                <c:pt idx="0">
                  <c:v>83445185720</c:v>
                </c:pt>
                <c:pt idx="1">
                  <c:v>64545128060</c:v>
                </c:pt>
                <c:pt idx="2">
                  <c:v>7404677250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210-4C9A-8E00-D1CFC4ABEB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65334224"/>
        <c:axId val="465334944"/>
      </c:barChart>
      <c:catAx>
        <c:axId val="4653342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5334944"/>
        <c:crosses val="autoZero"/>
        <c:auto val="1"/>
        <c:lblAlgn val="ctr"/>
        <c:lblOffset val="100"/>
        <c:noMultiLvlLbl val="0"/>
      </c:catAx>
      <c:valAx>
        <c:axId val="4653349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₦&quot;#,##0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53342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[Customer Transactions (Fidelity Bank).xlsx]Sheet3!PivotTable12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baseline="0"/>
              <a:t>Average Transaction Value by Age Group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Sheet3!$B$8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Sheet3!$A$9:$A$15</c:f>
              <c:strCache>
                <c:ptCount val="6"/>
                <c:pt idx="0">
                  <c:v>18-24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55+</c:v>
                </c:pt>
                <c:pt idx="5">
                  <c:v>Unknown</c:v>
                </c:pt>
              </c:strCache>
            </c:strRef>
          </c:cat>
          <c:val>
            <c:numRef>
              <c:f>Sheet3!$B$9:$B$15</c:f>
              <c:numCache>
                <c:formatCode>"₦"#,##0\ </c:formatCode>
                <c:ptCount val="6"/>
                <c:pt idx="0">
                  <c:v>801761.62759934389</c:v>
                </c:pt>
                <c:pt idx="1">
                  <c:v>1244759.7198917456</c:v>
                </c:pt>
                <c:pt idx="2">
                  <c:v>2034496.2766159095</c:v>
                </c:pt>
                <c:pt idx="3">
                  <c:v>2673215.3742090333</c:v>
                </c:pt>
                <c:pt idx="4">
                  <c:v>3354430.5638214564</c:v>
                </c:pt>
                <c:pt idx="5">
                  <c:v>3563687.1281410959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40-4B8F-9D41-C0BDE55DD2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17609104"/>
        <c:axId val="613414448"/>
      </c:barChart>
      <c:catAx>
        <c:axId val="617609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3414448"/>
        <c:crosses val="autoZero"/>
        <c:auto val="1"/>
        <c:lblAlgn val="ctr"/>
        <c:lblOffset val="100"/>
        <c:noMultiLvlLbl val="0"/>
      </c:catAx>
      <c:valAx>
        <c:axId val="613414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₦&quot;#,##0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76091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[Customer Transactions (Fidelity Bank).xlsx]Sheet3!PivotTable15</c:name>
    <c:fmtId val="1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baseline="0"/>
              <a:t>High-Value Customers by Location</a:t>
            </a:r>
            <a:endParaRPr lang="en-US"/>
          </a:p>
        </c:rich>
      </c:tx>
      <c:layout>
        <c:manualLayout>
          <c:xMode val="edge"/>
          <c:yMode val="edge"/>
          <c:x val="0.11503075030750308"/>
          <c:y val="5.212800972225738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Sheet3!$F$19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Sheet3!$E$20:$E$45</c:f>
              <c:strCache>
                <c:ptCount val="25"/>
                <c:pt idx="0">
                  <c:v>Maitama, Abuja</c:v>
                </c:pt>
                <c:pt idx="1">
                  <c:v>Warri Effurun</c:v>
                </c:pt>
                <c:pt idx="2">
                  <c:v>Port Harcourt GRA</c:v>
                </c:pt>
                <c:pt idx="3">
                  <c:v>Abeokuta Oke-Ilewo</c:v>
                </c:pt>
                <c:pt idx="4">
                  <c:v>Kano Central</c:v>
                </c:pt>
                <c:pt idx="5">
                  <c:v>Abuja Central Area</c:v>
                </c:pt>
                <c:pt idx="6">
                  <c:v>Onitsha Main Market</c:v>
                </c:pt>
                <c:pt idx="7">
                  <c:v>Ajah, Lagos</c:v>
                </c:pt>
                <c:pt idx="8">
                  <c:v>Uyo Oron Road</c:v>
                </c:pt>
                <c:pt idx="9">
                  <c:v>Benin Ring Road</c:v>
                </c:pt>
                <c:pt idx="10">
                  <c:v>Aba Road, Port Harcourt</c:v>
                </c:pt>
                <c:pt idx="11">
                  <c:v>Calabar Marian Road</c:v>
                </c:pt>
                <c:pt idx="12">
                  <c:v>Lekki, Lagos</c:v>
                </c:pt>
                <c:pt idx="13">
                  <c:v>Enugu GRA</c:v>
                </c:pt>
                <c:pt idx="14">
                  <c:v>Maryland, Lagos</c:v>
                </c:pt>
                <c:pt idx="15">
                  <c:v>Ibadan Dugbe</c:v>
                </c:pt>
                <c:pt idx="16">
                  <c:v>Owerri Douglas Road</c:v>
                </c:pt>
                <c:pt idx="17">
                  <c:v>Ikeja, Lagos</c:v>
                </c:pt>
                <c:pt idx="18">
                  <c:v>Surulere, Lagos</c:v>
                </c:pt>
                <c:pt idx="19">
                  <c:v>Ikorodu, Lagos</c:v>
                </c:pt>
                <c:pt idx="20">
                  <c:v>Victoria Island, Lagos</c:v>
                </c:pt>
                <c:pt idx="21">
                  <c:v>Ilorin Post Office</c:v>
                </c:pt>
                <c:pt idx="22">
                  <c:v>Wuse 2, Abuja</c:v>
                </c:pt>
                <c:pt idx="23">
                  <c:v>Jos Terminus</c:v>
                </c:pt>
                <c:pt idx="24">
                  <c:v>Kaduna Central</c:v>
                </c:pt>
              </c:strCache>
            </c:strRef>
          </c:cat>
          <c:val>
            <c:numRef>
              <c:f>Sheet3!$F$20:$F$45</c:f>
              <c:numCache>
                <c:formatCode>General</c:formatCode>
                <c:ptCount val="25"/>
                <c:pt idx="0">
                  <c:v>4000</c:v>
                </c:pt>
                <c:pt idx="1">
                  <c:v>4000</c:v>
                </c:pt>
                <c:pt idx="2">
                  <c:v>4000</c:v>
                </c:pt>
                <c:pt idx="3">
                  <c:v>4000</c:v>
                </c:pt>
                <c:pt idx="4">
                  <c:v>4000</c:v>
                </c:pt>
                <c:pt idx="5">
                  <c:v>4000</c:v>
                </c:pt>
                <c:pt idx="6">
                  <c:v>4000</c:v>
                </c:pt>
                <c:pt idx="7">
                  <c:v>4000</c:v>
                </c:pt>
                <c:pt idx="8">
                  <c:v>4000</c:v>
                </c:pt>
                <c:pt idx="9">
                  <c:v>4000</c:v>
                </c:pt>
                <c:pt idx="10">
                  <c:v>4000</c:v>
                </c:pt>
                <c:pt idx="11">
                  <c:v>4000</c:v>
                </c:pt>
                <c:pt idx="12">
                  <c:v>4000</c:v>
                </c:pt>
                <c:pt idx="13">
                  <c:v>4000</c:v>
                </c:pt>
                <c:pt idx="14">
                  <c:v>4000</c:v>
                </c:pt>
                <c:pt idx="15">
                  <c:v>4000</c:v>
                </c:pt>
                <c:pt idx="16">
                  <c:v>4000</c:v>
                </c:pt>
                <c:pt idx="17">
                  <c:v>4000</c:v>
                </c:pt>
                <c:pt idx="18">
                  <c:v>4000</c:v>
                </c:pt>
                <c:pt idx="19">
                  <c:v>4000</c:v>
                </c:pt>
                <c:pt idx="20">
                  <c:v>4000</c:v>
                </c:pt>
                <c:pt idx="21">
                  <c:v>4000</c:v>
                </c:pt>
                <c:pt idx="22">
                  <c:v>4000</c:v>
                </c:pt>
                <c:pt idx="23">
                  <c:v>4000</c:v>
                </c:pt>
                <c:pt idx="24">
                  <c:v>4000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08-44F5-AB76-941E437B5F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636908888"/>
        <c:axId val="636909592"/>
      </c:barChart>
      <c:catAx>
        <c:axId val="63690888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6909592"/>
        <c:crosses val="autoZero"/>
        <c:auto val="1"/>
        <c:lblAlgn val="ctr"/>
        <c:lblOffset val="100"/>
        <c:noMultiLvlLbl val="0"/>
      </c:catAx>
      <c:valAx>
        <c:axId val="6369095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6908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[Customer Transactions (Fidelity Bank).xlsx]Sheet3!PivotTable16</c:name>
    <c:fmtId val="1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baseline="0"/>
              <a:t>Hourly Transaction Volume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Sheet3!$B$47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Sheet3!$A$48:$A$72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Sheet3!$B$48:$B$72</c:f>
              <c:numCache>
                <c:formatCode>General</c:formatCode>
                <c:ptCount val="24"/>
                <c:pt idx="0">
                  <c:v>1283</c:v>
                </c:pt>
                <c:pt idx="1">
                  <c:v>530</c:v>
                </c:pt>
                <c:pt idx="2">
                  <c:v>520</c:v>
                </c:pt>
                <c:pt idx="3">
                  <c:v>471</c:v>
                </c:pt>
                <c:pt idx="4">
                  <c:v>458</c:v>
                </c:pt>
                <c:pt idx="5">
                  <c:v>655</c:v>
                </c:pt>
                <c:pt idx="6">
                  <c:v>918</c:v>
                </c:pt>
                <c:pt idx="7">
                  <c:v>1404</c:v>
                </c:pt>
                <c:pt idx="8">
                  <c:v>2076</c:v>
                </c:pt>
                <c:pt idx="9">
                  <c:v>2856</c:v>
                </c:pt>
                <c:pt idx="10">
                  <c:v>3116</c:v>
                </c:pt>
                <c:pt idx="11">
                  <c:v>4201</c:v>
                </c:pt>
                <c:pt idx="12">
                  <c:v>5779</c:v>
                </c:pt>
                <c:pt idx="13">
                  <c:v>6400</c:v>
                </c:pt>
                <c:pt idx="14">
                  <c:v>6141</c:v>
                </c:pt>
                <c:pt idx="15">
                  <c:v>7016</c:v>
                </c:pt>
                <c:pt idx="16">
                  <c:v>6740</c:v>
                </c:pt>
                <c:pt idx="17">
                  <c:v>6162</c:v>
                </c:pt>
                <c:pt idx="18">
                  <c:v>6709</c:v>
                </c:pt>
                <c:pt idx="19">
                  <c:v>10724</c:v>
                </c:pt>
                <c:pt idx="20">
                  <c:v>11093</c:v>
                </c:pt>
                <c:pt idx="21">
                  <c:v>7579</c:v>
                </c:pt>
                <c:pt idx="22">
                  <c:v>4642</c:v>
                </c:pt>
                <c:pt idx="23">
                  <c:v>2527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846-4CE8-97FC-09108313BC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57343480"/>
        <c:axId val="657340312"/>
      </c:lineChart>
      <c:catAx>
        <c:axId val="6573434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7340312"/>
        <c:crosses val="autoZero"/>
        <c:auto val="1"/>
        <c:lblAlgn val="ctr"/>
        <c:lblOffset val="100"/>
        <c:noMultiLvlLbl val="0"/>
      </c:catAx>
      <c:valAx>
        <c:axId val="6573403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73434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[Customer Transactions (Fidelity Bank).xlsx]Sheet3!PivotTable14</c:name>
    <c:fmtId val="1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baseline="0"/>
              <a:t>Top Locations by Average Transaction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Sheet3!$B$19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Sheet3!$A$20:$A$45</c:f>
              <c:strCache>
                <c:ptCount val="25"/>
                <c:pt idx="0">
                  <c:v>Kaduna Central</c:v>
                </c:pt>
                <c:pt idx="1">
                  <c:v>Abuja Central Area</c:v>
                </c:pt>
                <c:pt idx="2">
                  <c:v>Lekki, Lagos</c:v>
                </c:pt>
                <c:pt idx="3">
                  <c:v>Jos Terminus</c:v>
                </c:pt>
                <c:pt idx="4">
                  <c:v>Benin Ring Road</c:v>
                </c:pt>
                <c:pt idx="5">
                  <c:v>Ajah, Lagos</c:v>
                </c:pt>
                <c:pt idx="6">
                  <c:v>Aba Road, Port Harcourt</c:v>
                </c:pt>
                <c:pt idx="7">
                  <c:v>Uyo Oron Road</c:v>
                </c:pt>
                <c:pt idx="8">
                  <c:v>Onitsha Main Market</c:v>
                </c:pt>
                <c:pt idx="9">
                  <c:v>Warri Effurun</c:v>
                </c:pt>
                <c:pt idx="10">
                  <c:v>Enugu GRA</c:v>
                </c:pt>
                <c:pt idx="11">
                  <c:v>Ikorodu, Lagos</c:v>
                </c:pt>
                <c:pt idx="12">
                  <c:v>Abeokuta Oke-Ilewo</c:v>
                </c:pt>
                <c:pt idx="13">
                  <c:v>Victoria Island, Lagos</c:v>
                </c:pt>
                <c:pt idx="14">
                  <c:v>Surulere, Lagos</c:v>
                </c:pt>
                <c:pt idx="15">
                  <c:v>Maryland, Lagos</c:v>
                </c:pt>
                <c:pt idx="16">
                  <c:v>Calabar Marian Road</c:v>
                </c:pt>
                <c:pt idx="17">
                  <c:v>Ibadan Dugbe</c:v>
                </c:pt>
                <c:pt idx="18">
                  <c:v>Port Harcourt GRA</c:v>
                </c:pt>
                <c:pt idx="19">
                  <c:v>Ilorin Post Office</c:v>
                </c:pt>
                <c:pt idx="20">
                  <c:v>Wuse 2, Abuja</c:v>
                </c:pt>
                <c:pt idx="21">
                  <c:v>Kano Central</c:v>
                </c:pt>
                <c:pt idx="22">
                  <c:v>Maitama, Abuja</c:v>
                </c:pt>
                <c:pt idx="23">
                  <c:v>Ikeja, Lagos</c:v>
                </c:pt>
                <c:pt idx="24">
                  <c:v>Owerri Douglas Road</c:v>
                </c:pt>
              </c:strCache>
            </c:strRef>
          </c:cat>
          <c:val>
            <c:numRef>
              <c:f>Sheet3!$B$20:$B$45</c:f>
              <c:numCache>
                <c:formatCode>"₦"#,##0\ </c:formatCode>
                <c:ptCount val="25"/>
                <c:pt idx="0">
                  <c:v>1797979.6375</c:v>
                </c:pt>
                <c:pt idx="1">
                  <c:v>1738095.44</c:v>
                </c:pt>
                <c:pt idx="2">
                  <c:v>1646874.135</c:v>
                </c:pt>
                <c:pt idx="3">
                  <c:v>1644233.6575</c:v>
                </c:pt>
                <c:pt idx="4">
                  <c:v>1631603.0449999999</c:v>
                </c:pt>
                <c:pt idx="5">
                  <c:v>1625045.4075</c:v>
                </c:pt>
                <c:pt idx="6">
                  <c:v>1620898.105</c:v>
                </c:pt>
                <c:pt idx="7">
                  <c:v>1611428.68</c:v>
                </c:pt>
                <c:pt idx="8">
                  <c:v>1596233.0549999999</c:v>
                </c:pt>
                <c:pt idx="9">
                  <c:v>1586832.6950000001</c:v>
                </c:pt>
                <c:pt idx="10">
                  <c:v>1567773.0825</c:v>
                </c:pt>
                <c:pt idx="11">
                  <c:v>1558517.0349999999</c:v>
                </c:pt>
                <c:pt idx="12">
                  <c:v>1553513.59</c:v>
                </c:pt>
                <c:pt idx="13">
                  <c:v>1550325.6</c:v>
                </c:pt>
                <c:pt idx="14">
                  <c:v>1547187.915</c:v>
                </c:pt>
                <c:pt idx="15">
                  <c:v>1524077.7975000001</c:v>
                </c:pt>
                <c:pt idx="16">
                  <c:v>1516943.5525</c:v>
                </c:pt>
                <c:pt idx="17">
                  <c:v>1480651.22</c:v>
                </c:pt>
                <c:pt idx="18">
                  <c:v>1475708.7775000001</c:v>
                </c:pt>
                <c:pt idx="19">
                  <c:v>1462219.4875</c:v>
                </c:pt>
                <c:pt idx="20">
                  <c:v>1452504.4325000001</c:v>
                </c:pt>
                <c:pt idx="21">
                  <c:v>1430916.7725</c:v>
                </c:pt>
                <c:pt idx="22">
                  <c:v>1416564.8149999999</c:v>
                </c:pt>
                <c:pt idx="23">
                  <c:v>1414705.1950000001</c:v>
                </c:pt>
                <c:pt idx="24">
                  <c:v>1397914.6274999999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E6-48B2-8F0F-B298A6888B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636909944"/>
        <c:axId val="636906776"/>
      </c:barChart>
      <c:catAx>
        <c:axId val="63690994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6906776"/>
        <c:crosses val="autoZero"/>
        <c:auto val="1"/>
        <c:lblAlgn val="ctr"/>
        <c:lblOffset val="100"/>
        <c:noMultiLvlLbl val="0"/>
      </c:catAx>
      <c:valAx>
        <c:axId val="63690677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₦&quot;#,##0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69099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[Customer Transactions (Fidelity Bank).xlsx]Sheet3!PivotTable17</c:name>
    <c:fmtId val="1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baseline="0"/>
              <a:t>Transaction Value by Gender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Sheet3!$F$47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shade val="7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15C-41E1-820C-218C083531A1}"/>
              </c:ext>
            </c:extLst>
          </c:dPt>
          <c:dPt>
            <c:idx val="1"/>
            <c:bubble3D val="0"/>
            <c:spPr>
              <a:solidFill>
                <a:schemeClr val="accent1">
                  <a:tint val="77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15C-41E1-820C-218C083531A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Sheet3!$E$48:$E$50</c:f>
              <c:strCache>
                <c:ptCount val="2"/>
                <c:pt idx="0">
                  <c:v>F</c:v>
                </c:pt>
                <c:pt idx="1">
                  <c:v>M</c:v>
                </c:pt>
              </c:strCache>
            </c:strRef>
          </c:cat>
          <c:val>
            <c:numRef>
              <c:f>Sheet3!$F$48:$F$50</c:f>
              <c:numCache>
                <c:formatCode>"₦"#,##0\ </c:formatCode>
                <c:ptCount val="2"/>
                <c:pt idx="0">
                  <c:v>43235391650</c:v>
                </c:pt>
                <c:pt idx="1">
                  <c:v>112159599380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15C-41E1-820C-218C083531A1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[Customer Transactions (Fidelity Bank).xlsx]High-Value Customer Identificat!PivotTable13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baseline="0"/>
              <a:t>High-Value Customers by Gender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'High-Value Customer Identificat'!$C$4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'High-Value Customer Identificat'!$B$5:$B$7</c:f>
              <c:strCache>
                <c:ptCount val="2"/>
                <c:pt idx="0">
                  <c:v>F</c:v>
                </c:pt>
                <c:pt idx="1">
                  <c:v>M</c:v>
                </c:pt>
              </c:strCache>
            </c:strRef>
          </c:cat>
          <c:val>
            <c:numRef>
              <c:f>'High-Value Customer Identificat'!$C$5:$C$7</c:f>
              <c:numCache>
                <c:formatCode>General</c:formatCode>
                <c:ptCount val="2"/>
                <c:pt idx="0">
                  <c:v>1759</c:v>
                </c:pt>
                <c:pt idx="1">
                  <c:v>4088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EA-4ADC-B3AF-7F7C2D8D03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49856120"/>
        <c:axId val="649856840"/>
      </c:barChart>
      <c:catAx>
        <c:axId val="6498561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9856840"/>
        <c:crosses val="autoZero"/>
        <c:auto val="1"/>
        <c:lblAlgn val="ctr"/>
        <c:lblOffset val="100"/>
        <c:noMultiLvlLbl val="0"/>
      </c:catAx>
      <c:valAx>
        <c:axId val="6498568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98561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[Customer Transactions (Fidelity Bank).xlsx]High-Value Customer Identificat!PivotTable14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baseline="0"/>
              <a:t>High-Value Customers by Age Group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'High-Value Customer Identificat'!$F$4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'High-Value Customer Identificat'!$E$5:$E$11</c:f>
              <c:strCache>
                <c:ptCount val="6"/>
                <c:pt idx="0">
                  <c:v>18-24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55+</c:v>
                </c:pt>
                <c:pt idx="5">
                  <c:v>Unknown</c:v>
                </c:pt>
              </c:strCache>
            </c:strRef>
          </c:cat>
          <c:val>
            <c:numRef>
              <c:f>'High-Value Customer Identificat'!$F$5:$F$11</c:f>
              <c:numCache>
                <c:formatCode>General</c:formatCode>
                <c:ptCount val="6"/>
                <c:pt idx="0">
                  <c:v>224</c:v>
                </c:pt>
                <c:pt idx="1">
                  <c:v>1953</c:v>
                </c:pt>
                <c:pt idx="2">
                  <c:v>1505</c:v>
                </c:pt>
                <c:pt idx="3">
                  <c:v>702</c:v>
                </c:pt>
                <c:pt idx="4">
                  <c:v>425</c:v>
                </c:pt>
                <c:pt idx="5">
                  <c:v>1038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25-4DBD-A380-F226784667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649866560"/>
        <c:axId val="649867280"/>
      </c:barChart>
      <c:catAx>
        <c:axId val="6498665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9867280"/>
        <c:crosses val="autoZero"/>
        <c:auto val="1"/>
        <c:lblAlgn val="ctr"/>
        <c:lblOffset val="100"/>
        <c:noMultiLvlLbl val="0"/>
      </c:catAx>
      <c:valAx>
        <c:axId val="6498672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98665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colors1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12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13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14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394C-C876-1686-224E-E16AD8CC56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E5D1C2-E01C-C567-67DF-E85880C991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A2A71-F603-A336-2C7D-16C56CB63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D595E-48CF-4CD2-BF2A-4C289C839389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3DCBDA-15A8-E38E-141A-812C60F3A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DBB1D6-964E-012A-4331-0FE033BD9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41B21-9174-42B3-B35D-8474AE663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523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C1C86-B626-63E4-20FC-4598FBA17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BEA38-92FE-96ED-8F03-E7269618C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82E0D9-D9A6-66EA-1857-767E6AB5C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D595E-48CF-4CD2-BF2A-4C289C839389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75A7D-2106-3F2A-FC1A-7229C347A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681AD-DC0E-E9FB-3747-CA384359A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41B21-9174-42B3-B35D-8474AE663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123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14057-DB77-DB7B-3217-A970BB577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BCC5FC-E05F-2AC2-5B78-68A7BCD782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416429-F34A-32E1-6F9B-8C13D068A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D595E-48CF-4CD2-BF2A-4C289C839389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AD2BA8-3D56-EB1C-926F-F7232C50C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6C3C3-55AB-185E-DBAF-6178EB2D4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41B21-9174-42B3-B35D-8474AE663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098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6B80E-1E91-2228-33E8-E7A027856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A5EFC-C8A0-2C5A-53C1-4B4B691761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90B4-330A-AC9D-D5C6-B538095FF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88D7C5-3E8E-92E5-D7C1-53CB9143B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D595E-48CF-4CD2-BF2A-4C289C839389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BA6630-855B-863D-8F3C-F80841D4F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626FB6-721D-70B0-354A-687FF0328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41B21-9174-42B3-B35D-8474AE663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757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668E3-45BF-1FEC-E7EC-D4A26CE42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7D0F62-C936-155E-B180-AA3F316B8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F86F8-01D9-9BFC-627F-31C692F87D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2E41A4-70B2-351F-145D-042A032D40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F88106-9691-F8EB-5111-117C0E6BE1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8AA798-3CDA-3754-E505-2CBA0D093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D595E-48CF-4CD2-BF2A-4C289C839389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8A027E-B77F-9EBF-906F-B41E5253C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C89EEB-6B83-8C49-A719-F72BB003D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41B21-9174-42B3-B35D-8474AE663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035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8FE72-8BBD-C179-C10E-707F5ABF3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329B6C-3269-D817-C2C8-13C310380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D595E-48CF-4CD2-BF2A-4C289C839389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6BB066-3122-4A30-5BB4-3326E6031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E811D1-3A47-F31A-01D0-B0BCA6727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41B21-9174-42B3-B35D-8474AE663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859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7EB23D-CAA7-42EC-2538-4A1D5AC6B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D595E-48CF-4CD2-BF2A-4C289C839389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2ECB88-3AC4-4C5F-0B0E-E900E3C38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F54017-24D8-74A5-0FDC-09755F238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41B21-9174-42B3-B35D-8474AE663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889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E76F6-F1D7-1143-264F-C74D3FCB2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94FD7-C22A-7583-3890-21872CD77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930FC-FB90-CF34-28C1-36F0F101C4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B3CC1E-9C40-8CF4-E220-55770FC29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D595E-48CF-4CD2-BF2A-4C289C839389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D59020-8775-0A7C-90DE-11EDBAD45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800069-4ED3-51A4-558A-0379E6620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41B21-9174-42B3-B35D-8474AE663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734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06A2A-9826-F63E-0D7C-9A62EF67C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4706EF-DFD2-08EE-7D01-6A49E112FD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5FB31C-41D6-D11D-1D4A-051CA23A31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F3C06-CA9A-0AF7-E830-4443F6726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D595E-48CF-4CD2-BF2A-4C289C839389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9404AE-73D1-AAA5-E95B-5CA3826C7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C17E43-5E09-0B33-AB12-A1969421D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41B21-9174-42B3-B35D-8474AE663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728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AAB18-5168-3164-5F93-B5B43850D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C44AC1-DBC0-53B6-8107-B4C204F08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1E70E-1C30-4138-BAF6-E5398AC5A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D595E-48CF-4CD2-BF2A-4C289C839389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5B0A4-E43B-4C10-BB49-B26C67AF2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8987E-6C73-E8AD-A685-43CE04304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41B21-9174-42B3-B35D-8474AE663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197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97FC52-1C5B-BB19-34AF-AD30C23975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EEE016-0157-CF89-E0FA-4AA45E7485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25FDD-A722-2CAA-F97E-4D20BBF13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D595E-48CF-4CD2-BF2A-4C289C839389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D63C4-4903-E050-756E-47935E579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ACA4C-C221-AD25-7726-3D8B57CB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41B21-9174-42B3-B35D-8474AE663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195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E339B1-FFB0-D90E-2C21-ADECAD65F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93EAA4-C513-4FC3-5962-70E6ADAAA9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28DF8-B0BB-A7B0-258E-A584B90271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8D595E-48CF-4CD2-BF2A-4C289C839389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BA2BB-1DAD-DCC4-D5A9-463677D184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BACEE-CEF4-080A-C77C-FBAF5CD9A8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C41B21-9174-42B3-B35D-8474AE663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342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6.xml"/><Relationship Id="rId3" Type="http://schemas.openxmlformats.org/officeDocument/2006/relationships/chart" Target="../charts/chart11.xml"/><Relationship Id="rId7" Type="http://schemas.openxmlformats.org/officeDocument/2006/relationships/chart" Target="../charts/chart15.xml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14.xml"/><Relationship Id="rId5" Type="http://schemas.openxmlformats.org/officeDocument/2006/relationships/chart" Target="../charts/chart13.xml"/><Relationship Id="rId4" Type="http://schemas.openxmlformats.org/officeDocument/2006/relationships/chart" Target="../charts/char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Fidelity Bank Logo PNG Vector (SVG) Free Download">
            <a:extLst>
              <a:ext uri="{FF2B5EF4-FFF2-40B4-BE49-F238E27FC236}">
                <a16:creationId xmlns:a16="http://schemas.microsoft.com/office/drawing/2014/main" id="{127EF0E8-5073-AC82-2BAF-48C532612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9860" y="1146496"/>
            <a:ext cx="2626222" cy="31099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1BE48E1-F2FB-0F25-AE38-0546BB675588}"/>
              </a:ext>
            </a:extLst>
          </p:cNvPr>
          <p:cNvSpPr txBox="1"/>
          <p:nvPr/>
        </p:nvSpPr>
        <p:spPr>
          <a:xfrm>
            <a:off x="3200399" y="4125433"/>
            <a:ext cx="48590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lbertus" panose="020E0702040304020204" pitchFamily="34" charset="0"/>
              </a:rPr>
              <a:t>Customer Transactions</a:t>
            </a:r>
          </a:p>
        </p:txBody>
      </p:sp>
    </p:spTree>
    <p:extLst>
      <p:ext uri="{BB962C8B-B14F-4D97-AF65-F5344CB8AC3E}">
        <p14:creationId xmlns:p14="http://schemas.microsoft.com/office/powerpoint/2010/main" val="1902206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idelity Bank Logo PNG Vector (SVG) Free Download">
            <a:extLst>
              <a:ext uri="{FF2B5EF4-FFF2-40B4-BE49-F238E27FC236}">
                <a16:creationId xmlns:a16="http://schemas.microsoft.com/office/drawing/2014/main" id="{0D12DC27-A8A1-3DFF-F974-03432FDEB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8102" y="6031181"/>
            <a:ext cx="698203" cy="826819"/>
          </a:xfrm>
          <a:prstGeom prst="rect">
            <a:avLst/>
          </a:prstGeom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4DD3C815-E229-D1ED-9444-CD8E4B2E7B6F}"/>
              </a:ext>
            </a:extLst>
          </p:cNvPr>
          <p:cNvSpPr txBox="1"/>
          <p:nvPr/>
        </p:nvSpPr>
        <p:spPr>
          <a:xfrm>
            <a:off x="0" y="0"/>
            <a:ext cx="12192000" cy="520700"/>
          </a:xfrm>
          <a:prstGeom prst="rect">
            <a:avLst/>
          </a:prstGeom>
          <a:solidFill>
            <a:srgbClr val="12247D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>
                <a:solidFill>
                  <a:srgbClr val="4FC247"/>
                </a:solidFill>
              </a:rPr>
              <a:t>TABLE OF CONTENT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41C3DE-3232-3139-56BF-A90C5D65E7B4}"/>
              </a:ext>
            </a:extLst>
          </p:cNvPr>
          <p:cNvSpPr txBox="1"/>
          <p:nvPr/>
        </p:nvSpPr>
        <p:spPr>
          <a:xfrm>
            <a:off x="595423" y="737437"/>
            <a:ext cx="6103088" cy="3359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PROJECT OVERVIEW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DATA CLEANING &amp; PREPARATION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ANALYSIS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KEY FINDINGS &amp; VISUALIZATIONS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DASHBOARD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INSIGHT &amp; RECOMMENDATION</a:t>
            </a:r>
          </a:p>
        </p:txBody>
      </p:sp>
    </p:spTree>
    <p:extLst>
      <p:ext uri="{BB962C8B-B14F-4D97-AF65-F5344CB8AC3E}">
        <p14:creationId xmlns:p14="http://schemas.microsoft.com/office/powerpoint/2010/main" val="147691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idelity Bank Logo PNG Vector (SVG) Free Download">
            <a:extLst>
              <a:ext uri="{FF2B5EF4-FFF2-40B4-BE49-F238E27FC236}">
                <a16:creationId xmlns:a16="http://schemas.microsoft.com/office/drawing/2014/main" id="{FCB23B89-6A40-77DF-39C6-C788D4B09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8102" y="6031181"/>
            <a:ext cx="698203" cy="826819"/>
          </a:xfrm>
          <a:prstGeom prst="rect">
            <a:avLst/>
          </a:prstGeom>
        </p:spPr>
      </p:pic>
      <p:sp>
        <p:nvSpPr>
          <p:cNvPr id="5" name="TextBox 13">
            <a:extLst>
              <a:ext uri="{FF2B5EF4-FFF2-40B4-BE49-F238E27FC236}">
                <a16:creationId xmlns:a16="http://schemas.microsoft.com/office/drawing/2014/main" id="{FBA197D7-B6B0-13A3-A7F4-22868477B667}"/>
              </a:ext>
            </a:extLst>
          </p:cNvPr>
          <p:cNvSpPr txBox="1"/>
          <p:nvPr/>
        </p:nvSpPr>
        <p:spPr>
          <a:xfrm>
            <a:off x="0" y="0"/>
            <a:ext cx="12192000" cy="754528"/>
          </a:xfrm>
          <a:prstGeom prst="rect">
            <a:avLst/>
          </a:prstGeom>
          <a:solidFill>
            <a:srgbClr val="12247D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rgbClr val="4FC247"/>
                </a:solidFill>
              </a:rPr>
              <a:t>PROJECT 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CD516C-C5D0-0A23-DC79-302A8050D453}"/>
              </a:ext>
            </a:extLst>
          </p:cNvPr>
          <p:cNvSpPr txBox="1"/>
          <p:nvPr/>
        </p:nvSpPr>
        <p:spPr>
          <a:xfrm>
            <a:off x="170121" y="812279"/>
            <a:ext cx="1122798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Project Background:</a:t>
            </a:r>
            <a:br>
              <a:rPr lang="en-US" dirty="0"/>
            </a:br>
            <a:r>
              <a:rPr lang="en-US" dirty="0"/>
              <a:t>This project analyzed a transactional dataset representing customer activity at </a:t>
            </a:r>
            <a:r>
              <a:rPr lang="en-US" b="1" dirty="0"/>
              <a:t>Fidelity Bank Nigeria</a:t>
            </a:r>
            <a:r>
              <a:rPr lang="en-US" dirty="0"/>
              <a:t>. The dataset combines demographic and financial information, including </a:t>
            </a:r>
            <a:r>
              <a:rPr lang="en-US" b="1" dirty="0"/>
              <a:t>customer date of birth, gender, location, account balance, transaction amount, transaction date, and transaction time</a:t>
            </a:r>
            <a:r>
              <a:rPr lang="en-US" dirty="0"/>
              <a:t>, providing insights into customer spending behavior and transaction patterns.</a:t>
            </a:r>
          </a:p>
          <a:p>
            <a:endParaRPr lang="en-US" dirty="0"/>
          </a:p>
          <a:p>
            <a:r>
              <a:rPr lang="en-US" b="1" dirty="0"/>
              <a:t>Objective:</a:t>
            </a:r>
            <a:br>
              <a:rPr lang="en-US" dirty="0"/>
            </a:br>
            <a:r>
              <a:rPr lang="en-US" dirty="0"/>
              <a:t>To analyze customer transaction behavior and identify patterns across </a:t>
            </a:r>
            <a:r>
              <a:rPr lang="en-US" b="1" dirty="0"/>
              <a:t>demographics, locations, customer value, and time</a:t>
            </a:r>
            <a:r>
              <a:rPr lang="en-US" dirty="0"/>
              <a:t>, while generating insights that can support customer segmentation, targeted marketing, operational planning, and branch-level decision-making.</a:t>
            </a:r>
          </a:p>
          <a:p>
            <a:endParaRPr lang="en-US" dirty="0"/>
          </a:p>
          <a:p>
            <a:r>
              <a:rPr lang="en-US" b="1" dirty="0"/>
              <a:t>Key Analytical Tasks:</a:t>
            </a:r>
            <a:br>
              <a:rPr lang="en-US" dirty="0"/>
            </a:br>
            <a:r>
              <a:rPr lang="en-US" dirty="0"/>
              <a:t>Data cleaning and validation; customer age derivation and age-group segmentation; demographic and geographic spending analysis; city-level transaction performance; high-value customer identification and profiling; hourly and monthly transaction trend analysis; location-based spending comparison; dashboard development; and generation of business insights and strategic recommendations.</a:t>
            </a:r>
          </a:p>
          <a:p>
            <a:endParaRPr lang="en-US" dirty="0"/>
          </a:p>
          <a:p>
            <a:r>
              <a:rPr lang="en-US" b="1" dirty="0"/>
              <a:t>Key Variables:</a:t>
            </a:r>
            <a:br>
              <a:rPr lang="en-US" dirty="0"/>
            </a:br>
            <a:r>
              <a:rPr lang="en-US" dirty="0"/>
              <a:t>Customer ID, date of birth, age, age group, gender, customer location, account balance, transaction amount, transaction date, transaction time, transaction hour, month, and high-value customer 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4248274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idelity Bank Logo PNG Vector (SVG) Free Download">
            <a:extLst>
              <a:ext uri="{FF2B5EF4-FFF2-40B4-BE49-F238E27FC236}">
                <a16:creationId xmlns:a16="http://schemas.microsoft.com/office/drawing/2014/main" id="{CD9DC634-7478-4B7A-D93D-CA83F9C213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8102" y="6031181"/>
            <a:ext cx="698203" cy="8268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770415-C1B4-1D14-C7D7-D51A53AB7FF9}"/>
              </a:ext>
            </a:extLst>
          </p:cNvPr>
          <p:cNvSpPr txBox="1"/>
          <p:nvPr/>
        </p:nvSpPr>
        <p:spPr>
          <a:xfrm>
            <a:off x="95695" y="950502"/>
            <a:ext cx="1200061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cleaned Fidelity Bank transaction dataset was analyzed using </a:t>
            </a:r>
            <a:r>
              <a:rPr lang="en-US" b="1" dirty="0"/>
              <a:t>Microsoft Excel, PivotTables, calculated fields, </a:t>
            </a:r>
            <a:r>
              <a:rPr lang="en-US" b="1" dirty="0" err="1"/>
              <a:t>PivotCharts</a:t>
            </a:r>
            <a:r>
              <a:rPr lang="en-US" b="1" dirty="0"/>
              <a:t>, and dashboard visualizations</a:t>
            </a:r>
            <a:r>
              <a:rPr lang="en-US" dirty="0"/>
              <a:t> to examine customer spending behavior across demographic, geographic, financial, and temporal dimensions.</a:t>
            </a:r>
          </a:p>
          <a:p>
            <a:r>
              <a:rPr lang="en-US" dirty="0"/>
              <a:t>Customer age was derived from the </a:t>
            </a:r>
            <a:r>
              <a:rPr lang="en-US" b="1" dirty="0"/>
              <a:t>date-of-birth field</a:t>
            </a:r>
            <a:r>
              <a:rPr lang="en-US" dirty="0"/>
              <a:t> and grouped into age categories to compare average transaction values across different age segments. Spending behavior was also analyzed by </a:t>
            </a:r>
            <a:r>
              <a:rPr lang="en-US" b="1" dirty="0"/>
              <a:t>gender and customer location</a:t>
            </a:r>
            <a:r>
              <a:rPr lang="en-US" dirty="0"/>
              <a:t> to identify demographic and geographic differences in transaction activity. City-level performance was assessed using </a:t>
            </a:r>
            <a:r>
              <a:rPr lang="en-US" b="1" dirty="0"/>
              <a:t>transaction volume, total transaction value, and average transaction amount</a:t>
            </a:r>
            <a:r>
              <a:rPr lang="en-US" dirty="0"/>
              <a:t> to identify locations generating the highest financial activity.</a:t>
            </a:r>
          </a:p>
          <a:p>
            <a:endParaRPr lang="en-US" dirty="0"/>
          </a:p>
          <a:p>
            <a:r>
              <a:rPr lang="en-US" dirty="0"/>
              <a:t>Customers were further segmented using </a:t>
            </a:r>
            <a:r>
              <a:rPr lang="en-US" b="1" dirty="0"/>
              <a:t>account balance and transaction value</a:t>
            </a:r>
            <a:r>
              <a:rPr lang="en-US" dirty="0"/>
              <a:t> to identify high-value customers. These customers were profiled by </a:t>
            </a:r>
            <a:r>
              <a:rPr lang="en-US" b="1" dirty="0"/>
              <a:t>age, gender, and location</a:t>
            </a:r>
            <a:r>
              <a:rPr lang="en-US" dirty="0"/>
              <a:t> to understand the characteristics and geographic concentration of the bank's most valuable customer segments.</a:t>
            </a:r>
          </a:p>
          <a:p>
            <a:r>
              <a:rPr lang="en-US" dirty="0"/>
              <a:t>Transaction activity was also analyzed across </a:t>
            </a:r>
            <a:r>
              <a:rPr lang="en-US" b="1" dirty="0"/>
              <a:t>hourly and monthly periods</a:t>
            </a:r>
            <a:r>
              <a:rPr lang="en-US" dirty="0"/>
              <a:t> to identify peak transaction times, changes in financial activity, and unusual fluctuations. This analysis highlighted periods of high system usage that could influence operational planning and service capacity.</a:t>
            </a:r>
          </a:p>
          <a:p>
            <a:endParaRPr lang="en-US" dirty="0"/>
          </a:p>
          <a:p>
            <a:r>
              <a:rPr lang="en-US" dirty="0"/>
              <a:t>Finally, the findings were consolidated into an </a:t>
            </a:r>
            <a:r>
              <a:rPr lang="en-US" b="1" dirty="0"/>
              <a:t>interactive Excel dashboard</a:t>
            </a:r>
            <a:r>
              <a:rPr lang="en-US" dirty="0"/>
              <a:t> using KPIs, </a:t>
            </a:r>
            <a:r>
              <a:rPr lang="en-US" dirty="0" err="1"/>
              <a:t>PivotCharts</a:t>
            </a:r>
            <a:r>
              <a:rPr lang="en-US" dirty="0"/>
              <a:t>, and slicers. The dashboard summarized transaction behavior by customer demographics, location, customer value, and time, supporting recommendations related to </a:t>
            </a:r>
            <a:r>
              <a:rPr lang="en-US" b="1" dirty="0"/>
              <a:t>customer segmentation, targeted marketing, high-value customer retention, branch-level strategies, and operational planning</a:t>
            </a:r>
            <a:r>
              <a:rPr lang="en-US" dirty="0"/>
              <a:t>.</a:t>
            </a:r>
          </a:p>
        </p:txBody>
      </p:sp>
      <p:sp>
        <p:nvSpPr>
          <p:cNvPr id="4" name="TextBox 13">
            <a:extLst>
              <a:ext uri="{FF2B5EF4-FFF2-40B4-BE49-F238E27FC236}">
                <a16:creationId xmlns:a16="http://schemas.microsoft.com/office/drawing/2014/main" id="{D3DE2A74-3F59-C615-6FB3-5711207E70AA}"/>
              </a:ext>
            </a:extLst>
          </p:cNvPr>
          <p:cNvSpPr txBox="1"/>
          <p:nvPr/>
        </p:nvSpPr>
        <p:spPr>
          <a:xfrm>
            <a:off x="0" y="0"/>
            <a:ext cx="12192000" cy="669851"/>
          </a:xfrm>
          <a:prstGeom prst="rect">
            <a:avLst/>
          </a:prstGeom>
          <a:solidFill>
            <a:srgbClr val="12247D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rgbClr val="4FC247"/>
                </a:solidFill>
              </a:rPr>
              <a:t>PROJECT OVERVIEW</a:t>
            </a:r>
          </a:p>
        </p:txBody>
      </p:sp>
    </p:spTree>
    <p:extLst>
      <p:ext uri="{BB962C8B-B14F-4D97-AF65-F5344CB8AC3E}">
        <p14:creationId xmlns:p14="http://schemas.microsoft.com/office/powerpoint/2010/main" val="544659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idelity Bank Logo PNG Vector (SVG) Free Download">
            <a:extLst>
              <a:ext uri="{FF2B5EF4-FFF2-40B4-BE49-F238E27FC236}">
                <a16:creationId xmlns:a16="http://schemas.microsoft.com/office/drawing/2014/main" id="{0F74C15E-9267-F4FB-CF4F-E494EA3D1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8102" y="6031181"/>
            <a:ext cx="698203" cy="826819"/>
          </a:xfrm>
          <a:prstGeom prst="rect">
            <a:avLst/>
          </a:prstGeom>
        </p:spPr>
      </p:pic>
      <p:sp>
        <p:nvSpPr>
          <p:cNvPr id="5" name="TextBox 13">
            <a:extLst>
              <a:ext uri="{FF2B5EF4-FFF2-40B4-BE49-F238E27FC236}">
                <a16:creationId xmlns:a16="http://schemas.microsoft.com/office/drawing/2014/main" id="{0F0EAAD2-751D-05EB-F7CD-E8700D2BFB4E}"/>
              </a:ext>
            </a:extLst>
          </p:cNvPr>
          <p:cNvSpPr txBox="1"/>
          <p:nvPr/>
        </p:nvSpPr>
        <p:spPr>
          <a:xfrm>
            <a:off x="0" y="0"/>
            <a:ext cx="12192000" cy="754528"/>
          </a:xfrm>
          <a:prstGeom prst="rect">
            <a:avLst/>
          </a:prstGeom>
          <a:solidFill>
            <a:srgbClr val="12247D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rgbClr val="4FC247"/>
                </a:solidFill>
              </a:rPr>
              <a:t>AGE DERIVATION AND SPENDING BEHAVIOR ANALYSIS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63553B81-7ED9-72E5-7130-7C80A55092F5}"/>
              </a:ext>
            </a:extLst>
          </p:cNvPr>
          <p:cNvSpPr txBox="1"/>
          <p:nvPr/>
        </p:nvSpPr>
        <p:spPr>
          <a:xfrm>
            <a:off x="5760623" y="1202468"/>
            <a:ext cx="6050828" cy="4828713"/>
          </a:xfrm>
          <a:prstGeom prst="rect">
            <a:avLst/>
          </a:prstGeom>
          <a:solidFill>
            <a:schemeClr val="bg1"/>
          </a:solidFill>
          <a:ln w="25400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 dirty="0"/>
          </a:p>
          <a:p>
            <a:r>
              <a:rPr lang="en-US" sz="1600" dirty="0"/>
              <a:t>Customer age was derived from the </a:t>
            </a:r>
            <a:r>
              <a:rPr lang="en-US" sz="1600" b="1" dirty="0"/>
              <a:t>Customer Date of Birth</a:t>
            </a:r>
            <a:r>
              <a:rPr lang="en-US" sz="1600" dirty="0"/>
              <a:t> field and grouped into six categories: </a:t>
            </a:r>
            <a:r>
              <a:rPr lang="en-US" sz="1600" b="1" dirty="0"/>
              <a:t>18–24, 25–34, 35–44, 45–54, 55+,</a:t>
            </a:r>
            <a:r>
              <a:rPr lang="en-US" sz="1600" dirty="0"/>
              <a:t> and </a:t>
            </a:r>
            <a:r>
              <a:rPr lang="en-US" sz="1600" b="1" dirty="0"/>
              <a:t>Unknown</a:t>
            </a:r>
            <a:r>
              <a:rPr lang="en-US" sz="1600" dirty="0"/>
              <a:t> (for records with missing or invalid dates of birth).</a:t>
            </a:r>
          </a:p>
          <a:p>
            <a:r>
              <a:rPr lang="en-US" sz="1600" dirty="0"/>
              <a:t>The analysis showed a clear relationship between age and spending behavior. Customers in the </a:t>
            </a:r>
            <a:r>
              <a:rPr lang="en-US" sz="1600" b="1" dirty="0"/>
              <a:t>55+</a:t>
            </a:r>
            <a:r>
              <a:rPr lang="en-US" sz="1600" dirty="0"/>
              <a:t> age group recorded the highest average transaction amount of </a:t>
            </a:r>
            <a:r>
              <a:rPr lang="en-US" sz="1600" b="1" dirty="0"/>
              <a:t>₦3,354,431</a:t>
            </a:r>
            <a:r>
              <a:rPr lang="en-US" sz="1600" dirty="0"/>
              <a:t>, followed by those aged </a:t>
            </a:r>
            <a:r>
              <a:rPr lang="en-US" sz="1600" b="1" dirty="0"/>
              <a:t>45–54</a:t>
            </a:r>
            <a:r>
              <a:rPr lang="en-US" sz="1600" dirty="0"/>
              <a:t> with an average of </a:t>
            </a:r>
            <a:r>
              <a:rPr lang="en-US" sz="1600" b="1" dirty="0"/>
              <a:t>₦2,673,215</a:t>
            </a:r>
            <a:r>
              <a:rPr lang="en-US" sz="1600" dirty="0"/>
              <a:t>. In contrast, customers aged </a:t>
            </a:r>
            <a:r>
              <a:rPr lang="en-US" sz="1600" b="1" dirty="0"/>
              <a:t>18–24</a:t>
            </a:r>
            <a:r>
              <a:rPr lang="en-US" sz="1600" dirty="0"/>
              <a:t> recorded the lowest average transaction amount of </a:t>
            </a:r>
            <a:r>
              <a:rPr lang="en-US" sz="1600" b="1" dirty="0"/>
              <a:t>₦801,762</a:t>
            </a:r>
            <a:r>
              <a:rPr lang="en-US" sz="1600" dirty="0"/>
              <a:t>.</a:t>
            </a:r>
          </a:p>
          <a:p>
            <a:r>
              <a:rPr lang="en-US" sz="1600" dirty="0"/>
              <a:t>Although the </a:t>
            </a:r>
            <a:r>
              <a:rPr lang="en-US" sz="1600" b="1" dirty="0"/>
              <a:t>25–34</a:t>
            </a:r>
            <a:r>
              <a:rPr lang="en-US" sz="1600" dirty="0"/>
              <a:t> age group had the largest number of transactions (</a:t>
            </a:r>
            <a:r>
              <a:rPr lang="en-US" sz="1600" b="1" dirty="0"/>
              <a:t>51,730</a:t>
            </a:r>
            <a:r>
              <a:rPr lang="en-US" sz="1600" dirty="0"/>
              <a:t>), their average transaction amount (</a:t>
            </a:r>
            <a:r>
              <a:rPr lang="en-US" sz="1600" b="1" dirty="0"/>
              <a:t>₦1,244,760</a:t>
            </a:r>
            <a:r>
              <a:rPr lang="en-US" sz="1600" dirty="0"/>
              <a:t>) was considerably lower than that of older customers. This indicates that younger adults transact more frequently but tend to spend less per transaction, whereas older customers make fewer but higher-value transactions.</a:t>
            </a:r>
          </a:p>
          <a:p>
            <a:r>
              <a:rPr lang="en-US" sz="1600" dirty="0"/>
              <a:t>The </a:t>
            </a:r>
            <a:r>
              <a:rPr lang="en-US" sz="1600" b="1" dirty="0"/>
              <a:t>Unknown</a:t>
            </a:r>
            <a:r>
              <a:rPr lang="en-US" sz="1600" dirty="0"/>
              <a:t> age category recorded the highest average transaction value (</a:t>
            </a:r>
            <a:r>
              <a:rPr lang="en-US" sz="1600" b="1" dirty="0"/>
              <a:t>₦3,563,687</a:t>
            </a:r>
            <a:r>
              <a:rPr lang="en-US" sz="1600" dirty="0"/>
              <a:t>). However, this result should be interpreted with caution because it represents customers with missing or invalid dates of birth rather than a genuine age group.</a:t>
            </a:r>
          </a:p>
          <a:p>
            <a:endParaRPr lang="en-US" sz="1600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100BA4D6-6E31-C011-0DA2-1168078E96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52637664"/>
              </p:ext>
            </p:extLst>
          </p:nvPr>
        </p:nvGraphicFramePr>
        <p:xfrm>
          <a:off x="380549" y="1202468"/>
          <a:ext cx="5137748" cy="42945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069151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1">
            <a:extLst>
              <a:ext uri="{FF2B5EF4-FFF2-40B4-BE49-F238E27FC236}">
                <a16:creationId xmlns:a16="http://schemas.microsoft.com/office/drawing/2014/main" id="{D77513AD-2BA4-C802-62B6-1DDA677361FA}"/>
              </a:ext>
            </a:extLst>
          </p:cNvPr>
          <p:cNvSpPr txBox="1"/>
          <p:nvPr/>
        </p:nvSpPr>
        <p:spPr>
          <a:xfrm>
            <a:off x="4108089" y="3429001"/>
            <a:ext cx="7988216" cy="3088758"/>
          </a:xfrm>
          <a:prstGeom prst="rect">
            <a:avLst/>
          </a:prstGeom>
          <a:solidFill>
            <a:schemeClr val="bg1"/>
          </a:solidFill>
          <a:ln w="25400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dirty="0"/>
              <a:t>Average transaction amounts were compared across </a:t>
            </a:r>
            <a:r>
              <a:rPr lang="en-US" sz="1500" b="1" dirty="0"/>
              <a:t>gender, age groups, and customer locations</a:t>
            </a:r>
            <a:r>
              <a:rPr lang="en-US" sz="1500" dirty="0"/>
              <a:t> to identify differences in customer spending behavior.</a:t>
            </a:r>
          </a:p>
          <a:p>
            <a:r>
              <a:rPr lang="en-US" sz="1500" dirty="0"/>
              <a:t>Female customers recorded a slightly higher average transaction amount (</a:t>
            </a:r>
            <a:r>
              <a:rPr lang="en-US" sz="1500" b="1" dirty="0"/>
              <a:t>₦1,580,241</a:t>
            </a:r>
            <a:r>
              <a:rPr lang="en-US" sz="1500" dirty="0"/>
              <a:t>) than male customers (</a:t>
            </a:r>
            <a:r>
              <a:rPr lang="en-US" sz="1500" b="1" dirty="0"/>
              <a:t>₦1,544,047</a:t>
            </a:r>
            <a:r>
              <a:rPr lang="en-US" sz="1500" dirty="0"/>
              <a:t>). However, male customers completed a significantly higher number of transactions, resulting in a greater overall transaction value.</a:t>
            </a:r>
          </a:p>
          <a:p>
            <a:r>
              <a:rPr lang="en-US" sz="1500" dirty="0"/>
              <a:t>Spending patterns also varied across age groups. Customers aged </a:t>
            </a:r>
            <a:r>
              <a:rPr lang="en-US" sz="1500" b="1" dirty="0"/>
              <a:t>55 years and above</a:t>
            </a:r>
            <a:r>
              <a:rPr lang="en-US" sz="1500" dirty="0"/>
              <a:t> recorded the highest average transaction amount (</a:t>
            </a:r>
            <a:r>
              <a:rPr lang="en-US" sz="1500" b="1" dirty="0"/>
              <a:t>₦3,354,431</a:t>
            </a:r>
            <a:r>
              <a:rPr lang="en-US" sz="1500" dirty="0"/>
              <a:t>), while the </a:t>
            </a:r>
            <a:r>
              <a:rPr lang="en-US" sz="1500" b="1" dirty="0"/>
              <a:t>18–24</a:t>
            </a:r>
            <a:r>
              <a:rPr lang="en-US" sz="1500" dirty="0"/>
              <a:t> age group recorded the lowest (</a:t>
            </a:r>
            <a:r>
              <a:rPr lang="en-US" sz="1500" b="1" dirty="0"/>
              <a:t>₦801,762</a:t>
            </a:r>
            <a:r>
              <a:rPr lang="en-US" sz="1500" dirty="0"/>
              <a:t>). Although customers aged </a:t>
            </a:r>
            <a:r>
              <a:rPr lang="en-US" sz="1500" b="1" dirty="0"/>
              <a:t>25–34</a:t>
            </a:r>
            <a:r>
              <a:rPr lang="en-US" sz="1500" dirty="0"/>
              <a:t> accounted for the highest transaction volume, older customers spent considerably more per transaction.</a:t>
            </a:r>
          </a:p>
          <a:p>
            <a:r>
              <a:rPr lang="en-US" sz="1500" dirty="0"/>
              <a:t>Geographically, transaction values differed across customer locations. </a:t>
            </a:r>
            <a:r>
              <a:rPr lang="en-US" sz="1500" b="1" dirty="0"/>
              <a:t>Kaduna Central</a:t>
            </a:r>
            <a:r>
              <a:rPr lang="en-US" sz="1500" dirty="0"/>
              <a:t> recorded the highest average transaction amount (</a:t>
            </a:r>
            <a:r>
              <a:rPr lang="en-US" sz="1500" b="1" dirty="0"/>
              <a:t>₦1,797,980</a:t>
            </a:r>
            <a:r>
              <a:rPr lang="en-US" sz="1500" dirty="0"/>
              <a:t>), while </a:t>
            </a:r>
            <a:r>
              <a:rPr lang="en-US" sz="1500" b="1" dirty="0"/>
              <a:t>Ikorodu, Lagos</a:t>
            </a:r>
            <a:r>
              <a:rPr lang="en-US" sz="1500" dirty="0"/>
              <a:t> recorded the lowest (</a:t>
            </a:r>
            <a:r>
              <a:rPr lang="en-US" sz="1500" b="1" dirty="0"/>
              <a:t>₦1,155,817</a:t>
            </a:r>
            <a:r>
              <a:rPr lang="en-US" sz="1500" dirty="0"/>
              <a:t>). These variations may reflect differences in income levels, business activity, customer concentration, and regional economic conditions.</a:t>
            </a:r>
          </a:p>
          <a:p>
            <a:endParaRPr lang="en-US" sz="1500" dirty="0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ADD7521A-C6C5-A7D7-0CC8-500AC805F7E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04318306"/>
              </p:ext>
            </p:extLst>
          </p:nvPr>
        </p:nvGraphicFramePr>
        <p:xfrm>
          <a:off x="7799177" y="888252"/>
          <a:ext cx="4297127" cy="2386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CE3A4394-A96D-59B1-D84A-A49C3769936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9581021"/>
              </p:ext>
            </p:extLst>
          </p:nvPr>
        </p:nvGraphicFramePr>
        <p:xfrm>
          <a:off x="4108089" y="888252"/>
          <a:ext cx="3547354" cy="2386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39FB7098-D91A-B0CB-743A-E72CBCF7455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02322568"/>
              </p:ext>
            </p:extLst>
          </p:nvPr>
        </p:nvGraphicFramePr>
        <p:xfrm>
          <a:off x="95695" y="824614"/>
          <a:ext cx="3868659" cy="58101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Box 13">
            <a:extLst>
              <a:ext uri="{FF2B5EF4-FFF2-40B4-BE49-F238E27FC236}">
                <a16:creationId xmlns:a16="http://schemas.microsoft.com/office/drawing/2014/main" id="{2C0D58EA-7C28-A1AD-DBA3-EB9CDAAE79C5}"/>
              </a:ext>
            </a:extLst>
          </p:cNvPr>
          <p:cNvSpPr txBox="1"/>
          <p:nvPr/>
        </p:nvSpPr>
        <p:spPr>
          <a:xfrm>
            <a:off x="0" y="1"/>
            <a:ext cx="12192000" cy="665182"/>
          </a:xfrm>
          <a:prstGeom prst="rect">
            <a:avLst/>
          </a:prstGeom>
          <a:solidFill>
            <a:srgbClr val="12247D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rgbClr val="4FC247"/>
                </a:solidFill>
              </a:rPr>
              <a:t>KEY FINDINGS &amp; VISUALIZATIONS</a:t>
            </a:r>
          </a:p>
        </p:txBody>
      </p:sp>
      <p:pic>
        <p:nvPicPr>
          <p:cNvPr id="3" name="Picture 2" descr="Fidelity Bank Logo PNG Vector (SVG) Free Download">
            <a:extLst>
              <a:ext uri="{FF2B5EF4-FFF2-40B4-BE49-F238E27FC236}">
                <a16:creationId xmlns:a16="http://schemas.microsoft.com/office/drawing/2014/main" id="{523083B5-FBFD-4739-2789-9E036362CE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20439" y="6294474"/>
            <a:ext cx="475866" cy="563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695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idelity Bank Logo PNG Vector (SVG) Free Download">
            <a:extLst>
              <a:ext uri="{FF2B5EF4-FFF2-40B4-BE49-F238E27FC236}">
                <a16:creationId xmlns:a16="http://schemas.microsoft.com/office/drawing/2014/main" id="{737C3729-93A5-8C10-BA9C-946299E9A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8102" y="6031181"/>
            <a:ext cx="698203" cy="826819"/>
          </a:xfrm>
          <a:prstGeom prst="rect">
            <a:avLst/>
          </a:prstGeom>
        </p:spPr>
      </p:pic>
      <p:sp>
        <p:nvSpPr>
          <p:cNvPr id="9" name="TextBox 1">
            <a:extLst>
              <a:ext uri="{FF2B5EF4-FFF2-40B4-BE49-F238E27FC236}">
                <a16:creationId xmlns:a16="http://schemas.microsoft.com/office/drawing/2014/main" id="{9E080F07-22E8-2A1A-8358-0FD24648EC72}"/>
              </a:ext>
            </a:extLst>
          </p:cNvPr>
          <p:cNvSpPr txBox="1"/>
          <p:nvPr/>
        </p:nvSpPr>
        <p:spPr>
          <a:xfrm>
            <a:off x="4379442" y="3428999"/>
            <a:ext cx="7582186" cy="2376377"/>
          </a:xfrm>
          <a:prstGeom prst="rect">
            <a:avLst/>
          </a:prstGeom>
          <a:solidFill>
            <a:schemeClr val="bg1"/>
          </a:solidFill>
          <a:ln w="25400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The analysis identified </a:t>
            </a:r>
            <a:r>
              <a:rPr lang="en-US" sz="1800" b="1" dirty="0"/>
              <a:t>5,847 high-value customers</a:t>
            </a:r>
            <a:r>
              <a:rPr lang="en-US" sz="1800" dirty="0"/>
              <a:t>. Male customers represented the majority of this segment, while customers aged </a:t>
            </a:r>
            <a:r>
              <a:rPr lang="en-US" sz="1800" b="1" dirty="0"/>
              <a:t>25–34 and 35–44</a:t>
            </a:r>
            <a:r>
              <a:rPr lang="en-US" sz="1800" dirty="0"/>
              <a:t> accounted for the largest share among known age groups. High-value customers were distributed relatively evenly across locations, with some areas showing slightly higher concentrations. These findings can support </a:t>
            </a:r>
            <a:r>
              <a:rPr lang="en-US" sz="1800" b="1" dirty="0"/>
              <a:t>targeted loyalty programs, personalized offers, and customer retention strategies</a:t>
            </a:r>
            <a:r>
              <a:rPr lang="en-US" sz="1800" dirty="0"/>
              <a:t> focused on valuable customer segments.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CDB2DEEF-AF07-0639-8AAD-E8B93A3F491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89386820"/>
              </p:ext>
            </p:extLst>
          </p:nvPr>
        </p:nvGraphicFramePr>
        <p:xfrm>
          <a:off x="8372800" y="836934"/>
          <a:ext cx="3588828" cy="23763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F4ECB02-8A69-B2B2-032F-9B104D0025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99147628"/>
              </p:ext>
            </p:extLst>
          </p:nvPr>
        </p:nvGraphicFramePr>
        <p:xfrm>
          <a:off x="4379442" y="836934"/>
          <a:ext cx="3850158" cy="23763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CB2BEA50-1E39-162B-B53B-759BF6CD8C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56470109"/>
              </p:ext>
            </p:extLst>
          </p:nvPr>
        </p:nvGraphicFramePr>
        <p:xfrm>
          <a:off x="230372" y="836933"/>
          <a:ext cx="4005870" cy="57658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TextBox 13">
            <a:extLst>
              <a:ext uri="{FF2B5EF4-FFF2-40B4-BE49-F238E27FC236}">
                <a16:creationId xmlns:a16="http://schemas.microsoft.com/office/drawing/2014/main" id="{3099B70D-E821-B4B3-835C-5E5470E5FA78}"/>
              </a:ext>
            </a:extLst>
          </p:cNvPr>
          <p:cNvSpPr txBox="1"/>
          <p:nvPr/>
        </p:nvSpPr>
        <p:spPr>
          <a:xfrm>
            <a:off x="0" y="1"/>
            <a:ext cx="12192000" cy="665182"/>
          </a:xfrm>
          <a:prstGeom prst="rect">
            <a:avLst/>
          </a:prstGeom>
          <a:solidFill>
            <a:srgbClr val="12247D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rgbClr val="4FC247"/>
                </a:solidFill>
              </a:rPr>
              <a:t>KEY FINDINGS &amp; VISUALIZATIONS</a:t>
            </a:r>
          </a:p>
        </p:txBody>
      </p:sp>
    </p:spTree>
    <p:extLst>
      <p:ext uri="{BB962C8B-B14F-4D97-AF65-F5344CB8AC3E}">
        <p14:creationId xmlns:p14="http://schemas.microsoft.com/office/powerpoint/2010/main" val="2403234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idelity Bank Logo PNG Vector (SVG) Free Download">
            <a:extLst>
              <a:ext uri="{FF2B5EF4-FFF2-40B4-BE49-F238E27FC236}">
                <a16:creationId xmlns:a16="http://schemas.microsoft.com/office/drawing/2014/main" id="{913BCDE0-FDF6-584F-FAC8-ED66279D7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8102" y="6031181"/>
            <a:ext cx="698203" cy="826819"/>
          </a:xfrm>
          <a:prstGeom prst="rect">
            <a:avLst/>
          </a:prstGeom>
        </p:spPr>
      </p:pic>
      <p:sp>
        <p:nvSpPr>
          <p:cNvPr id="8" name="TextBox 1">
            <a:extLst>
              <a:ext uri="{FF2B5EF4-FFF2-40B4-BE49-F238E27FC236}">
                <a16:creationId xmlns:a16="http://schemas.microsoft.com/office/drawing/2014/main" id="{D9E49D18-7F86-D73A-D530-5706B422A49C}"/>
              </a:ext>
            </a:extLst>
          </p:cNvPr>
          <p:cNvSpPr txBox="1"/>
          <p:nvPr/>
        </p:nvSpPr>
        <p:spPr>
          <a:xfrm>
            <a:off x="264359" y="4529850"/>
            <a:ext cx="10910460" cy="2062335"/>
          </a:xfrm>
          <a:prstGeom prst="rect">
            <a:avLst/>
          </a:prstGeom>
          <a:solidFill>
            <a:schemeClr val="bg1"/>
          </a:solidFill>
          <a:ln w="25400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Transaction activity varied significantly by time of day, with values remaining relatively low during the early morning before increasing sharply from </a:t>
            </a:r>
            <a:r>
              <a:rPr lang="en-US" sz="1800" b="1" dirty="0"/>
              <a:t>late morning into the afternoon</a:t>
            </a:r>
            <a:r>
              <a:rPr lang="en-US" sz="1800" dirty="0"/>
              <a:t>. The highest transaction values occurred around </a:t>
            </a:r>
            <a:r>
              <a:rPr lang="en-US" sz="1800" b="1" dirty="0"/>
              <a:t>7–8 PM</a:t>
            </a:r>
            <a:r>
              <a:rPr lang="en-US" sz="1800" dirty="0"/>
              <a:t>, indicating that evening hours represent the peak transaction period.</a:t>
            </a:r>
          </a:p>
          <a:p>
            <a:r>
              <a:rPr lang="en-US" sz="1800" dirty="0"/>
              <a:t>Monthly analysis shows that </a:t>
            </a:r>
            <a:r>
              <a:rPr lang="en-US" sz="1800" b="1" dirty="0"/>
              <a:t>August recorded the highest transaction value at approximately ₦83.45 billion</a:t>
            </a:r>
            <a:r>
              <a:rPr lang="en-US" sz="1800" dirty="0"/>
              <a:t>, followed by </a:t>
            </a:r>
            <a:r>
              <a:rPr lang="en-US" sz="1800" b="1" dirty="0"/>
              <a:t>September at ₦64.55 billion</a:t>
            </a:r>
            <a:r>
              <a:rPr lang="en-US" sz="1800" dirty="0"/>
              <a:t>, while October recorded substantially lower transaction activity. If October represents only a partial month, the lower value should be interpreted cautiously.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104265A3-1445-B333-C9CF-8BDA156047D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9785957"/>
              </p:ext>
            </p:extLst>
          </p:nvPr>
        </p:nvGraphicFramePr>
        <p:xfrm>
          <a:off x="264359" y="946297"/>
          <a:ext cx="5541018" cy="33917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F896CF5-02E4-86D3-E709-25F2506F9D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94044861"/>
              </p:ext>
            </p:extLst>
          </p:nvPr>
        </p:nvGraphicFramePr>
        <p:xfrm>
          <a:off x="6096000" y="946298"/>
          <a:ext cx="5831641" cy="33917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Box 13">
            <a:extLst>
              <a:ext uri="{FF2B5EF4-FFF2-40B4-BE49-F238E27FC236}">
                <a16:creationId xmlns:a16="http://schemas.microsoft.com/office/drawing/2014/main" id="{0A62F420-EE27-6943-1990-F802D9C22637}"/>
              </a:ext>
            </a:extLst>
          </p:cNvPr>
          <p:cNvSpPr txBox="1"/>
          <p:nvPr/>
        </p:nvSpPr>
        <p:spPr>
          <a:xfrm>
            <a:off x="0" y="1"/>
            <a:ext cx="12192000" cy="665182"/>
          </a:xfrm>
          <a:prstGeom prst="rect">
            <a:avLst/>
          </a:prstGeom>
          <a:solidFill>
            <a:srgbClr val="12247D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rgbClr val="4FC247"/>
                </a:solidFill>
              </a:rPr>
              <a:t>KEY FINDINGS &amp; VISUALIZATIONS</a:t>
            </a:r>
          </a:p>
        </p:txBody>
      </p:sp>
    </p:spTree>
    <p:extLst>
      <p:ext uri="{BB962C8B-B14F-4D97-AF65-F5344CB8AC3E}">
        <p14:creationId xmlns:p14="http://schemas.microsoft.com/office/powerpoint/2010/main" val="1740092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71343741-3AD7-4278-835A-35FBFAAF75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7612910"/>
              </p:ext>
            </p:extLst>
          </p:nvPr>
        </p:nvGraphicFramePr>
        <p:xfrm>
          <a:off x="85061" y="1828801"/>
          <a:ext cx="3498112" cy="167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85454C7B-EFCD-4F0D-9115-351FBB04F8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43578843"/>
              </p:ext>
            </p:extLst>
          </p:nvPr>
        </p:nvGraphicFramePr>
        <p:xfrm>
          <a:off x="85061" y="3585530"/>
          <a:ext cx="3498112" cy="32238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3F2D0D75-CEBC-4DDF-82D6-F601930FE5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06656330"/>
              </p:ext>
            </p:extLst>
          </p:nvPr>
        </p:nvGraphicFramePr>
        <p:xfrm>
          <a:off x="3646851" y="1828801"/>
          <a:ext cx="3116285" cy="167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DC409574-B8D8-4CE0-9446-578D9FC8E2C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7901187"/>
              </p:ext>
            </p:extLst>
          </p:nvPr>
        </p:nvGraphicFramePr>
        <p:xfrm>
          <a:off x="3646852" y="3585531"/>
          <a:ext cx="3116284" cy="32238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E4D698C1-5B13-48AE-9DED-5F042F7229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09345759"/>
              </p:ext>
            </p:extLst>
          </p:nvPr>
        </p:nvGraphicFramePr>
        <p:xfrm>
          <a:off x="6826816" y="1828801"/>
          <a:ext cx="2717966" cy="22611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AA4E4600-E956-FEA3-AB47-3E3C32F68C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3102576"/>
              </p:ext>
            </p:extLst>
          </p:nvPr>
        </p:nvGraphicFramePr>
        <p:xfrm>
          <a:off x="743337" y="1040872"/>
          <a:ext cx="1663701" cy="1892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63701">
                  <a:extLst>
                    <a:ext uri="{9D8B030D-6E8A-4147-A177-3AD203B41FA5}">
                      <a16:colId xmlns:a16="http://schemas.microsoft.com/office/drawing/2014/main" val="28558248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Total Transactions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7599644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39DB26AA-C811-D160-523D-9D5EE138D9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099446"/>
              </p:ext>
            </p:extLst>
          </p:nvPr>
        </p:nvGraphicFramePr>
        <p:xfrm>
          <a:off x="743336" y="1230102"/>
          <a:ext cx="1663701" cy="1892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63701">
                  <a:extLst>
                    <a:ext uri="{9D8B030D-6E8A-4147-A177-3AD203B41FA5}">
                      <a16:colId xmlns:a16="http://schemas.microsoft.com/office/drawing/2014/main" val="28558248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100000</a:t>
                      </a:r>
                    </a:p>
                  </a:txBody>
                  <a:tcPr marL="6350" marR="6350" marT="635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7599644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FBA14728-50EA-6636-6AE8-9F64C6EAE1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0464790"/>
              </p:ext>
            </p:extLst>
          </p:nvPr>
        </p:nvGraphicFramePr>
        <p:xfrm>
          <a:off x="2819787" y="1040872"/>
          <a:ext cx="1828800" cy="1892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7052396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Total Transaction Value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918566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B94FAA0E-C5EC-448C-5702-B44B033E1B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7585600"/>
              </p:ext>
            </p:extLst>
          </p:nvPr>
        </p:nvGraphicFramePr>
        <p:xfrm>
          <a:off x="2819787" y="1230102"/>
          <a:ext cx="1828800" cy="2197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3900427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₦ 155,394,991,030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500146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64347541-43B7-5526-D5BB-7FD5D6DCF4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3255150"/>
              </p:ext>
            </p:extLst>
          </p:nvPr>
        </p:nvGraphicFramePr>
        <p:xfrm>
          <a:off x="5061336" y="1040872"/>
          <a:ext cx="1701800" cy="1892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01800">
                  <a:extLst>
                    <a:ext uri="{9D8B030D-6E8A-4147-A177-3AD203B41FA5}">
                      <a16:colId xmlns:a16="http://schemas.microsoft.com/office/drawing/2014/main" val="33704121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Average Transaction Value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136739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78C1D941-A652-79DA-1585-426DC6DED9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6212435"/>
              </p:ext>
            </p:extLst>
          </p:nvPr>
        </p:nvGraphicFramePr>
        <p:xfrm>
          <a:off x="5061336" y="1230102"/>
          <a:ext cx="1701800" cy="2197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01800">
                  <a:extLst>
                    <a:ext uri="{9D8B030D-6E8A-4147-A177-3AD203B41FA5}">
                      <a16:colId xmlns:a16="http://schemas.microsoft.com/office/drawing/2014/main" val="36936954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1553949.91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5456114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44427364-9351-108F-E285-11E9DDBD56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0965123"/>
              </p:ext>
            </p:extLst>
          </p:nvPr>
        </p:nvGraphicFramePr>
        <p:xfrm>
          <a:off x="7175885" y="1040872"/>
          <a:ext cx="1828800" cy="1892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35487117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High Value Customer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526427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F802969-A675-A15A-3193-48E901196F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2478321"/>
              </p:ext>
            </p:extLst>
          </p:nvPr>
        </p:nvGraphicFramePr>
        <p:xfrm>
          <a:off x="7175885" y="1230102"/>
          <a:ext cx="1828800" cy="2197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30911410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100000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179306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9EBD1937-1FC4-0775-9047-E78114818F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9029485"/>
              </p:ext>
            </p:extLst>
          </p:nvPr>
        </p:nvGraphicFramePr>
        <p:xfrm>
          <a:off x="9417434" y="1040872"/>
          <a:ext cx="1828800" cy="1892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12515294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Average Account Balance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7331283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222517DA-9DAF-7146-DE8A-F002D54E0D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2008237"/>
              </p:ext>
            </p:extLst>
          </p:nvPr>
        </p:nvGraphicFramePr>
        <p:xfrm>
          <a:off x="9417434" y="1230102"/>
          <a:ext cx="1828800" cy="2197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18604815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115796.91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2967283"/>
                  </a:ext>
                </a:extLst>
              </a:tr>
            </a:tbl>
          </a:graphicData>
        </a:graphic>
      </p:graphicFrame>
      <p:sp>
        <p:nvSpPr>
          <p:cNvPr id="34" name="TextBox 13">
            <a:extLst>
              <a:ext uri="{FF2B5EF4-FFF2-40B4-BE49-F238E27FC236}">
                <a16:creationId xmlns:a16="http://schemas.microsoft.com/office/drawing/2014/main" id="{871C9DA4-4082-66B9-0850-D99018AA02F6}"/>
              </a:ext>
            </a:extLst>
          </p:cNvPr>
          <p:cNvSpPr txBox="1"/>
          <p:nvPr/>
        </p:nvSpPr>
        <p:spPr>
          <a:xfrm>
            <a:off x="1" y="7588"/>
            <a:ext cx="12191999" cy="695039"/>
          </a:xfrm>
          <a:prstGeom prst="rect">
            <a:avLst/>
          </a:prstGeom>
          <a:solidFill>
            <a:srgbClr val="12247D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sz="2800" b="1" dirty="0">
                <a:solidFill>
                  <a:srgbClr val="4FC247"/>
                </a:solidFill>
              </a:rPr>
              <a:t>CUSTOMER TRANSACTION ANALYTICS DASHBOARD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2A91902C-5172-7C51-0909-0D020CFC5AB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54345132"/>
              </p:ext>
            </p:extLst>
          </p:nvPr>
        </p:nvGraphicFramePr>
        <p:xfrm>
          <a:off x="9638702" y="1828802"/>
          <a:ext cx="2468237" cy="22611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CC4DFA43-B1B1-532F-1C32-83F933FA7D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8233619"/>
              </p:ext>
            </p:extLst>
          </p:nvPr>
        </p:nvGraphicFramePr>
        <p:xfrm>
          <a:off x="6826815" y="4183875"/>
          <a:ext cx="5280124" cy="2625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1441646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9A7771-D5D0-0EC2-1DE1-3AD31557C354}"/>
              </a:ext>
            </a:extLst>
          </p:cNvPr>
          <p:cNvSpPr txBox="1"/>
          <p:nvPr/>
        </p:nvSpPr>
        <p:spPr>
          <a:xfrm>
            <a:off x="233919" y="850603"/>
            <a:ext cx="11862386" cy="557146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Insights</a:t>
            </a:r>
          </a:p>
          <a:p>
            <a:r>
              <a:rPr lang="en-US" sz="2000" dirty="0"/>
              <a:t>The analysis identified clear differences in customer transaction behavior across </a:t>
            </a:r>
            <a:r>
              <a:rPr lang="en-US" sz="2000" b="1" dirty="0"/>
              <a:t>age, gender, location, customer value, and time</a:t>
            </a:r>
            <a:r>
              <a:rPr lang="en-US" sz="2000" dirty="0"/>
              <a:t>. Customers aged </a:t>
            </a:r>
            <a:r>
              <a:rPr lang="en-US" sz="2000" b="1" dirty="0"/>
              <a:t>55+ recorded the highest average transaction values</a:t>
            </a:r>
            <a:r>
              <a:rPr lang="en-US" sz="2000" dirty="0"/>
              <a:t>, while the </a:t>
            </a:r>
            <a:r>
              <a:rPr lang="en-US" sz="2000" b="1" dirty="0"/>
              <a:t>25–34 age group formed the largest high-value customer segment</a:t>
            </a:r>
            <a:r>
              <a:rPr lang="en-US" sz="2000" dirty="0"/>
              <a:t>. Female customers recorded slightly higher average transaction values, although </a:t>
            </a:r>
            <a:r>
              <a:rPr lang="en-US" sz="2000" b="1" dirty="0"/>
              <a:t>male customers represented the majority of the 5,847 high-value customers</a:t>
            </a:r>
            <a:r>
              <a:rPr lang="en-US" sz="2000" dirty="0"/>
              <a:t>. Geographic analysis also showed variations in spending behavior, with locations such as </a:t>
            </a:r>
            <a:r>
              <a:rPr lang="en-US" sz="2000" b="1" dirty="0"/>
              <a:t>Kaduna Central and Abuja Central Area demonstrating stronger financial activity</a:t>
            </a:r>
            <a:r>
              <a:rPr lang="en-US" sz="2000" dirty="0"/>
              <a:t>, indicating that customer spending patterns differ across branches. Transaction activity increased throughout the day and </a:t>
            </a:r>
            <a:r>
              <a:rPr lang="en-US" sz="2000" b="1" dirty="0"/>
              <a:t>peaked around 7:00 PM–8:00 PM</a:t>
            </a:r>
            <a:r>
              <a:rPr lang="en-US" sz="2000" dirty="0"/>
              <a:t>, while August recorded the highest monthly transaction value.</a:t>
            </a:r>
          </a:p>
          <a:p>
            <a:endParaRPr lang="en-US" sz="2000" dirty="0"/>
          </a:p>
          <a:p>
            <a:r>
              <a:rPr lang="en-US" sz="2000" b="1" dirty="0"/>
              <a:t>Recommendations</a:t>
            </a:r>
            <a:endParaRPr lang="en-US" sz="2000" dirty="0"/>
          </a:p>
          <a:p>
            <a:r>
              <a:rPr lang="en-US" sz="2000" dirty="0"/>
              <a:t>Based on these findings, the bank should strengthen </a:t>
            </a:r>
            <a:r>
              <a:rPr lang="en-US" sz="2000" b="1" dirty="0"/>
              <a:t>customer segmentation and personalized marketing</a:t>
            </a:r>
            <a:r>
              <a:rPr lang="en-US" sz="2000" dirty="0"/>
              <a:t>, expand premium services and loyalty programs for high-value customers, and develop </a:t>
            </a:r>
            <a:r>
              <a:rPr lang="en-US" sz="2000" b="1" dirty="0"/>
              <a:t>location-specific strategies</a:t>
            </a:r>
            <a:r>
              <a:rPr lang="en-US" sz="2000" dirty="0"/>
              <a:t> based on branch transaction characteristics. High-performing branches should receive enhanced relationship-management support, while lower-performing locations could benefit from targeted promotions and customer-engagement initiatives. The bank should also optimize </a:t>
            </a:r>
            <a:r>
              <a:rPr lang="en-US" sz="2000" b="1" dirty="0"/>
              <a:t>staffing, customer support, system capacity, and transaction monitoring during peak periods</a:t>
            </a:r>
            <a:r>
              <a:rPr lang="en-US" sz="2000" dirty="0"/>
              <a:t> to improve service delivery, customer retention, operational efficiency, and overall business performance.</a:t>
            </a:r>
          </a:p>
        </p:txBody>
      </p:sp>
      <p:pic>
        <p:nvPicPr>
          <p:cNvPr id="4" name="Picture 3" descr="Fidelity Bank Logo PNG Vector (SVG) Free Download">
            <a:extLst>
              <a:ext uri="{FF2B5EF4-FFF2-40B4-BE49-F238E27FC236}">
                <a16:creationId xmlns:a16="http://schemas.microsoft.com/office/drawing/2014/main" id="{EF1C137C-A734-1BB4-FDC7-195DC0DCE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6133" y="6294474"/>
            <a:ext cx="475867" cy="563526"/>
          </a:xfrm>
          <a:prstGeom prst="rect">
            <a:avLst/>
          </a:prstGeom>
        </p:spPr>
      </p:pic>
      <p:sp>
        <p:nvSpPr>
          <p:cNvPr id="5" name="TextBox 13">
            <a:extLst>
              <a:ext uri="{FF2B5EF4-FFF2-40B4-BE49-F238E27FC236}">
                <a16:creationId xmlns:a16="http://schemas.microsoft.com/office/drawing/2014/main" id="{CB1D257B-BFA3-BBB1-5ED8-AB77DD72B977}"/>
              </a:ext>
            </a:extLst>
          </p:cNvPr>
          <p:cNvSpPr txBox="1"/>
          <p:nvPr/>
        </p:nvSpPr>
        <p:spPr>
          <a:xfrm>
            <a:off x="0" y="0"/>
            <a:ext cx="12192000" cy="754528"/>
          </a:xfrm>
          <a:prstGeom prst="rect">
            <a:avLst/>
          </a:prstGeom>
          <a:solidFill>
            <a:srgbClr val="12247D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sz="2800" b="1" dirty="0">
                <a:solidFill>
                  <a:srgbClr val="4FC247"/>
                </a:solidFill>
              </a:rPr>
              <a:t>INSIGHTS AND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40135793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1330</Words>
  <Application>Microsoft Office PowerPoint</Application>
  <PresentationFormat>Widescreen</PresentationFormat>
  <Paragraphs>73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Albertus</vt:lpstr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Akinnitire Akintunde</dc:creator>
  <cp:lastModifiedBy>Akinnitire Akintunde</cp:lastModifiedBy>
  <cp:revision>53</cp:revision>
  <dcterms:created xsi:type="dcterms:W3CDTF">2026-07-21T11:51:08Z</dcterms:created>
  <dcterms:modified xsi:type="dcterms:W3CDTF">2026-07-24T10:43:41Z</dcterms:modified>
</cp:coreProperties>
</file>