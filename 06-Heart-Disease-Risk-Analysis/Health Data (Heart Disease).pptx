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charts/chart6.xml" ContentType="application/vnd.openxmlformats-officedocument.drawingml.chart+xml"/>
  <Override PartName="/ppt/charts/style5.xml" ContentType="application/vnd.ms-office.chartstyle+xml"/>
  <Override PartName="/ppt/charts/colors5.xml" ContentType="application/vnd.ms-office.chartcolorstyle+xml"/>
  <Override PartName="/ppt/charts/chart7.xml" ContentType="application/vnd.openxmlformats-officedocument.drawingml.chart+xml"/>
  <Override PartName="/ppt/charts/style6.xml" ContentType="application/vnd.ms-office.chartstyle+xml"/>
  <Override PartName="/ppt/charts/colors6.xml" ContentType="application/vnd.ms-office.chartcolorstyle+xml"/>
  <Override PartName="/ppt/charts/chart8.xml" ContentType="application/vnd.openxmlformats-officedocument.drawingml.chart+xml"/>
  <Override PartName="/ppt/charts/style7.xml" ContentType="application/vnd.ms-office.chartstyle+xml"/>
  <Override PartName="/ppt/charts/colors7.xml" ContentType="application/vnd.ms-office.chartcolorstyle+xml"/>
  <Override PartName="/ppt/charts/chart9.xml" ContentType="application/vnd.openxmlformats-officedocument.drawingml.chart+xml"/>
  <Override PartName="/ppt/charts/style8.xml" ContentType="application/vnd.ms-office.chartstyle+xml"/>
  <Override PartName="/ppt/charts/colors8.xml" ContentType="application/vnd.ms-office.chartcolorstyle+xml"/>
  <Override PartName="/ppt/charts/chart10.xml" ContentType="application/vnd.openxmlformats-officedocument.drawingml.chart+xml"/>
  <Override PartName="/ppt/charts/chart11.xml" ContentType="application/vnd.openxmlformats-officedocument.drawingml.chart+xml"/>
  <Override PartName="/ppt/charts/style9.xml" ContentType="application/vnd.ms-office.chartstyle+xml"/>
  <Override PartName="/ppt/charts/colors9.xml" ContentType="application/vnd.ms-office.chartcolorstyle+xml"/>
  <Override PartName="/ppt/charts/chart12.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3.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4.xml" ContentType="application/vnd.openxmlformats-officedocument.drawingml.chart+xml"/>
  <Override PartName="/ppt/charts/style12.xml" ContentType="application/vnd.ms-office.chartstyle+xml"/>
  <Override PartName="/ppt/charts/colors1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0" d="100"/>
          <a:sy n="60" d="100"/>
        </p:scale>
        <p:origin x="908"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3" Type="http://schemas.openxmlformats.org/officeDocument/2006/relationships/oleObject" Target="file:///C:\Users\USER\OneDrive\Desktop\data%20sets%20skillboost\Health%20Data%20(Heart%20Disease).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oleObject" Target="file:///C:\Users\USER\OneDrive\Desktop\data%20sets%20skillboost\Health%20Data%20(Heart%20Disease).xlsx" TargetMode="External"/></Relationships>
</file>

<file path=ppt/charts/_rels/chart3.xml.rels><?xml version="1.0" encoding="UTF-8" standalone="yes"?>
<Relationships xmlns="http://schemas.openxmlformats.org/package/2006/relationships"><Relationship Id="rId3" Type="http://schemas.openxmlformats.org/officeDocument/2006/relationships/oleObject" Target="file:///C:\Users\USER\OneDrive\Desktop\data%20sets%20skillboost\Health%20Data%20(Heart%20Disease).xlsx" TargetMode="External"/><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3" Type="http://schemas.openxmlformats.org/officeDocument/2006/relationships/oleObject" Target="file:///C:\Users\USER\OneDrive\Desktop\data%20sets%20skillboost\Health%20Data%20(Heart%20Disease).xlsx" TargetMode="External"/><Relationship Id="rId2" Type="http://schemas.microsoft.com/office/2011/relationships/chartColorStyle" Target="colors3.xml"/><Relationship Id="rId1" Type="http://schemas.microsoft.com/office/2011/relationships/chartStyle" Target="style3.xml"/></Relationships>
</file>

<file path=ppt/charts/_rels/chart5.xml.rels><?xml version="1.0" encoding="UTF-8" standalone="yes"?>
<Relationships xmlns="http://schemas.openxmlformats.org/package/2006/relationships"><Relationship Id="rId3" Type="http://schemas.openxmlformats.org/officeDocument/2006/relationships/oleObject" Target="file:///C:\Users\USER\OneDrive\Desktop\data%20sets%20skillboost\Health%20Data%20(Heart%20Disease).xlsx" TargetMode="External"/><Relationship Id="rId2" Type="http://schemas.microsoft.com/office/2011/relationships/chartColorStyle" Target="colors4.xml"/><Relationship Id="rId1" Type="http://schemas.microsoft.com/office/2011/relationships/chartStyle" Target="style4.xml"/></Relationships>
</file>

<file path=ppt/charts/_rels/chart6.xml.rels><?xml version="1.0" encoding="UTF-8" standalone="yes"?>
<Relationships xmlns="http://schemas.openxmlformats.org/package/2006/relationships"><Relationship Id="rId3" Type="http://schemas.openxmlformats.org/officeDocument/2006/relationships/oleObject" Target="file:///C:\Users\USER\OneDrive\Desktop\data%20sets%20skillboost\Health%20Data%20(Heart%20Disease).xlsx" TargetMode="External"/><Relationship Id="rId2" Type="http://schemas.microsoft.com/office/2011/relationships/chartColorStyle" Target="colors5.xml"/><Relationship Id="rId1" Type="http://schemas.microsoft.com/office/2011/relationships/chartStyle" Target="style5.xml"/></Relationships>
</file>

<file path=ppt/charts/_rels/chart7.xml.rels><?xml version="1.0" encoding="UTF-8" standalone="yes"?>
<Relationships xmlns="http://schemas.openxmlformats.org/package/2006/relationships"><Relationship Id="rId3" Type="http://schemas.openxmlformats.org/officeDocument/2006/relationships/oleObject" Target="file:///C:\Users\USER\OneDrive\Desktop\data%20sets%20skillboost\Health%20Data%20(Heart%20Disease).xlsx" TargetMode="External"/><Relationship Id="rId2" Type="http://schemas.microsoft.com/office/2011/relationships/chartColorStyle" Target="colors6.xml"/><Relationship Id="rId1" Type="http://schemas.microsoft.com/office/2011/relationships/chartStyle" Target="style6.xml"/></Relationships>
</file>

<file path=ppt/charts/_rels/chart8.xml.rels><?xml version="1.0" encoding="UTF-8" standalone="yes"?>
<Relationships xmlns="http://schemas.openxmlformats.org/package/2006/relationships"><Relationship Id="rId3" Type="http://schemas.openxmlformats.org/officeDocument/2006/relationships/oleObject" Target="file:///C:\Users\USER\OneDrive\Desktop\data%20sets%20skillboost\Health%20Data%20(Heart%20Disease).xlsx" TargetMode="External"/><Relationship Id="rId2" Type="http://schemas.microsoft.com/office/2011/relationships/chartColorStyle" Target="colors7.xml"/><Relationship Id="rId1" Type="http://schemas.microsoft.com/office/2011/relationships/chartStyle" Target="style7.xml"/></Relationships>
</file>

<file path=ppt/charts/_rels/chart9.xml.rels><?xml version="1.0" encoding="UTF-8" standalone="yes"?>
<Relationships xmlns="http://schemas.openxmlformats.org/package/2006/relationships"><Relationship Id="rId3" Type="http://schemas.openxmlformats.org/officeDocument/2006/relationships/oleObject" Target="file:///C:\Users\USER\OneDrive\Desktop\data%20sets%20skillboost\Health%20Data%20(Heart%20Disease).xlsx" TargetMode="External"/><Relationship Id="rId2" Type="http://schemas.microsoft.com/office/2011/relationships/chartColorStyle" Target="colors8.xml"/><Relationship Id="rId1" Type="http://schemas.microsoft.com/office/2011/relationships/chartStyle" Target="style8.xml"/></Relationships>
</file>

<file path=ppt/charts/_rels/chart10.xml.rels><?xml version="1.0" encoding="UTF-8" standalone="yes"?>
<Relationships xmlns="http://schemas.openxmlformats.org/package/2006/relationships"><Relationship Id="rId1" Type="http://schemas.openxmlformats.org/officeDocument/2006/relationships/oleObject" Target="file:///C:\Users\USER\OneDrive\Desktop\data%20sets%20skillboost\Health%20Data%20(Heart%20Disease).xlsx" TargetMode="External"/></Relationships>
</file>

<file path=ppt/charts/_rels/chart11.xml.rels><?xml version="1.0" encoding="UTF-8" standalone="yes"?>
<Relationships xmlns="http://schemas.openxmlformats.org/package/2006/relationships"><Relationship Id="rId3" Type="http://schemas.openxmlformats.org/officeDocument/2006/relationships/oleObject" Target="file:///C:\Users\USER\OneDrive\Desktop\data%20sets%20skillboost\Health%20Data%20(Heart%20Disease).xlsx" TargetMode="External"/><Relationship Id="rId2" Type="http://schemas.microsoft.com/office/2011/relationships/chartColorStyle" Target="colors9.xml"/><Relationship Id="rId1" Type="http://schemas.microsoft.com/office/2011/relationships/chartStyle" Target="style9.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USER\OneDrive\Desktop\data%20sets%20skillboost\Health%20Data%20(Heart%20Disease).xlsx" TargetMode="External"/><Relationship Id="rId2" Type="http://schemas.microsoft.com/office/2011/relationships/chartColorStyle" Target="colors10.xml"/><Relationship Id="rId1" Type="http://schemas.microsoft.com/office/2011/relationships/chartStyle" Target="style10.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USER\OneDrive\Desktop\data%20sets%20skillboost\Health%20Data%20(Heart%20Disease).xlsx" TargetMode="External"/><Relationship Id="rId2" Type="http://schemas.microsoft.com/office/2011/relationships/chartColorStyle" Target="colors11.xml"/><Relationship Id="rId1" Type="http://schemas.microsoft.com/office/2011/relationships/chartStyle" Target="style11.xml"/></Relationships>
</file>

<file path=ppt/charts/_rels/chart14.xml.rels><?xml version="1.0" encoding="UTF-8" standalone="yes"?>
<Relationships xmlns="http://schemas.openxmlformats.org/package/2006/relationships"><Relationship Id="rId3" Type="http://schemas.openxmlformats.org/officeDocument/2006/relationships/oleObject" Target="file:///C:\Users\USER\OneDrive\Desktop\data%20sets%20skillboost\Health%20Data%20(Heart%20Disease).xlsx" TargetMode="External"/><Relationship Id="rId2" Type="http://schemas.microsoft.com/office/2011/relationships/chartColorStyle" Target="colors12.xml"/><Relationship Id="rId1" Type="http://schemas.microsoft.com/office/2011/relationships/chartStyle" Target="style1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[Health Data (Heart Disease).xlsx]Patient Risk Segmentation!PivotTable15</c:name>
    <c:fmtId val="9"/>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Stress Level vs Heart Disease Status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'Patient Risk Segmentation'!$C$3:$C$4</c:f>
              <c:strCache>
                <c:ptCount val="1"/>
                <c:pt idx="0">
                  <c:v>No</c:v>
                </c:pt>
              </c:strCache>
            </c:strRef>
          </c:tx>
          <c:spPr>
            <a:solidFill>
              <a:schemeClr val="accent1"/>
            </a:solidFill>
            <a:ln>
              <a:noFill/>
            </a:ln>
            <a:effectLst/>
          </c:spPr>
          <c:invertIfNegative val="0"/>
          <c:cat>
            <c:strRef>
              <c:f>'Patient Risk Segmentation'!$B$5:$B$8</c:f>
              <c:strCache>
                <c:ptCount val="3"/>
                <c:pt idx="0">
                  <c:v>High</c:v>
                </c:pt>
                <c:pt idx="1">
                  <c:v>Medium</c:v>
                </c:pt>
                <c:pt idx="2">
                  <c:v>Low</c:v>
                </c:pt>
              </c:strCache>
            </c:strRef>
          </c:cat>
          <c:val>
            <c:numRef>
              <c:f>'Patient Risk Segmentation'!$C$5:$C$8</c:f>
              <c:numCache>
                <c:formatCode>General</c:formatCode>
                <c:ptCount val="3"/>
                <c:pt idx="0">
                  <c:v>1594</c:v>
                </c:pt>
                <c:pt idx="1">
                  <c:v>1758</c:v>
                </c:pt>
                <c:pt idx="2">
                  <c:v>1655</c:v>
                </c:pt>
              </c:numCache>
            </c:numRef>
          </c:val>
          <c:extLst>
            <c:ext xmlns:c16="http://schemas.microsoft.com/office/drawing/2014/chart" uri="{C3380CC4-5D6E-409C-BE32-E72D297353CC}">
              <c16:uniqueId val="{00000000-D2AF-484D-BA54-D5CDB56DD2CD}"/>
            </c:ext>
          </c:extLst>
        </c:ser>
        <c:ser>
          <c:idx val="1"/>
          <c:order val="1"/>
          <c:tx>
            <c:strRef>
              <c:f>'Patient Risk Segmentation'!$D$3:$D$4</c:f>
              <c:strCache>
                <c:ptCount val="1"/>
                <c:pt idx="0">
                  <c:v>Yes</c:v>
                </c:pt>
              </c:strCache>
            </c:strRef>
          </c:tx>
          <c:spPr>
            <a:solidFill>
              <a:schemeClr val="accent2"/>
            </a:solidFill>
            <a:ln>
              <a:noFill/>
            </a:ln>
            <a:effectLst/>
          </c:spPr>
          <c:invertIfNegative val="0"/>
          <c:cat>
            <c:strRef>
              <c:f>'Patient Risk Segmentation'!$B$5:$B$8</c:f>
              <c:strCache>
                <c:ptCount val="3"/>
                <c:pt idx="0">
                  <c:v>High</c:v>
                </c:pt>
                <c:pt idx="1">
                  <c:v>Medium</c:v>
                </c:pt>
                <c:pt idx="2">
                  <c:v>Low</c:v>
                </c:pt>
              </c:strCache>
            </c:strRef>
          </c:cat>
          <c:val>
            <c:numRef>
              <c:f>'Patient Risk Segmentation'!$D$5:$D$8</c:f>
              <c:numCache>
                <c:formatCode>General</c:formatCode>
                <c:ptCount val="3"/>
                <c:pt idx="0">
                  <c:v>1668</c:v>
                </c:pt>
                <c:pt idx="1">
                  <c:v>1617</c:v>
                </c:pt>
                <c:pt idx="2">
                  <c:v>1656</c:v>
                </c:pt>
              </c:numCache>
            </c:numRef>
          </c:val>
          <c:extLst>
            <c:ext xmlns:c16="http://schemas.microsoft.com/office/drawing/2014/chart" uri="{C3380CC4-5D6E-409C-BE32-E72D297353CC}">
              <c16:uniqueId val="{00000001-D2AF-484D-BA54-D5CDB56DD2CD}"/>
            </c:ext>
          </c:extLst>
        </c:ser>
        <c:dLbls>
          <c:showLegendKey val="0"/>
          <c:showVal val="0"/>
          <c:showCatName val="0"/>
          <c:showSerName val="0"/>
          <c:showPercent val="0"/>
          <c:showBubbleSize val="0"/>
        </c:dLbls>
        <c:gapWidth val="219"/>
        <c:overlap val="-27"/>
        <c:axId val="512373896"/>
        <c:axId val="512369216"/>
      </c:barChart>
      <c:catAx>
        <c:axId val="5123738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12369216"/>
        <c:crosses val="autoZero"/>
        <c:auto val="1"/>
        <c:lblAlgn val="ctr"/>
        <c:lblOffset val="100"/>
        <c:noMultiLvlLbl val="0"/>
      </c:catAx>
      <c:valAx>
        <c:axId val="5123692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1237389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[Health Data (Heart Disease).xlsx]Identifying Correlations!PivotTable10</c:name>
    <c:fmtId val="12"/>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dirty="0">
                <a:solidFill>
                  <a:prstClr val="black">
                    <a:lumMod val="65000"/>
                    <a:lumOff val="35000"/>
                  </a:prstClr>
                </a:solidFill>
              </a:rPr>
              <a:t>Heart Disease by Exercise Habits</a:t>
            </a:r>
          </a:p>
        </c:rich>
      </c:tx>
      <c:overlay val="0"/>
      <c:spPr>
        <a:noFill/>
        <a:ln>
          <a:noFill/>
        </a:ln>
        <a:effectLst/>
      </c:spPr>
    </c:title>
    <c:autoTitleDeleted val="0"/>
    <c:pivotFmts>
      <c:pivotFmt>
        <c:idx val="0"/>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wrap="square" lIns="38100" tIns="19050" rIns="38100" bIns="19050" anchor="ctr">
              <a:spAutoFit/>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c:spPr>
        <c:marker>
          <c:symbol val="none"/>
        </c:marker>
        <c:dLbl>
          <c:idx val="0"/>
          <c:spPr>
            <a:noFill/>
            <a:ln>
              <a:noFill/>
            </a:ln>
            <a:effectLst/>
          </c:spPr>
          <c:txPr>
            <a:bodyPr wrap="square" lIns="38100" tIns="19050" rIns="38100" bIns="19050" anchor="ctr">
              <a:spAutoFit/>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wrap="square" lIns="38100" tIns="19050" rIns="38100" bIns="19050" anchor="ctr">
              <a:spAutoFit/>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2"/>
          </a:solidFill>
          <a:ln>
            <a:noFill/>
          </a:ln>
          <a:effectLst/>
        </c:spPr>
        <c:marker>
          <c:symbol val="none"/>
        </c:marker>
        <c:dLbl>
          <c:idx val="0"/>
          <c:spPr>
            <a:noFill/>
            <a:ln>
              <a:noFill/>
            </a:ln>
            <a:effectLst/>
          </c:spPr>
          <c:txPr>
            <a:bodyPr wrap="square" lIns="38100" tIns="19050" rIns="38100" bIns="19050" anchor="ctr">
              <a:spAutoFit/>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wrap="square" lIns="38100" tIns="19050" rIns="38100" bIns="19050" anchor="ctr">
              <a:spAutoFit/>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2"/>
          </a:solidFill>
          <a:ln>
            <a:noFill/>
          </a:ln>
          <a:effectLst/>
        </c:spPr>
        <c:marker>
          <c:symbol val="none"/>
        </c:marker>
        <c:dLbl>
          <c:idx val="0"/>
          <c:spPr>
            <a:noFill/>
            <a:ln>
              <a:noFill/>
            </a:ln>
            <a:effectLst/>
          </c:spPr>
          <c:txPr>
            <a:bodyPr wrap="square" lIns="38100" tIns="19050" rIns="38100" bIns="19050" anchor="ctr">
              <a:spAutoFit/>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'Identifying Correlations'!$C$3:$C$4</c:f>
              <c:strCache>
                <c:ptCount val="1"/>
                <c:pt idx="0">
                  <c:v>No</c:v>
                </c:pt>
              </c:strCache>
            </c:strRef>
          </c:tx>
          <c:spPr>
            <a:solidFill>
              <a:schemeClr val="accent1"/>
            </a:solidFill>
            <a:ln>
              <a:noFill/>
            </a:ln>
            <a:effectLst/>
          </c:spPr>
          <c:invertIfNegative val="0"/>
          <c:dLbls>
            <c:spPr>
              <a:noFill/>
              <a:ln>
                <a:noFill/>
              </a:ln>
              <a:effectLst/>
            </c:spPr>
            <c:txPr>
              <a:bodyPr wrap="square" lIns="38100" tIns="19050" rIns="38100" bIns="19050" anchor="ctr">
                <a:spAutoFit/>
              </a:bodyPr>
              <a:lstStyle/>
              <a:p>
                <a:pPr>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'Identifying Correlations'!$B$5:$B$8</c:f>
              <c:strCache>
                <c:ptCount val="3"/>
                <c:pt idx="0">
                  <c:v>High</c:v>
                </c:pt>
                <c:pt idx="1">
                  <c:v>Medium</c:v>
                </c:pt>
                <c:pt idx="2">
                  <c:v>Low</c:v>
                </c:pt>
              </c:strCache>
            </c:strRef>
          </c:cat>
          <c:val>
            <c:numRef>
              <c:f>'Identifying Correlations'!$C$5:$C$8</c:f>
              <c:numCache>
                <c:formatCode>0.00%</c:formatCode>
                <c:ptCount val="3"/>
                <c:pt idx="0">
                  <c:v>0.79982206405693945</c:v>
                </c:pt>
                <c:pt idx="1">
                  <c:v>0.79621848739495793</c:v>
                </c:pt>
                <c:pt idx="2">
                  <c:v>0.80281259553653317</c:v>
                </c:pt>
              </c:numCache>
            </c:numRef>
          </c:val>
          <c:extLst>
            <c:ext xmlns:c16="http://schemas.microsoft.com/office/drawing/2014/chart" uri="{C3380CC4-5D6E-409C-BE32-E72D297353CC}">
              <c16:uniqueId val="{00000000-81EC-4A78-B78F-C8EA0E1FD0C3}"/>
            </c:ext>
          </c:extLst>
        </c:ser>
        <c:ser>
          <c:idx val="1"/>
          <c:order val="1"/>
          <c:tx>
            <c:strRef>
              <c:f>'Identifying Correlations'!$D$3:$D$4</c:f>
              <c:strCache>
                <c:ptCount val="1"/>
                <c:pt idx="0">
                  <c:v>Yes</c:v>
                </c:pt>
              </c:strCache>
            </c:strRef>
          </c:tx>
          <c:spPr>
            <a:solidFill>
              <a:schemeClr val="accent2"/>
            </a:solidFill>
            <a:ln>
              <a:noFill/>
            </a:ln>
            <a:effectLst/>
          </c:spPr>
          <c:invertIfNegative val="0"/>
          <c:dLbls>
            <c:spPr>
              <a:noFill/>
              <a:ln>
                <a:noFill/>
              </a:ln>
              <a:effectLst/>
            </c:spPr>
            <c:txPr>
              <a:bodyPr wrap="square" lIns="38100" tIns="19050" rIns="38100" bIns="19050" anchor="ctr">
                <a:spAutoFit/>
              </a:bodyPr>
              <a:lstStyle/>
              <a:p>
                <a:pPr>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'Identifying Correlations'!$B$5:$B$8</c:f>
              <c:strCache>
                <c:ptCount val="3"/>
                <c:pt idx="0">
                  <c:v>High</c:v>
                </c:pt>
                <c:pt idx="1">
                  <c:v>Medium</c:v>
                </c:pt>
                <c:pt idx="2">
                  <c:v>Low</c:v>
                </c:pt>
              </c:strCache>
            </c:strRef>
          </c:cat>
          <c:val>
            <c:numRef>
              <c:f>'Identifying Correlations'!$D$5:$D$8</c:f>
              <c:numCache>
                <c:formatCode>0.00%</c:formatCode>
                <c:ptCount val="3"/>
                <c:pt idx="0">
                  <c:v>0.20017793594306049</c:v>
                </c:pt>
                <c:pt idx="1">
                  <c:v>0.20378151260504201</c:v>
                </c:pt>
                <c:pt idx="2">
                  <c:v>0.19718740446346683</c:v>
                </c:pt>
              </c:numCache>
            </c:numRef>
          </c:val>
          <c:extLst>
            <c:ext xmlns:c16="http://schemas.microsoft.com/office/drawing/2014/chart" uri="{C3380CC4-5D6E-409C-BE32-E72D297353CC}">
              <c16:uniqueId val="{00000001-81EC-4A78-B78F-C8EA0E1FD0C3}"/>
            </c:ext>
          </c:extLst>
        </c:ser>
        <c:dLbls>
          <c:dLblPos val="ctr"/>
          <c:showLegendKey val="0"/>
          <c:showVal val="1"/>
          <c:showCatName val="0"/>
          <c:showSerName val="0"/>
          <c:showPercent val="0"/>
          <c:showBubbleSize val="0"/>
        </c:dLbls>
        <c:gapWidth val="150"/>
        <c:overlap val="100"/>
        <c:axId val="360791488"/>
        <c:axId val="516099504"/>
      </c:barChart>
      <c:catAx>
        <c:axId val="36079148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16099504"/>
        <c:crosses val="autoZero"/>
        <c:auto val="1"/>
        <c:lblAlgn val="ctr"/>
        <c:lblOffset val="100"/>
        <c:noMultiLvlLbl val="0"/>
      </c:catAx>
      <c:valAx>
        <c:axId val="516099504"/>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0791488"/>
        <c:crosses val="autoZero"/>
        <c:crossBetween val="between"/>
      </c:valAx>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spPr>
    <a:solidFill>
      <a:schemeClr val="bg1">
        <a:lumMod val="95000"/>
      </a:schemeClr>
    </a:solidFill>
  </c:spPr>
  <c:txPr>
    <a:bodyPr/>
    <a:lstStyle/>
    <a:p>
      <a:pPr>
        <a:defRPr/>
      </a:pPr>
      <a:endParaRPr lang="en-US"/>
    </a:p>
  </c:txPr>
  <c:externalData r:id="rId1">
    <c:autoUpdate val="0"/>
  </c:externalData>
  <c:extLst>
    <c:ext xmlns:c14="http://schemas.microsoft.com/office/drawing/2007/8/2/chart" uri="{781A3756-C4B2-4CAC-9D66-4F8BD8637D16}">
      <c14:pivotOptions>
        <c14:dropZoneFilter val="1"/>
        <c14:dropZoneCategories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[Health Data (Heart Disease).xlsx]Identifying Correlations!PivotTable11</c:name>
    <c:fmtId val="1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dirty="0">
                <a:solidFill>
                  <a:prstClr val="black">
                    <a:lumMod val="65000"/>
                    <a:lumOff val="35000"/>
                  </a:prstClr>
                </a:solidFill>
              </a:rPr>
              <a:t>Heart Disease by Cholesterol Level</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'Identifying Correlations'!$C$10:$C$11</c:f>
              <c:strCache>
                <c:ptCount val="1"/>
                <c:pt idx="0">
                  <c:v>No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'Identifying Correlations'!$B$12:$B$15</c:f>
              <c:strCache>
                <c:ptCount val="3"/>
                <c:pt idx="0">
                  <c:v>150-199</c:v>
                </c:pt>
                <c:pt idx="1">
                  <c:v>200-249</c:v>
                </c:pt>
                <c:pt idx="2">
                  <c:v>250-300</c:v>
                </c:pt>
              </c:strCache>
            </c:strRef>
          </c:cat>
          <c:val>
            <c:numRef>
              <c:f>'Identifying Correlations'!$C$12:$C$15</c:f>
              <c:numCache>
                <c:formatCode>0.00%</c:formatCode>
                <c:ptCount val="3"/>
                <c:pt idx="0">
                  <c:v>0.80273972602739729</c:v>
                </c:pt>
                <c:pt idx="1">
                  <c:v>0.80189834660134718</c:v>
                </c:pt>
                <c:pt idx="2">
                  <c:v>0.79526177244808427</c:v>
                </c:pt>
              </c:numCache>
            </c:numRef>
          </c:val>
          <c:extLst>
            <c:ext xmlns:c16="http://schemas.microsoft.com/office/drawing/2014/chart" uri="{C3380CC4-5D6E-409C-BE32-E72D297353CC}">
              <c16:uniqueId val="{00000000-834B-4EFC-BC9B-C4AE9D117FD1}"/>
            </c:ext>
          </c:extLst>
        </c:ser>
        <c:ser>
          <c:idx val="1"/>
          <c:order val="1"/>
          <c:tx>
            <c:strRef>
              <c:f>'Identifying Correlations'!$D$10:$D$11</c:f>
              <c:strCache>
                <c:ptCount val="1"/>
                <c:pt idx="0">
                  <c:v>Yes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'Identifying Correlations'!$B$12:$B$15</c:f>
              <c:strCache>
                <c:ptCount val="3"/>
                <c:pt idx="0">
                  <c:v>150-199</c:v>
                </c:pt>
                <c:pt idx="1">
                  <c:v>200-249</c:v>
                </c:pt>
                <c:pt idx="2">
                  <c:v>250-300</c:v>
                </c:pt>
              </c:strCache>
            </c:strRef>
          </c:cat>
          <c:val>
            <c:numRef>
              <c:f>'Identifying Correlations'!$D$12:$D$15</c:f>
              <c:numCache>
                <c:formatCode>0.00%</c:formatCode>
                <c:ptCount val="3"/>
                <c:pt idx="0">
                  <c:v>0.19726027397260273</c:v>
                </c:pt>
                <c:pt idx="1">
                  <c:v>0.19810165339865279</c:v>
                </c:pt>
                <c:pt idx="2">
                  <c:v>0.20473822755191576</c:v>
                </c:pt>
              </c:numCache>
            </c:numRef>
          </c:val>
          <c:extLst>
            <c:ext xmlns:c16="http://schemas.microsoft.com/office/drawing/2014/chart" uri="{C3380CC4-5D6E-409C-BE32-E72D297353CC}">
              <c16:uniqueId val="{00000001-834B-4EFC-BC9B-C4AE9D117FD1}"/>
            </c:ext>
          </c:extLst>
        </c:ser>
        <c:dLbls>
          <c:dLblPos val="ctr"/>
          <c:showLegendKey val="0"/>
          <c:showVal val="1"/>
          <c:showCatName val="0"/>
          <c:showSerName val="0"/>
          <c:showPercent val="0"/>
          <c:showBubbleSize val="0"/>
        </c:dLbls>
        <c:gapWidth val="150"/>
        <c:overlap val="100"/>
        <c:axId val="577017968"/>
        <c:axId val="577025888"/>
      </c:barChart>
      <c:catAx>
        <c:axId val="577017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77025888"/>
        <c:crosses val="autoZero"/>
        <c:auto val="1"/>
        <c:lblAlgn val="ctr"/>
        <c:lblOffset val="100"/>
        <c:noMultiLvlLbl val="0"/>
      </c:catAx>
      <c:valAx>
        <c:axId val="57702588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7701796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[Health Data (Heart Disease).xlsx]Identifying Correlations!PivotTable12</c:name>
    <c:fmtId val="17"/>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dirty="0">
                <a:solidFill>
                  <a:prstClr val="black">
                    <a:lumMod val="65000"/>
                    <a:lumOff val="35000"/>
                  </a:prstClr>
                </a:solidFill>
              </a:rPr>
              <a:t>Heart Disease by Smoking</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'Identifying Correlations'!$C$18:$C$19</c:f>
              <c:strCache>
                <c:ptCount val="1"/>
                <c:pt idx="0">
                  <c:v>No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'Identifying Correlations'!$B$20:$B$22</c:f>
              <c:strCache>
                <c:ptCount val="2"/>
                <c:pt idx="0">
                  <c:v>No</c:v>
                </c:pt>
                <c:pt idx="1">
                  <c:v>Yes</c:v>
                </c:pt>
              </c:strCache>
            </c:strRef>
          </c:cat>
          <c:val>
            <c:numRef>
              <c:f>'Identifying Correlations'!$C$20:$C$22</c:f>
              <c:numCache>
                <c:formatCode>0.00%</c:formatCode>
                <c:ptCount val="2"/>
                <c:pt idx="0">
                  <c:v>0.80111294311624071</c:v>
                </c:pt>
                <c:pt idx="1">
                  <c:v>0.79914112824516881</c:v>
                </c:pt>
              </c:numCache>
            </c:numRef>
          </c:val>
          <c:extLst>
            <c:ext xmlns:c16="http://schemas.microsoft.com/office/drawing/2014/chart" uri="{C3380CC4-5D6E-409C-BE32-E72D297353CC}">
              <c16:uniqueId val="{00000000-8F30-4095-B183-D55E6C46CBB8}"/>
            </c:ext>
          </c:extLst>
        </c:ser>
        <c:ser>
          <c:idx val="1"/>
          <c:order val="1"/>
          <c:tx>
            <c:strRef>
              <c:f>'Identifying Correlations'!$D$18:$D$19</c:f>
              <c:strCache>
                <c:ptCount val="1"/>
                <c:pt idx="0">
                  <c:v>Yes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'Identifying Correlations'!$B$20:$B$22</c:f>
              <c:strCache>
                <c:ptCount val="2"/>
                <c:pt idx="0">
                  <c:v>No</c:v>
                </c:pt>
                <c:pt idx="1">
                  <c:v>Yes</c:v>
                </c:pt>
              </c:strCache>
            </c:strRef>
          </c:cat>
          <c:val>
            <c:numRef>
              <c:f>'Identifying Correlations'!$D$20:$D$22</c:f>
              <c:numCache>
                <c:formatCode>0.00%</c:formatCode>
                <c:ptCount val="2"/>
                <c:pt idx="0">
                  <c:v>0.19888705688375927</c:v>
                </c:pt>
                <c:pt idx="1">
                  <c:v>0.20085887175483116</c:v>
                </c:pt>
              </c:numCache>
            </c:numRef>
          </c:val>
          <c:extLst>
            <c:ext xmlns:c16="http://schemas.microsoft.com/office/drawing/2014/chart" uri="{C3380CC4-5D6E-409C-BE32-E72D297353CC}">
              <c16:uniqueId val="{00000001-8F30-4095-B183-D55E6C46CBB8}"/>
            </c:ext>
          </c:extLst>
        </c:ser>
        <c:dLbls>
          <c:dLblPos val="ctr"/>
          <c:showLegendKey val="0"/>
          <c:showVal val="1"/>
          <c:showCatName val="0"/>
          <c:showSerName val="0"/>
          <c:showPercent val="0"/>
          <c:showBubbleSize val="0"/>
        </c:dLbls>
        <c:gapWidth val="150"/>
        <c:overlap val="100"/>
        <c:axId val="585721528"/>
        <c:axId val="585720088"/>
      </c:barChart>
      <c:catAx>
        <c:axId val="5857215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5720088"/>
        <c:crosses val="autoZero"/>
        <c:auto val="1"/>
        <c:lblAlgn val="ctr"/>
        <c:lblOffset val="100"/>
        <c:noMultiLvlLbl val="0"/>
      </c:catAx>
      <c:valAx>
        <c:axId val="58572008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572152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[Health Data (Heart Disease).xlsx]Identifying Correlations!PivotTable13</c:name>
    <c:fmtId val="18"/>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dirty="0">
                <a:solidFill>
                  <a:prstClr val="black">
                    <a:lumMod val="65000"/>
                    <a:lumOff val="35000"/>
                  </a:prstClr>
                </a:solidFill>
              </a:rPr>
              <a:t>Heart Disease by Family Heart Disease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'Identifying Correlations'!$C$24:$C$25</c:f>
              <c:strCache>
                <c:ptCount val="1"/>
                <c:pt idx="0">
                  <c:v>No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'Identifying Correlations'!$B$26:$B$28</c:f>
              <c:strCache>
                <c:ptCount val="2"/>
                <c:pt idx="0">
                  <c:v>No</c:v>
                </c:pt>
                <c:pt idx="1">
                  <c:v>Yes</c:v>
                </c:pt>
              </c:strCache>
            </c:strRef>
          </c:cat>
          <c:val>
            <c:numRef>
              <c:f>'Identifying Correlations'!$C$26:$C$28</c:f>
              <c:numCache>
                <c:formatCode>0.00%</c:formatCode>
                <c:ptCount val="2"/>
                <c:pt idx="0">
                  <c:v>0.79756195043964828</c:v>
                </c:pt>
                <c:pt idx="1">
                  <c:v>0.80301507537688444</c:v>
                </c:pt>
              </c:numCache>
            </c:numRef>
          </c:val>
          <c:extLst>
            <c:ext xmlns:c16="http://schemas.microsoft.com/office/drawing/2014/chart" uri="{C3380CC4-5D6E-409C-BE32-E72D297353CC}">
              <c16:uniqueId val="{00000000-BD80-428F-ACC3-DBAECF83D9BC}"/>
            </c:ext>
          </c:extLst>
        </c:ser>
        <c:ser>
          <c:idx val="1"/>
          <c:order val="1"/>
          <c:tx>
            <c:strRef>
              <c:f>'Identifying Correlations'!$D$24:$D$25</c:f>
              <c:strCache>
                <c:ptCount val="1"/>
                <c:pt idx="0">
                  <c:v>Yes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'Identifying Correlations'!$B$26:$B$28</c:f>
              <c:strCache>
                <c:ptCount val="2"/>
                <c:pt idx="0">
                  <c:v>No</c:v>
                </c:pt>
                <c:pt idx="1">
                  <c:v>Yes</c:v>
                </c:pt>
              </c:strCache>
            </c:strRef>
          </c:cat>
          <c:val>
            <c:numRef>
              <c:f>'Identifying Correlations'!$D$26:$D$28</c:f>
              <c:numCache>
                <c:formatCode>0.00%</c:formatCode>
                <c:ptCount val="2"/>
                <c:pt idx="0">
                  <c:v>0.20243804956035172</c:v>
                </c:pt>
                <c:pt idx="1">
                  <c:v>0.19698492462311556</c:v>
                </c:pt>
              </c:numCache>
            </c:numRef>
          </c:val>
          <c:extLst>
            <c:ext xmlns:c16="http://schemas.microsoft.com/office/drawing/2014/chart" uri="{C3380CC4-5D6E-409C-BE32-E72D297353CC}">
              <c16:uniqueId val="{00000001-BD80-428F-ACC3-DBAECF83D9BC}"/>
            </c:ext>
          </c:extLst>
        </c:ser>
        <c:dLbls>
          <c:dLblPos val="ctr"/>
          <c:showLegendKey val="0"/>
          <c:showVal val="1"/>
          <c:showCatName val="0"/>
          <c:showSerName val="0"/>
          <c:showPercent val="0"/>
          <c:showBubbleSize val="0"/>
        </c:dLbls>
        <c:gapWidth val="150"/>
        <c:overlap val="100"/>
        <c:axId val="585721888"/>
        <c:axId val="585720808"/>
      </c:barChart>
      <c:catAx>
        <c:axId val="5857218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5720808"/>
        <c:crosses val="autoZero"/>
        <c:auto val="1"/>
        <c:lblAlgn val="ctr"/>
        <c:lblOffset val="100"/>
        <c:noMultiLvlLbl val="0"/>
      </c:catAx>
      <c:valAx>
        <c:axId val="58572080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572188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[Health Data (Heart Disease).xlsx]Identifying Correlations!PivotTable14</c:name>
    <c:fmtId val="1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dirty="0">
                <a:solidFill>
                  <a:prstClr val="black">
                    <a:lumMod val="65000"/>
                    <a:lumOff val="35000"/>
                  </a:prstClr>
                </a:solidFill>
              </a:rPr>
              <a:t>Heart Disease by Diabetes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'Identifying Correlations'!$C$30:$C$31</c:f>
              <c:strCache>
                <c:ptCount val="1"/>
                <c:pt idx="0">
                  <c:v>No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'Identifying Correlations'!$B$32:$B$34</c:f>
              <c:strCache>
                <c:ptCount val="2"/>
                <c:pt idx="0">
                  <c:v>No</c:v>
                </c:pt>
                <c:pt idx="1">
                  <c:v>Yes</c:v>
                </c:pt>
              </c:strCache>
            </c:strRef>
          </c:cat>
          <c:val>
            <c:numRef>
              <c:f>'Identifying Correlations'!$C$32:$C$34</c:f>
              <c:numCache>
                <c:formatCode>0.00%</c:formatCode>
                <c:ptCount val="2"/>
                <c:pt idx="0">
                  <c:v>0.7989238740534077</c:v>
                </c:pt>
                <c:pt idx="1">
                  <c:v>0.8010904684975767</c:v>
                </c:pt>
              </c:numCache>
            </c:numRef>
          </c:val>
          <c:extLst>
            <c:ext xmlns:c16="http://schemas.microsoft.com/office/drawing/2014/chart" uri="{C3380CC4-5D6E-409C-BE32-E72D297353CC}">
              <c16:uniqueId val="{00000000-98B2-4FD4-B205-E21701DDD66A}"/>
            </c:ext>
          </c:extLst>
        </c:ser>
        <c:ser>
          <c:idx val="1"/>
          <c:order val="1"/>
          <c:tx>
            <c:strRef>
              <c:f>'Identifying Correlations'!$D$30:$D$31</c:f>
              <c:strCache>
                <c:ptCount val="1"/>
                <c:pt idx="0">
                  <c:v>Yes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'Identifying Correlations'!$B$32:$B$34</c:f>
              <c:strCache>
                <c:ptCount val="2"/>
                <c:pt idx="0">
                  <c:v>No</c:v>
                </c:pt>
                <c:pt idx="1">
                  <c:v>Yes</c:v>
                </c:pt>
              </c:strCache>
            </c:strRef>
          </c:cat>
          <c:val>
            <c:numRef>
              <c:f>'Identifying Correlations'!$D$32:$D$34</c:f>
              <c:numCache>
                <c:formatCode>0.00%</c:formatCode>
                <c:ptCount val="2"/>
                <c:pt idx="0">
                  <c:v>0.20107612594659227</c:v>
                </c:pt>
                <c:pt idx="1">
                  <c:v>0.19890953150242327</c:v>
                </c:pt>
              </c:numCache>
            </c:numRef>
          </c:val>
          <c:extLst>
            <c:ext xmlns:c16="http://schemas.microsoft.com/office/drawing/2014/chart" uri="{C3380CC4-5D6E-409C-BE32-E72D297353CC}">
              <c16:uniqueId val="{00000001-98B2-4FD4-B205-E21701DDD66A}"/>
            </c:ext>
          </c:extLst>
        </c:ser>
        <c:dLbls>
          <c:dLblPos val="ctr"/>
          <c:showLegendKey val="0"/>
          <c:showVal val="1"/>
          <c:showCatName val="0"/>
          <c:showSerName val="0"/>
          <c:showPercent val="0"/>
          <c:showBubbleSize val="0"/>
        </c:dLbls>
        <c:gapWidth val="150"/>
        <c:overlap val="100"/>
        <c:axId val="584936984"/>
        <c:axId val="584930864"/>
      </c:barChart>
      <c:catAx>
        <c:axId val="5849369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4930864"/>
        <c:crosses val="autoZero"/>
        <c:auto val="1"/>
        <c:lblAlgn val="ctr"/>
        <c:lblOffset val="100"/>
        <c:noMultiLvlLbl val="0"/>
      </c:catAx>
      <c:valAx>
        <c:axId val="584930864"/>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493698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Heart Disease by Age Group</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v>No</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Lit>
              <c:ptCount val="4"/>
              <c:pt idx="0">
                <c:v>0-19</c:v>
              </c:pt>
              <c:pt idx="1">
                <c:v>20-39</c:v>
              </c:pt>
              <c:pt idx="2">
                <c:v>40-59</c:v>
              </c:pt>
              <c:pt idx="3">
                <c:v>60-80</c:v>
              </c:pt>
            </c:strLit>
          </c:cat>
          <c:val>
            <c:numLit>
              <c:formatCode>General</c:formatCode>
              <c:ptCount val="4"/>
              <c:pt idx="0">
                <c:v>243</c:v>
              </c:pt>
              <c:pt idx="1">
                <c:v>2493</c:v>
              </c:pt>
              <c:pt idx="2">
                <c:v>2522</c:v>
              </c:pt>
              <c:pt idx="3">
                <c:v>2717</c:v>
              </c:pt>
            </c:numLit>
          </c:val>
          <c:extLst>
            <c:ext xmlns:c16="http://schemas.microsoft.com/office/drawing/2014/chart" uri="{C3380CC4-5D6E-409C-BE32-E72D297353CC}">
              <c16:uniqueId val="{00000000-C61D-4C91-B739-06314D05C897}"/>
            </c:ext>
          </c:extLst>
        </c:ser>
        <c:ser>
          <c:idx val="1"/>
          <c:order val="1"/>
          <c:tx>
            <c:v>Yes</c:v>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Lit>
              <c:ptCount val="4"/>
              <c:pt idx="0">
                <c:v>0-19</c:v>
              </c:pt>
              <c:pt idx="1">
                <c:v>20-39</c:v>
              </c:pt>
              <c:pt idx="2">
                <c:v>40-59</c:v>
              </c:pt>
              <c:pt idx="3">
                <c:v>60-80</c:v>
              </c:pt>
            </c:strLit>
          </c:cat>
          <c:val>
            <c:numLit>
              <c:formatCode>General</c:formatCode>
              <c:ptCount val="4"/>
              <c:pt idx="0">
                <c:v>61</c:v>
              </c:pt>
              <c:pt idx="1">
                <c:v>642</c:v>
              </c:pt>
              <c:pt idx="2">
                <c:v>616</c:v>
              </c:pt>
              <c:pt idx="3">
                <c:v>677</c:v>
              </c:pt>
            </c:numLit>
          </c:val>
          <c:extLst>
            <c:ext xmlns:c16="http://schemas.microsoft.com/office/drawing/2014/chart" uri="{C3380CC4-5D6E-409C-BE32-E72D297353CC}">
              <c16:uniqueId val="{00000001-C61D-4C91-B739-06314D05C897}"/>
            </c:ext>
          </c:extLst>
        </c:ser>
        <c:dLbls>
          <c:dLblPos val="outEnd"/>
          <c:showLegendKey val="0"/>
          <c:showVal val="1"/>
          <c:showCatName val="0"/>
          <c:showSerName val="0"/>
          <c:showPercent val="0"/>
          <c:showBubbleSize val="0"/>
        </c:dLbls>
        <c:gapWidth val="219"/>
        <c:overlap val="-27"/>
        <c:axId val="542108112"/>
        <c:axId val="542105648"/>
      </c:barChart>
      <c:catAx>
        <c:axId val="542108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2105648"/>
        <c:crosses val="autoZero"/>
        <c:auto val="1"/>
        <c:lblAlgn val="ctr"/>
        <c:lblOffset val="100"/>
        <c:noMultiLvlLbl val="0"/>
      </c:catAx>
      <c:valAx>
        <c:axId val="542105648"/>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210811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a:solidFill>
                  <a:sysClr val="windowText" lastClr="000000">
                    <a:lumMod val="65000"/>
                    <a:lumOff val="35000"/>
                  </a:sysClr>
                </a:solidFill>
              </a:rPr>
              <a:t>Heart Disease by BMI Category</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v>No</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Lit>
              <c:ptCount val="4"/>
              <c:pt idx="0">
                <c:v>Obese</c:v>
              </c:pt>
              <c:pt idx="1">
                <c:v>Overweight</c:v>
              </c:pt>
              <c:pt idx="2">
                <c:v>Normal</c:v>
              </c:pt>
              <c:pt idx="3">
                <c:v>Underweight</c:v>
              </c:pt>
            </c:strLit>
          </c:cat>
          <c:val>
            <c:numLit>
              <c:formatCode>General</c:formatCode>
              <c:ptCount val="4"/>
              <c:pt idx="0">
                <c:v>3659</c:v>
              </c:pt>
              <c:pt idx="1">
                <c:v>1899</c:v>
              </c:pt>
              <c:pt idx="2">
                <c:v>2259</c:v>
              </c:pt>
              <c:pt idx="3">
                <c:v>183</c:v>
              </c:pt>
            </c:numLit>
          </c:val>
          <c:extLst>
            <c:ext xmlns:c16="http://schemas.microsoft.com/office/drawing/2014/chart" uri="{C3380CC4-5D6E-409C-BE32-E72D297353CC}">
              <c16:uniqueId val="{00000000-634D-40E0-B5C9-6B3774005E71}"/>
            </c:ext>
          </c:extLst>
        </c:ser>
        <c:ser>
          <c:idx val="1"/>
          <c:order val="1"/>
          <c:tx>
            <c:v>Yes</c:v>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Lit>
              <c:ptCount val="4"/>
              <c:pt idx="0">
                <c:v>Obese</c:v>
              </c:pt>
              <c:pt idx="1">
                <c:v>Overweight</c:v>
              </c:pt>
              <c:pt idx="2">
                <c:v>Normal</c:v>
              </c:pt>
              <c:pt idx="3">
                <c:v>Underweight</c:v>
              </c:pt>
            </c:strLit>
          </c:cat>
          <c:val>
            <c:numLit>
              <c:formatCode>General</c:formatCode>
              <c:ptCount val="4"/>
              <c:pt idx="0">
                <c:v>963</c:v>
              </c:pt>
              <c:pt idx="1">
                <c:v>471</c:v>
              </c:pt>
              <c:pt idx="2">
                <c:v>517</c:v>
              </c:pt>
              <c:pt idx="3">
                <c:v>49</c:v>
              </c:pt>
            </c:numLit>
          </c:val>
          <c:extLst>
            <c:ext xmlns:c16="http://schemas.microsoft.com/office/drawing/2014/chart" uri="{C3380CC4-5D6E-409C-BE32-E72D297353CC}">
              <c16:uniqueId val="{00000001-634D-40E0-B5C9-6B3774005E71}"/>
            </c:ext>
          </c:extLst>
        </c:ser>
        <c:dLbls>
          <c:dLblPos val="outEnd"/>
          <c:showLegendKey val="0"/>
          <c:showVal val="1"/>
          <c:showCatName val="0"/>
          <c:showSerName val="0"/>
          <c:showPercent val="0"/>
          <c:showBubbleSize val="0"/>
        </c:dLbls>
        <c:gapWidth val="219"/>
        <c:overlap val="-27"/>
        <c:axId val="579623512"/>
        <c:axId val="579623864"/>
      </c:barChart>
      <c:catAx>
        <c:axId val="5796235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79623864"/>
        <c:crosses val="autoZero"/>
        <c:auto val="1"/>
        <c:lblAlgn val="ctr"/>
        <c:lblOffset val="100"/>
        <c:noMultiLvlLbl val="0"/>
      </c:catAx>
      <c:valAx>
        <c:axId val="57962386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7962351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[Health Data (Heart Disease).xlsx]Patient Risk Segmentation!PivotTable15</c:name>
    <c:fmtId val="1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dirty="0">
                <a:solidFill>
                  <a:prstClr val="black">
                    <a:lumMod val="65000"/>
                    <a:lumOff val="35000"/>
                  </a:prstClr>
                </a:solidFill>
              </a:rPr>
              <a:t>Heart Disease by Stress Level</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'Patient Risk Segmentation'!$C$3:$C$4</c:f>
              <c:strCache>
                <c:ptCount val="1"/>
                <c:pt idx="0">
                  <c:v>No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'Patient Risk Segmentation'!$B$5:$B$8</c:f>
              <c:strCache>
                <c:ptCount val="3"/>
                <c:pt idx="0">
                  <c:v>High</c:v>
                </c:pt>
                <c:pt idx="1">
                  <c:v>Medium</c:v>
                </c:pt>
                <c:pt idx="2">
                  <c:v>Low</c:v>
                </c:pt>
              </c:strCache>
            </c:strRef>
          </c:cat>
          <c:val>
            <c:numRef>
              <c:f>'Patient Risk Segmentation'!$C$5:$C$8</c:f>
              <c:numCache>
                <c:formatCode>General</c:formatCode>
                <c:ptCount val="3"/>
                <c:pt idx="0">
                  <c:v>1594</c:v>
                </c:pt>
                <c:pt idx="1">
                  <c:v>1758</c:v>
                </c:pt>
                <c:pt idx="2">
                  <c:v>1655</c:v>
                </c:pt>
              </c:numCache>
            </c:numRef>
          </c:val>
          <c:extLst>
            <c:ext xmlns:c16="http://schemas.microsoft.com/office/drawing/2014/chart" uri="{C3380CC4-5D6E-409C-BE32-E72D297353CC}">
              <c16:uniqueId val="{00000000-EC69-406C-9373-F1DE4C8B8370}"/>
            </c:ext>
          </c:extLst>
        </c:ser>
        <c:ser>
          <c:idx val="1"/>
          <c:order val="1"/>
          <c:tx>
            <c:strRef>
              <c:f>'Patient Risk Segmentation'!$D$3:$D$4</c:f>
              <c:strCache>
                <c:ptCount val="1"/>
                <c:pt idx="0">
                  <c:v>Yes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'Patient Risk Segmentation'!$B$5:$B$8</c:f>
              <c:strCache>
                <c:ptCount val="3"/>
                <c:pt idx="0">
                  <c:v>High</c:v>
                </c:pt>
                <c:pt idx="1">
                  <c:v>Medium</c:v>
                </c:pt>
                <c:pt idx="2">
                  <c:v>Low</c:v>
                </c:pt>
              </c:strCache>
            </c:strRef>
          </c:cat>
          <c:val>
            <c:numRef>
              <c:f>'Patient Risk Segmentation'!$D$5:$D$8</c:f>
              <c:numCache>
                <c:formatCode>General</c:formatCode>
                <c:ptCount val="3"/>
                <c:pt idx="0">
                  <c:v>1668</c:v>
                </c:pt>
                <c:pt idx="1">
                  <c:v>1617</c:v>
                </c:pt>
                <c:pt idx="2">
                  <c:v>1656</c:v>
                </c:pt>
              </c:numCache>
            </c:numRef>
          </c:val>
          <c:extLst>
            <c:ext xmlns:c16="http://schemas.microsoft.com/office/drawing/2014/chart" uri="{C3380CC4-5D6E-409C-BE32-E72D297353CC}">
              <c16:uniqueId val="{00000001-EC69-406C-9373-F1DE4C8B8370}"/>
            </c:ext>
          </c:extLst>
        </c:ser>
        <c:dLbls>
          <c:dLblPos val="outEnd"/>
          <c:showLegendKey val="0"/>
          <c:showVal val="1"/>
          <c:showCatName val="0"/>
          <c:showSerName val="0"/>
          <c:showPercent val="0"/>
          <c:showBubbleSize val="0"/>
        </c:dLbls>
        <c:gapWidth val="219"/>
        <c:overlap val="-27"/>
        <c:axId val="512373896"/>
        <c:axId val="512369216"/>
      </c:barChart>
      <c:catAx>
        <c:axId val="5123738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12369216"/>
        <c:crosses val="autoZero"/>
        <c:auto val="1"/>
        <c:lblAlgn val="ctr"/>
        <c:lblOffset val="100"/>
        <c:noMultiLvlLbl val="0"/>
      </c:catAx>
      <c:valAx>
        <c:axId val="51236921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1237389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[Health Data (Heart Disease).xlsx]Identifying Correlations!PivotTable10</c:name>
    <c:fmtId val="1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dirty="0">
                <a:solidFill>
                  <a:prstClr val="black">
                    <a:lumMod val="65000"/>
                    <a:lumOff val="35000"/>
                  </a:prstClr>
                </a:solidFill>
              </a:rPr>
              <a:t>Heart Disease by Exercise Habits</a:t>
            </a:r>
          </a:p>
        </c:rich>
      </c:tx>
      <c:overlay val="0"/>
      <c:spPr>
        <a:noFill/>
        <a:ln>
          <a:noFill/>
        </a:ln>
        <a:effectLst/>
      </c:spPr>
    </c:title>
    <c:autoTitleDeleted val="0"/>
    <c:pivotFmts>
      <c:pivotFmt>
        <c:idx val="0"/>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wrap="square" lIns="38100" tIns="19050" rIns="38100" bIns="19050" anchor="ctr">
              <a:spAutoFit/>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c:spPr>
        <c:marker>
          <c:symbol val="none"/>
        </c:marker>
        <c:dLbl>
          <c:idx val="0"/>
          <c:spPr>
            <a:noFill/>
            <a:ln>
              <a:noFill/>
            </a:ln>
            <a:effectLst/>
          </c:spPr>
          <c:txPr>
            <a:bodyPr wrap="square" lIns="38100" tIns="19050" rIns="38100" bIns="19050" anchor="ctr">
              <a:spAutoFit/>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wrap="square" lIns="38100" tIns="19050" rIns="38100" bIns="19050" anchor="ctr">
              <a:spAutoFit/>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2"/>
          </a:solidFill>
          <a:ln>
            <a:noFill/>
          </a:ln>
          <a:effectLst/>
        </c:spPr>
        <c:marker>
          <c:symbol val="none"/>
        </c:marker>
        <c:dLbl>
          <c:idx val="0"/>
          <c:spPr>
            <a:noFill/>
            <a:ln>
              <a:noFill/>
            </a:ln>
            <a:effectLst/>
          </c:spPr>
          <c:txPr>
            <a:bodyPr wrap="square" lIns="38100" tIns="19050" rIns="38100" bIns="19050" anchor="ctr">
              <a:spAutoFit/>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wrap="square" lIns="38100" tIns="19050" rIns="38100" bIns="19050" anchor="ctr">
              <a:spAutoFit/>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2"/>
          </a:solidFill>
          <a:ln>
            <a:noFill/>
          </a:ln>
          <a:effectLst/>
        </c:spPr>
        <c:marker>
          <c:symbol val="none"/>
        </c:marker>
        <c:dLbl>
          <c:idx val="0"/>
          <c:spPr>
            <a:noFill/>
            <a:ln>
              <a:noFill/>
            </a:ln>
            <a:effectLst/>
          </c:spPr>
          <c:txPr>
            <a:bodyPr wrap="square" lIns="38100" tIns="19050" rIns="38100" bIns="19050" anchor="ctr">
              <a:spAutoFit/>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'Identifying Correlations'!$C$3:$C$4</c:f>
              <c:strCache>
                <c:ptCount val="1"/>
                <c:pt idx="0">
                  <c:v>No</c:v>
                </c:pt>
              </c:strCache>
            </c:strRef>
          </c:tx>
          <c:spPr>
            <a:solidFill>
              <a:schemeClr val="accent1"/>
            </a:solidFill>
            <a:ln>
              <a:noFill/>
            </a:ln>
            <a:effectLst/>
          </c:spPr>
          <c:invertIfNegative val="0"/>
          <c:dLbls>
            <c:spPr>
              <a:noFill/>
              <a:ln>
                <a:noFill/>
              </a:ln>
              <a:effectLst/>
            </c:spPr>
            <c:txPr>
              <a:bodyPr wrap="square" lIns="38100" tIns="19050" rIns="38100" bIns="19050" anchor="ctr">
                <a:spAutoFit/>
              </a:bodyPr>
              <a:lstStyle/>
              <a:p>
                <a:pPr>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'Identifying Correlations'!$B$5:$B$8</c:f>
              <c:strCache>
                <c:ptCount val="3"/>
                <c:pt idx="0">
                  <c:v>High</c:v>
                </c:pt>
                <c:pt idx="1">
                  <c:v>Medium</c:v>
                </c:pt>
                <c:pt idx="2">
                  <c:v>Low</c:v>
                </c:pt>
              </c:strCache>
            </c:strRef>
          </c:cat>
          <c:val>
            <c:numRef>
              <c:f>'Identifying Correlations'!$C$5:$C$8</c:f>
              <c:numCache>
                <c:formatCode>0.00%</c:formatCode>
                <c:ptCount val="3"/>
                <c:pt idx="0">
                  <c:v>0.79982206405693945</c:v>
                </c:pt>
                <c:pt idx="1">
                  <c:v>0.79621848739495793</c:v>
                </c:pt>
                <c:pt idx="2">
                  <c:v>0.80281259553653317</c:v>
                </c:pt>
              </c:numCache>
            </c:numRef>
          </c:val>
          <c:extLst>
            <c:ext xmlns:c16="http://schemas.microsoft.com/office/drawing/2014/chart" uri="{C3380CC4-5D6E-409C-BE32-E72D297353CC}">
              <c16:uniqueId val="{00000000-99E9-4506-A02D-8CEEE86BDE9A}"/>
            </c:ext>
          </c:extLst>
        </c:ser>
        <c:ser>
          <c:idx val="1"/>
          <c:order val="1"/>
          <c:tx>
            <c:strRef>
              <c:f>'Identifying Correlations'!$D$3:$D$4</c:f>
              <c:strCache>
                <c:ptCount val="1"/>
                <c:pt idx="0">
                  <c:v>Yes</c:v>
                </c:pt>
              </c:strCache>
            </c:strRef>
          </c:tx>
          <c:spPr>
            <a:solidFill>
              <a:schemeClr val="accent2"/>
            </a:solidFill>
            <a:ln>
              <a:noFill/>
            </a:ln>
            <a:effectLst/>
          </c:spPr>
          <c:invertIfNegative val="0"/>
          <c:dLbls>
            <c:spPr>
              <a:noFill/>
              <a:ln>
                <a:noFill/>
              </a:ln>
              <a:effectLst/>
            </c:spPr>
            <c:txPr>
              <a:bodyPr wrap="square" lIns="38100" tIns="19050" rIns="38100" bIns="19050" anchor="ctr">
                <a:spAutoFit/>
              </a:bodyPr>
              <a:lstStyle/>
              <a:p>
                <a:pPr>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'Identifying Correlations'!$B$5:$B$8</c:f>
              <c:strCache>
                <c:ptCount val="3"/>
                <c:pt idx="0">
                  <c:v>High</c:v>
                </c:pt>
                <c:pt idx="1">
                  <c:v>Medium</c:v>
                </c:pt>
                <c:pt idx="2">
                  <c:v>Low</c:v>
                </c:pt>
              </c:strCache>
            </c:strRef>
          </c:cat>
          <c:val>
            <c:numRef>
              <c:f>'Identifying Correlations'!$D$5:$D$8</c:f>
              <c:numCache>
                <c:formatCode>0.00%</c:formatCode>
                <c:ptCount val="3"/>
                <c:pt idx="0">
                  <c:v>0.20017793594306049</c:v>
                </c:pt>
                <c:pt idx="1">
                  <c:v>0.20378151260504201</c:v>
                </c:pt>
                <c:pt idx="2">
                  <c:v>0.19718740446346683</c:v>
                </c:pt>
              </c:numCache>
            </c:numRef>
          </c:val>
          <c:extLst>
            <c:ext xmlns:c16="http://schemas.microsoft.com/office/drawing/2014/chart" uri="{C3380CC4-5D6E-409C-BE32-E72D297353CC}">
              <c16:uniqueId val="{00000001-99E9-4506-A02D-8CEEE86BDE9A}"/>
            </c:ext>
          </c:extLst>
        </c:ser>
        <c:dLbls>
          <c:dLblPos val="ctr"/>
          <c:showLegendKey val="0"/>
          <c:showVal val="1"/>
          <c:showCatName val="0"/>
          <c:showSerName val="0"/>
          <c:showPercent val="0"/>
          <c:showBubbleSize val="0"/>
        </c:dLbls>
        <c:gapWidth val="150"/>
        <c:overlap val="100"/>
        <c:axId val="360791488"/>
        <c:axId val="516099504"/>
      </c:barChart>
      <c:catAx>
        <c:axId val="36079148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16099504"/>
        <c:crosses val="autoZero"/>
        <c:auto val="1"/>
        <c:lblAlgn val="ctr"/>
        <c:lblOffset val="100"/>
        <c:noMultiLvlLbl val="0"/>
      </c:catAx>
      <c:valAx>
        <c:axId val="516099504"/>
        <c:scaling>
          <c:orientation val="minMax"/>
          <c:max val="1"/>
        </c:scaling>
        <c:delete val="0"/>
        <c:axPos val="l"/>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0791488"/>
        <c:crosses val="autoZero"/>
        <c:crossBetween val="between"/>
      </c:valAx>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spPr>
    <a:solidFill>
      <a:schemeClr val="bg1">
        <a:lumMod val="95000"/>
      </a:schemeClr>
    </a:solidFill>
  </c:spPr>
  <c:txPr>
    <a:bodyPr/>
    <a:lstStyle/>
    <a:p>
      <a:pPr>
        <a:defRPr/>
      </a:pPr>
      <a:endParaRPr lang="en-US"/>
    </a:p>
  </c:txPr>
  <c:externalData r:id="rId1">
    <c:autoUpdate val="0"/>
  </c:externalData>
  <c:extLst>
    <c:ext xmlns:c14="http://schemas.microsoft.com/office/drawing/2007/8/2/chart" uri="{781A3756-C4B2-4CAC-9D66-4F8BD8637D16}">
      <c14:pivotOptions>
        <c14:dropZoneFilter val="1"/>
        <c14:dropZoneCategories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[Health Data (Heart Disease).xlsx]Identifying Correlations!PivotTable11</c:name>
    <c:fmtId val="1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dirty="0">
                <a:solidFill>
                  <a:prstClr val="black">
                    <a:lumMod val="65000"/>
                    <a:lumOff val="35000"/>
                  </a:prstClr>
                </a:solidFill>
              </a:rPr>
              <a:t>Heart Disease by Cholesterol Level</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'Identifying Correlations'!$C$10:$C$11</c:f>
              <c:strCache>
                <c:ptCount val="1"/>
                <c:pt idx="0">
                  <c:v>No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'Identifying Correlations'!$B$12:$B$15</c:f>
              <c:strCache>
                <c:ptCount val="3"/>
                <c:pt idx="0">
                  <c:v>150-199</c:v>
                </c:pt>
                <c:pt idx="1">
                  <c:v>200-249</c:v>
                </c:pt>
                <c:pt idx="2">
                  <c:v>250-300</c:v>
                </c:pt>
              </c:strCache>
            </c:strRef>
          </c:cat>
          <c:val>
            <c:numRef>
              <c:f>'Identifying Correlations'!$C$12:$C$15</c:f>
              <c:numCache>
                <c:formatCode>0.00%</c:formatCode>
                <c:ptCount val="3"/>
                <c:pt idx="0">
                  <c:v>0.80273972602739729</c:v>
                </c:pt>
                <c:pt idx="1">
                  <c:v>0.80189834660134718</c:v>
                </c:pt>
                <c:pt idx="2">
                  <c:v>0.79526177244808427</c:v>
                </c:pt>
              </c:numCache>
            </c:numRef>
          </c:val>
          <c:extLst>
            <c:ext xmlns:c16="http://schemas.microsoft.com/office/drawing/2014/chart" uri="{C3380CC4-5D6E-409C-BE32-E72D297353CC}">
              <c16:uniqueId val="{00000000-B7BB-47F9-A90E-AE58589E182E}"/>
            </c:ext>
          </c:extLst>
        </c:ser>
        <c:ser>
          <c:idx val="1"/>
          <c:order val="1"/>
          <c:tx>
            <c:strRef>
              <c:f>'Identifying Correlations'!$D$10:$D$11</c:f>
              <c:strCache>
                <c:ptCount val="1"/>
                <c:pt idx="0">
                  <c:v>Yes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'Identifying Correlations'!$B$12:$B$15</c:f>
              <c:strCache>
                <c:ptCount val="3"/>
                <c:pt idx="0">
                  <c:v>150-199</c:v>
                </c:pt>
                <c:pt idx="1">
                  <c:v>200-249</c:v>
                </c:pt>
                <c:pt idx="2">
                  <c:v>250-300</c:v>
                </c:pt>
              </c:strCache>
            </c:strRef>
          </c:cat>
          <c:val>
            <c:numRef>
              <c:f>'Identifying Correlations'!$D$12:$D$15</c:f>
              <c:numCache>
                <c:formatCode>0.00%</c:formatCode>
                <c:ptCount val="3"/>
                <c:pt idx="0">
                  <c:v>0.19726027397260273</c:v>
                </c:pt>
                <c:pt idx="1">
                  <c:v>0.19810165339865279</c:v>
                </c:pt>
                <c:pt idx="2">
                  <c:v>0.20473822755191576</c:v>
                </c:pt>
              </c:numCache>
            </c:numRef>
          </c:val>
          <c:extLst>
            <c:ext xmlns:c16="http://schemas.microsoft.com/office/drawing/2014/chart" uri="{C3380CC4-5D6E-409C-BE32-E72D297353CC}">
              <c16:uniqueId val="{00000001-B7BB-47F9-A90E-AE58589E182E}"/>
            </c:ext>
          </c:extLst>
        </c:ser>
        <c:dLbls>
          <c:dLblPos val="ctr"/>
          <c:showLegendKey val="0"/>
          <c:showVal val="1"/>
          <c:showCatName val="0"/>
          <c:showSerName val="0"/>
          <c:showPercent val="0"/>
          <c:showBubbleSize val="0"/>
        </c:dLbls>
        <c:gapWidth val="150"/>
        <c:overlap val="100"/>
        <c:axId val="577017968"/>
        <c:axId val="577025888"/>
      </c:barChart>
      <c:catAx>
        <c:axId val="577017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77025888"/>
        <c:crosses val="autoZero"/>
        <c:auto val="1"/>
        <c:lblAlgn val="ctr"/>
        <c:lblOffset val="100"/>
        <c:noMultiLvlLbl val="0"/>
      </c:catAx>
      <c:valAx>
        <c:axId val="577025888"/>
        <c:scaling>
          <c:orientation val="minMax"/>
          <c:max val="1"/>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7701796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[Health Data (Heart Disease).xlsx]Identifying Correlations!PivotTable12</c:name>
    <c:fmtId val="19"/>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dirty="0">
                <a:solidFill>
                  <a:prstClr val="black">
                    <a:lumMod val="65000"/>
                    <a:lumOff val="35000"/>
                  </a:prstClr>
                </a:solidFill>
              </a:rPr>
              <a:t>Heart Disease by Smoking</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'Identifying Correlations'!$C$18:$C$19</c:f>
              <c:strCache>
                <c:ptCount val="1"/>
                <c:pt idx="0">
                  <c:v>No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'Identifying Correlations'!$B$20:$B$22</c:f>
              <c:strCache>
                <c:ptCount val="2"/>
                <c:pt idx="0">
                  <c:v>No</c:v>
                </c:pt>
                <c:pt idx="1">
                  <c:v>Yes</c:v>
                </c:pt>
              </c:strCache>
            </c:strRef>
          </c:cat>
          <c:val>
            <c:numRef>
              <c:f>'Identifying Correlations'!$C$20:$C$22</c:f>
              <c:numCache>
                <c:formatCode>0.00%</c:formatCode>
                <c:ptCount val="2"/>
                <c:pt idx="0">
                  <c:v>0.80111294311624071</c:v>
                </c:pt>
                <c:pt idx="1">
                  <c:v>0.79914112824516881</c:v>
                </c:pt>
              </c:numCache>
            </c:numRef>
          </c:val>
          <c:extLst>
            <c:ext xmlns:c16="http://schemas.microsoft.com/office/drawing/2014/chart" uri="{C3380CC4-5D6E-409C-BE32-E72D297353CC}">
              <c16:uniqueId val="{00000000-22E4-47D7-AAC4-FB0E44662418}"/>
            </c:ext>
          </c:extLst>
        </c:ser>
        <c:ser>
          <c:idx val="1"/>
          <c:order val="1"/>
          <c:tx>
            <c:strRef>
              <c:f>'Identifying Correlations'!$D$18:$D$19</c:f>
              <c:strCache>
                <c:ptCount val="1"/>
                <c:pt idx="0">
                  <c:v>Yes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'Identifying Correlations'!$B$20:$B$22</c:f>
              <c:strCache>
                <c:ptCount val="2"/>
                <c:pt idx="0">
                  <c:v>No</c:v>
                </c:pt>
                <c:pt idx="1">
                  <c:v>Yes</c:v>
                </c:pt>
              </c:strCache>
            </c:strRef>
          </c:cat>
          <c:val>
            <c:numRef>
              <c:f>'Identifying Correlations'!$D$20:$D$22</c:f>
              <c:numCache>
                <c:formatCode>0.00%</c:formatCode>
                <c:ptCount val="2"/>
                <c:pt idx="0">
                  <c:v>0.19888705688375927</c:v>
                </c:pt>
                <c:pt idx="1">
                  <c:v>0.20085887175483116</c:v>
                </c:pt>
              </c:numCache>
            </c:numRef>
          </c:val>
          <c:extLst>
            <c:ext xmlns:c16="http://schemas.microsoft.com/office/drawing/2014/chart" uri="{C3380CC4-5D6E-409C-BE32-E72D297353CC}">
              <c16:uniqueId val="{00000001-22E4-47D7-AAC4-FB0E44662418}"/>
            </c:ext>
          </c:extLst>
        </c:ser>
        <c:dLbls>
          <c:dLblPos val="ctr"/>
          <c:showLegendKey val="0"/>
          <c:showVal val="1"/>
          <c:showCatName val="0"/>
          <c:showSerName val="0"/>
          <c:showPercent val="0"/>
          <c:showBubbleSize val="0"/>
        </c:dLbls>
        <c:gapWidth val="150"/>
        <c:overlap val="100"/>
        <c:axId val="585721528"/>
        <c:axId val="585720088"/>
      </c:barChart>
      <c:catAx>
        <c:axId val="5857215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5720088"/>
        <c:crosses val="autoZero"/>
        <c:auto val="1"/>
        <c:lblAlgn val="ctr"/>
        <c:lblOffset val="100"/>
        <c:noMultiLvlLbl val="0"/>
      </c:catAx>
      <c:valAx>
        <c:axId val="585720088"/>
        <c:scaling>
          <c:orientation val="minMax"/>
          <c:max val="1"/>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572152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[Health Data (Heart Disease).xlsx]Identifying Correlations!PivotTable13</c:name>
    <c:fmtId val="20"/>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dirty="0">
                <a:solidFill>
                  <a:prstClr val="black">
                    <a:lumMod val="65000"/>
                    <a:lumOff val="35000"/>
                  </a:prstClr>
                </a:solidFill>
              </a:rPr>
              <a:t>Heart Disease by Family Heart Disease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'Identifying Correlations'!$C$24:$C$25</c:f>
              <c:strCache>
                <c:ptCount val="1"/>
                <c:pt idx="0">
                  <c:v>No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'Identifying Correlations'!$B$26:$B$28</c:f>
              <c:strCache>
                <c:ptCount val="2"/>
                <c:pt idx="0">
                  <c:v>No</c:v>
                </c:pt>
                <c:pt idx="1">
                  <c:v>Yes</c:v>
                </c:pt>
              </c:strCache>
            </c:strRef>
          </c:cat>
          <c:val>
            <c:numRef>
              <c:f>'Identifying Correlations'!$C$26:$C$28</c:f>
              <c:numCache>
                <c:formatCode>0.00%</c:formatCode>
                <c:ptCount val="2"/>
                <c:pt idx="0">
                  <c:v>0.79756195043964828</c:v>
                </c:pt>
                <c:pt idx="1">
                  <c:v>0.80301507537688444</c:v>
                </c:pt>
              </c:numCache>
            </c:numRef>
          </c:val>
          <c:extLst>
            <c:ext xmlns:c16="http://schemas.microsoft.com/office/drawing/2014/chart" uri="{C3380CC4-5D6E-409C-BE32-E72D297353CC}">
              <c16:uniqueId val="{00000000-F9E5-4359-83A8-19F4A0524ED2}"/>
            </c:ext>
          </c:extLst>
        </c:ser>
        <c:ser>
          <c:idx val="1"/>
          <c:order val="1"/>
          <c:tx>
            <c:strRef>
              <c:f>'Identifying Correlations'!$D$24:$D$25</c:f>
              <c:strCache>
                <c:ptCount val="1"/>
                <c:pt idx="0">
                  <c:v>Yes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'Identifying Correlations'!$B$26:$B$28</c:f>
              <c:strCache>
                <c:ptCount val="2"/>
                <c:pt idx="0">
                  <c:v>No</c:v>
                </c:pt>
                <c:pt idx="1">
                  <c:v>Yes</c:v>
                </c:pt>
              </c:strCache>
            </c:strRef>
          </c:cat>
          <c:val>
            <c:numRef>
              <c:f>'Identifying Correlations'!$D$26:$D$28</c:f>
              <c:numCache>
                <c:formatCode>0.00%</c:formatCode>
                <c:ptCount val="2"/>
                <c:pt idx="0">
                  <c:v>0.20243804956035172</c:v>
                </c:pt>
                <c:pt idx="1">
                  <c:v>0.19698492462311556</c:v>
                </c:pt>
              </c:numCache>
            </c:numRef>
          </c:val>
          <c:extLst>
            <c:ext xmlns:c16="http://schemas.microsoft.com/office/drawing/2014/chart" uri="{C3380CC4-5D6E-409C-BE32-E72D297353CC}">
              <c16:uniqueId val="{00000001-F9E5-4359-83A8-19F4A0524ED2}"/>
            </c:ext>
          </c:extLst>
        </c:ser>
        <c:dLbls>
          <c:dLblPos val="ctr"/>
          <c:showLegendKey val="0"/>
          <c:showVal val="1"/>
          <c:showCatName val="0"/>
          <c:showSerName val="0"/>
          <c:showPercent val="0"/>
          <c:showBubbleSize val="0"/>
        </c:dLbls>
        <c:gapWidth val="150"/>
        <c:overlap val="100"/>
        <c:axId val="585721888"/>
        <c:axId val="585720808"/>
      </c:barChart>
      <c:catAx>
        <c:axId val="5857218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5720808"/>
        <c:crosses val="autoZero"/>
        <c:auto val="1"/>
        <c:lblAlgn val="ctr"/>
        <c:lblOffset val="100"/>
        <c:noMultiLvlLbl val="0"/>
      </c:catAx>
      <c:valAx>
        <c:axId val="585720808"/>
        <c:scaling>
          <c:orientation val="minMax"/>
          <c:max val="1"/>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572188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[Health Data (Heart Disease).xlsx]Identifying Correlations!PivotTable14</c:name>
    <c:fmtId val="1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dirty="0">
                <a:solidFill>
                  <a:prstClr val="black">
                    <a:lumMod val="65000"/>
                    <a:lumOff val="35000"/>
                  </a:prstClr>
                </a:solidFill>
              </a:rPr>
              <a:t>Heart Disease by Diabetes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'Identifying Correlations'!$C$30:$C$31</c:f>
              <c:strCache>
                <c:ptCount val="1"/>
                <c:pt idx="0">
                  <c:v>No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'Identifying Correlations'!$B$32:$B$34</c:f>
              <c:strCache>
                <c:ptCount val="2"/>
                <c:pt idx="0">
                  <c:v>No</c:v>
                </c:pt>
                <c:pt idx="1">
                  <c:v>Yes</c:v>
                </c:pt>
              </c:strCache>
            </c:strRef>
          </c:cat>
          <c:val>
            <c:numRef>
              <c:f>'Identifying Correlations'!$C$32:$C$34</c:f>
              <c:numCache>
                <c:formatCode>0.00%</c:formatCode>
                <c:ptCount val="2"/>
                <c:pt idx="0">
                  <c:v>0.7989238740534077</c:v>
                </c:pt>
                <c:pt idx="1">
                  <c:v>0.8010904684975767</c:v>
                </c:pt>
              </c:numCache>
            </c:numRef>
          </c:val>
          <c:extLst>
            <c:ext xmlns:c16="http://schemas.microsoft.com/office/drawing/2014/chart" uri="{C3380CC4-5D6E-409C-BE32-E72D297353CC}">
              <c16:uniqueId val="{00000000-9E3A-4697-9E3F-27B2203323C1}"/>
            </c:ext>
          </c:extLst>
        </c:ser>
        <c:ser>
          <c:idx val="1"/>
          <c:order val="1"/>
          <c:tx>
            <c:strRef>
              <c:f>'Identifying Correlations'!$D$30:$D$31</c:f>
              <c:strCache>
                <c:ptCount val="1"/>
                <c:pt idx="0">
                  <c:v>Yes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'Identifying Correlations'!$B$32:$B$34</c:f>
              <c:strCache>
                <c:ptCount val="2"/>
                <c:pt idx="0">
                  <c:v>No</c:v>
                </c:pt>
                <c:pt idx="1">
                  <c:v>Yes</c:v>
                </c:pt>
              </c:strCache>
            </c:strRef>
          </c:cat>
          <c:val>
            <c:numRef>
              <c:f>'Identifying Correlations'!$D$32:$D$34</c:f>
              <c:numCache>
                <c:formatCode>0.00%</c:formatCode>
                <c:ptCount val="2"/>
                <c:pt idx="0">
                  <c:v>0.20107612594659227</c:v>
                </c:pt>
                <c:pt idx="1">
                  <c:v>0.19890953150242327</c:v>
                </c:pt>
              </c:numCache>
            </c:numRef>
          </c:val>
          <c:extLst>
            <c:ext xmlns:c16="http://schemas.microsoft.com/office/drawing/2014/chart" uri="{C3380CC4-5D6E-409C-BE32-E72D297353CC}">
              <c16:uniqueId val="{00000001-9E3A-4697-9E3F-27B2203323C1}"/>
            </c:ext>
          </c:extLst>
        </c:ser>
        <c:dLbls>
          <c:dLblPos val="ctr"/>
          <c:showLegendKey val="0"/>
          <c:showVal val="1"/>
          <c:showCatName val="0"/>
          <c:showSerName val="0"/>
          <c:showPercent val="0"/>
          <c:showBubbleSize val="0"/>
        </c:dLbls>
        <c:gapWidth val="150"/>
        <c:overlap val="100"/>
        <c:axId val="584936984"/>
        <c:axId val="584930864"/>
      </c:barChart>
      <c:catAx>
        <c:axId val="5849369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4930864"/>
        <c:crosses val="autoZero"/>
        <c:auto val="1"/>
        <c:lblAlgn val="ctr"/>
        <c:lblOffset val="100"/>
        <c:noMultiLvlLbl val="0"/>
      </c:catAx>
      <c:valAx>
        <c:axId val="584930864"/>
        <c:scaling>
          <c:orientation val="minMax"/>
          <c:max val="1"/>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493698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AB5F7-37F3-B1E4-E5F5-3ED012A3E47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3AAAED4-06B0-0C1E-C33E-62CA34E539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4235A50-25F8-CC89-CA43-9899BE9BFE94}"/>
              </a:ext>
            </a:extLst>
          </p:cNvPr>
          <p:cNvSpPr>
            <a:spLocks noGrp="1"/>
          </p:cNvSpPr>
          <p:nvPr>
            <p:ph type="dt" sz="half" idx="10"/>
          </p:nvPr>
        </p:nvSpPr>
        <p:spPr/>
        <p:txBody>
          <a:bodyPr/>
          <a:lstStyle/>
          <a:p>
            <a:fld id="{22A25C02-A1E1-43FF-9C22-412049AA1F3D}" type="datetimeFigureOut">
              <a:rPr lang="en-US" smtClean="0"/>
              <a:t>8/3/2026</a:t>
            </a:fld>
            <a:endParaRPr lang="en-US"/>
          </a:p>
        </p:txBody>
      </p:sp>
      <p:sp>
        <p:nvSpPr>
          <p:cNvPr id="5" name="Footer Placeholder 4">
            <a:extLst>
              <a:ext uri="{FF2B5EF4-FFF2-40B4-BE49-F238E27FC236}">
                <a16:creationId xmlns:a16="http://schemas.microsoft.com/office/drawing/2014/main" id="{E42CD7AD-D867-8D80-507C-8E9805006F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95EF5E-A9CC-9D79-ADE3-065058FCB55A}"/>
              </a:ext>
            </a:extLst>
          </p:cNvPr>
          <p:cNvSpPr>
            <a:spLocks noGrp="1"/>
          </p:cNvSpPr>
          <p:nvPr>
            <p:ph type="sldNum" sz="quarter" idx="12"/>
          </p:nvPr>
        </p:nvSpPr>
        <p:spPr/>
        <p:txBody>
          <a:bodyPr/>
          <a:lstStyle/>
          <a:p>
            <a:fld id="{FCE48BE1-E470-448F-88F1-FF5FCCDB00D4}" type="slidenum">
              <a:rPr lang="en-US" smtClean="0"/>
              <a:t>‹#›</a:t>
            </a:fld>
            <a:endParaRPr lang="en-US"/>
          </a:p>
        </p:txBody>
      </p:sp>
    </p:spTree>
    <p:extLst>
      <p:ext uri="{BB962C8B-B14F-4D97-AF65-F5344CB8AC3E}">
        <p14:creationId xmlns:p14="http://schemas.microsoft.com/office/powerpoint/2010/main" val="368748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01551-D062-0D02-20F0-312BD576DC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6C19B6-B8A8-21FF-CBBE-B1393898E3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CB9F0B-8774-60B5-46C1-162F0F298700}"/>
              </a:ext>
            </a:extLst>
          </p:cNvPr>
          <p:cNvSpPr>
            <a:spLocks noGrp="1"/>
          </p:cNvSpPr>
          <p:nvPr>
            <p:ph type="dt" sz="half" idx="10"/>
          </p:nvPr>
        </p:nvSpPr>
        <p:spPr/>
        <p:txBody>
          <a:bodyPr/>
          <a:lstStyle/>
          <a:p>
            <a:fld id="{22A25C02-A1E1-43FF-9C22-412049AA1F3D}" type="datetimeFigureOut">
              <a:rPr lang="en-US" smtClean="0"/>
              <a:t>8/3/2026</a:t>
            </a:fld>
            <a:endParaRPr lang="en-US"/>
          </a:p>
        </p:txBody>
      </p:sp>
      <p:sp>
        <p:nvSpPr>
          <p:cNvPr id="5" name="Footer Placeholder 4">
            <a:extLst>
              <a:ext uri="{FF2B5EF4-FFF2-40B4-BE49-F238E27FC236}">
                <a16:creationId xmlns:a16="http://schemas.microsoft.com/office/drawing/2014/main" id="{54ACB286-3E5F-12B2-3F61-C1D4C529C1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5BD7DD-2824-EC38-3BF5-D85FA220560D}"/>
              </a:ext>
            </a:extLst>
          </p:cNvPr>
          <p:cNvSpPr>
            <a:spLocks noGrp="1"/>
          </p:cNvSpPr>
          <p:nvPr>
            <p:ph type="sldNum" sz="quarter" idx="12"/>
          </p:nvPr>
        </p:nvSpPr>
        <p:spPr/>
        <p:txBody>
          <a:bodyPr/>
          <a:lstStyle/>
          <a:p>
            <a:fld id="{FCE48BE1-E470-448F-88F1-FF5FCCDB00D4}" type="slidenum">
              <a:rPr lang="en-US" smtClean="0"/>
              <a:t>‹#›</a:t>
            </a:fld>
            <a:endParaRPr lang="en-US"/>
          </a:p>
        </p:txBody>
      </p:sp>
    </p:spTree>
    <p:extLst>
      <p:ext uri="{BB962C8B-B14F-4D97-AF65-F5344CB8AC3E}">
        <p14:creationId xmlns:p14="http://schemas.microsoft.com/office/powerpoint/2010/main" val="20609858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4BFA4-9F74-A31F-59E7-52BD455FFA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2311D54-0FB9-DA53-89A7-7AAA596603F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8A7CE76-0055-5CF8-F0AA-30BB9AF86FA7}"/>
              </a:ext>
            </a:extLst>
          </p:cNvPr>
          <p:cNvSpPr>
            <a:spLocks noGrp="1"/>
          </p:cNvSpPr>
          <p:nvPr>
            <p:ph type="dt" sz="half" idx="10"/>
          </p:nvPr>
        </p:nvSpPr>
        <p:spPr/>
        <p:txBody>
          <a:bodyPr/>
          <a:lstStyle/>
          <a:p>
            <a:fld id="{22A25C02-A1E1-43FF-9C22-412049AA1F3D}" type="datetimeFigureOut">
              <a:rPr lang="en-US" smtClean="0"/>
              <a:t>8/3/2026</a:t>
            </a:fld>
            <a:endParaRPr lang="en-US"/>
          </a:p>
        </p:txBody>
      </p:sp>
      <p:sp>
        <p:nvSpPr>
          <p:cNvPr id="5" name="Footer Placeholder 4">
            <a:extLst>
              <a:ext uri="{FF2B5EF4-FFF2-40B4-BE49-F238E27FC236}">
                <a16:creationId xmlns:a16="http://schemas.microsoft.com/office/drawing/2014/main" id="{F6BF7AEF-E267-A486-80D2-4F411AEF5E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AB5FF3-6F7D-406D-3DF0-857BA424AB75}"/>
              </a:ext>
            </a:extLst>
          </p:cNvPr>
          <p:cNvSpPr>
            <a:spLocks noGrp="1"/>
          </p:cNvSpPr>
          <p:nvPr>
            <p:ph type="sldNum" sz="quarter" idx="12"/>
          </p:nvPr>
        </p:nvSpPr>
        <p:spPr/>
        <p:txBody>
          <a:bodyPr/>
          <a:lstStyle/>
          <a:p>
            <a:fld id="{FCE48BE1-E470-448F-88F1-FF5FCCDB00D4}" type="slidenum">
              <a:rPr lang="en-US" smtClean="0"/>
              <a:t>‹#›</a:t>
            </a:fld>
            <a:endParaRPr lang="en-US"/>
          </a:p>
        </p:txBody>
      </p:sp>
    </p:spTree>
    <p:extLst>
      <p:ext uri="{BB962C8B-B14F-4D97-AF65-F5344CB8AC3E}">
        <p14:creationId xmlns:p14="http://schemas.microsoft.com/office/powerpoint/2010/main" val="1800562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9FFEE-B1F5-A3D1-628A-7F011BB0E5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F289AA8-30A1-FC3D-160D-B916BDB501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5999675-2478-8DB8-10E2-623E68FE53E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AC5DD2-34FB-3B0E-83DB-F63A2B95ADAC}"/>
              </a:ext>
            </a:extLst>
          </p:cNvPr>
          <p:cNvSpPr>
            <a:spLocks noGrp="1"/>
          </p:cNvSpPr>
          <p:nvPr>
            <p:ph type="dt" sz="half" idx="10"/>
          </p:nvPr>
        </p:nvSpPr>
        <p:spPr/>
        <p:txBody>
          <a:bodyPr/>
          <a:lstStyle/>
          <a:p>
            <a:fld id="{22A25C02-A1E1-43FF-9C22-412049AA1F3D}" type="datetimeFigureOut">
              <a:rPr lang="en-US" smtClean="0"/>
              <a:t>8/3/2026</a:t>
            </a:fld>
            <a:endParaRPr lang="en-US"/>
          </a:p>
        </p:txBody>
      </p:sp>
      <p:sp>
        <p:nvSpPr>
          <p:cNvPr id="6" name="Footer Placeholder 5">
            <a:extLst>
              <a:ext uri="{FF2B5EF4-FFF2-40B4-BE49-F238E27FC236}">
                <a16:creationId xmlns:a16="http://schemas.microsoft.com/office/drawing/2014/main" id="{A6ACD568-A881-C125-5D83-161447B2AF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43041A-4F17-8C5F-5296-7BCD4376A3B0}"/>
              </a:ext>
            </a:extLst>
          </p:cNvPr>
          <p:cNvSpPr>
            <a:spLocks noGrp="1"/>
          </p:cNvSpPr>
          <p:nvPr>
            <p:ph type="sldNum" sz="quarter" idx="12"/>
          </p:nvPr>
        </p:nvSpPr>
        <p:spPr/>
        <p:txBody>
          <a:bodyPr/>
          <a:lstStyle/>
          <a:p>
            <a:fld id="{FCE48BE1-E470-448F-88F1-FF5FCCDB00D4}" type="slidenum">
              <a:rPr lang="en-US" smtClean="0"/>
              <a:t>‹#›</a:t>
            </a:fld>
            <a:endParaRPr lang="en-US"/>
          </a:p>
        </p:txBody>
      </p:sp>
    </p:spTree>
    <p:extLst>
      <p:ext uri="{BB962C8B-B14F-4D97-AF65-F5344CB8AC3E}">
        <p14:creationId xmlns:p14="http://schemas.microsoft.com/office/powerpoint/2010/main" val="622910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572BE-EEBC-4427-0B76-BAEA5F1B08B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C9C86DA-6ADB-C7AB-8ED9-E63B84873A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B1DC66E-888F-5CC0-0FF0-6562C1515C2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EAFAF3A-BC0C-F1D5-DDF9-F146C4F733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83E2E8B-47BE-11DB-A1A5-87E9669C41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621035F-CED1-C96A-550A-6F907BAF1978}"/>
              </a:ext>
            </a:extLst>
          </p:cNvPr>
          <p:cNvSpPr>
            <a:spLocks noGrp="1"/>
          </p:cNvSpPr>
          <p:nvPr>
            <p:ph type="dt" sz="half" idx="10"/>
          </p:nvPr>
        </p:nvSpPr>
        <p:spPr/>
        <p:txBody>
          <a:bodyPr/>
          <a:lstStyle/>
          <a:p>
            <a:fld id="{22A25C02-A1E1-43FF-9C22-412049AA1F3D}" type="datetimeFigureOut">
              <a:rPr lang="en-US" smtClean="0"/>
              <a:t>8/3/2026</a:t>
            </a:fld>
            <a:endParaRPr lang="en-US"/>
          </a:p>
        </p:txBody>
      </p:sp>
      <p:sp>
        <p:nvSpPr>
          <p:cNvPr id="8" name="Footer Placeholder 7">
            <a:extLst>
              <a:ext uri="{FF2B5EF4-FFF2-40B4-BE49-F238E27FC236}">
                <a16:creationId xmlns:a16="http://schemas.microsoft.com/office/drawing/2014/main" id="{0975CD27-A3A7-07CA-6EFA-66966354FFE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C58B4F-780A-134A-A4A7-EF89B482D722}"/>
              </a:ext>
            </a:extLst>
          </p:cNvPr>
          <p:cNvSpPr>
            <a:spLocks noGrp="1"/>
          </p:cNvSpPr>
          <p:nvPr>
            <p:ph type="sldNum" sz="quarter" idx="12"/>
          </p:nvPr>
        </p:nvSpPr>
        <p:spPr/>
        <p:txBody>
          <a:bodyPr/>
          <a:lstStyle/>
          <a:p>
            <a:fld id="{FCE48BE1-E470-448F-88F1-FF5FCCDB00D4}" type="slidenum">
              <a:rPr lang="en-US" smtClean="0"/>
              <a:t>‹#›</a:t>
            </a:fld>
            <a:endParaRPr lang="en-US"/>
          </a:p>
        </p:txBody>
      </p:sp>
    </p:spTree>
    <p:extLst>
      <p:ext uri="{BB962C8B-B14F-4D97-AF65-F5344CB8AC3E}">
        <p14:creationId xmlns:p14="http://schemas.microsoft.com/office/powerpoint/2010/main" val="2263976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B8ABA-925A-3726-64AF-5C660B85B70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141CF57-47BC-6497-9D4E-DB2A3A53DD62}"/>
              </a:ext>
            </a:extLst>
          </p:cNvPr>
          <p:cNvSpPr>
            <a:spLocks noGrp="1"/>
          </p:cNvSpPr>
          <p:nvPr>
            <p:ph type="dt" sz="half" idx="10"/>
          </p:nvPr>
        </p:nvSpPr>
        <p:spPr/>
        <p:txBody>
          <a:bodyPr/>
          <a:lstStyle/>
          <a:p>
            <a:fld id="{22A25C02-A1E1-43FF-9C22-412049AA1F3D}" type="datetimeFigureOut">
              <a:rPr lang="en-US" smtClean="0"/>
              <a:t>8/3/2026</a:t>
            </a:fld>
            <a:endParaRPr lang="en-US"/>
          </a:p>
        </p:txBody>
      </p:sp>
      <p:sp>
        <p:nvSpPr>
          <p:cNvPr id="4" name="Footer Placeholder 3">
            <a:extLst>
              <a:ext uri="{FF2B5EF4-FFF2-40B4-BE49-F238E27FC236}">
                <a16:creationId xmlns:a16="http://schemas.microsoft.com/office/drawing/2014/main" id="{9A772729-379E-8E92-D272-2B1A836D0AF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C907DA9-53D5-2D93-540D-69B9B7C96A42}"/>
              </a:ext>
            </a:extLst>
          </p:cNvPr>
          <p:cNvSpPr>
            <a:spLocks noGrp="1"/>
          </p:cNvSpPr>
          <p:nvPr>
            <p:ph type="sldNum" sz="quarter" idx="12"/>
          </p:nvPr>
        </p:nvSpPr>
        <p:spPr/>
        <p:txBody>
          <a:bodyPr/>
          <a:lstStyle/>
          <a:p>
            <a:fld id="{FCE48BE1-E470-448F-88F1-FF5FCCDB00D4}" type="slidenum">
              <a:rPr lang="en-US" smtClean="0"/>
              <a:t>‹#›</a:t>
            </a:fld>
            <a:endParaRPr lang="en-US"/>
          </a:p>
        </p:txBody>
      </p:sp>
    </p:spTree>
    <p:extLst>
      <p:ext uri="{BB962C8B-B14F-4D97-AF65-F5344CB8AC3E}">
        <p14:creationId xmlns:p14="http://schemas.microsoft.com/office/powerpoint/2010/main" val="553371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EB0A30-A5CD-366C-C498-D69680743B13}"/>
              </a:ext>
            </a:extLst>
          </p:cNvPr>
          <p:cNvSpPr>
            <a:spLocks noGrp="1"/>
          </p:cNvSpPr>
          <p:nvPr>
            <p:ph type="dt" sz="half" idx="10"/>
          </p:nvPr>
        </p:nvSpPr>
        <p:spPr/>
        <p:txBody>
          <a:bodyPr/>
          <a:lstStyle/>
          <a:p>
            <a:fld id="{22A25C02-A1E1-43FF-9C22-412049AA1F3D}" type="datetimeFigureOut">
              <a:rPr lang="en-US" smtClean="0"/>
              <a:t>8/3/2026</a:t>
            </a:fld>
            <a:endParaRPr lang="en-US"/>
          </a:p>
        </p:txBody>
      </p:sp>
      <p:sp>
        <p:nvSpPr>
          <p:cNvPr id="3" name="Footer Placeholder 2">
            <a:extLst>
              <a:ext uri="{FF2B5EF4-FFF2-40B4-BE49-F238E27FC236}">
                <a16:creationId xmlns:a16="http://schemas.microsoft.com/office/drawing/2014/main" id="{6224A86C-EE01-8967-53B3-F2A9A0A03C7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C534A1B-7C78-7E25-C90A-91BE09A5D8D2}"/>
              </a:ext>
            </a:extLst>
          </p:cNvPr>
          <p:cNvSpPr>
            <a:spLocks noGrp="1"/>
          </p:cNvSpPr>
          <p:nvPr>
            <p:ph type="sldNum" sz="quarter" idx="12"/>
          </p:nvPr>
        </p:nvSpPr>
        <p:spPr/>
        <p:txBody>
          <a:bodyPr/>
          <a:lstStyle/>
          <a:p>
            <a:fld id="{FCE48BE1-E470-448F-88F1-FF5FCCDB00D4}" type="slidenum">
              <a:rPr lang="en-US" smtClean="0"/>
              <a:t>‹#›</a:t>
            </a:fld>
            <a:endParaRPr lang="en-US"/>
          </a:p>
        </p:txBody>
      </p:sp>
    </p:spTree>
    <p:extLst>
      <p:ext uri="{BB962C8B-B14F-4D97-AF65-F5344CB8AC3E}">
        <p14:creationId xmlns:p14="http://schemas.microsoft.com/office/powerpoint/2010/main" val="1910161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64878-95EA-29CE-B511-A1F552AAE6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6622254-A7AC-81CB-E7BA-254BA6D15B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EC071FA-8BA3-9825-7F62-BB4A194C81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6C35B8-B323-B2AA-DC7D-6CFDB4FB78FD}"/>
              </a:ext>
            </a:extLst>
          </p:cNvPr>
          <p:cNvSpPr>
            <a:spLocks noGrp="1"/>
          </p:cNvSpPr>
          <p:nvPr>
            <p:ph type="dt" sz="half" idx="10"/>
          </p:nvPr>
        </p:nvSpPr>
        <p:spPr/>
        <p:txBody>
          <a:bodyPr/>
          <a:lstStyle/>
          <a:p>
            <a:fld id="{22A25C02-A1E1-43FF-9C22-412049AA1F3D}" type="datetimeFigureOut">
              <a:rPr lang="en-US" smtClean="0"/>
              <a:t>8/3/2026</a:t>
            </a:fld>
            <a:endParaRPr lang="en-US"/>
          </a:p>
        </p:txBody>
      </p:sp>
      <p:sp>
        <p:nvSpPr>
          <p:cNvPr id="6" name="Footer Placeholder 5">
            <a:extLst>
              <a:ext uri="{FF2B5EF4-FFF2-40B4-BE49-F238E27FC236}">
                <a16:creationId xmlns:a16="http://schemas.microsoft.com/office/drawing/2014/main" id="{28715D50-9CD4-88E5-BE0F-434ADE4025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B97A7D-BF3F-1ED3-6561-99D09C3917AE}"/>
              </a:ext>
            </a:extLst>
          </p:cNvPr>
          <p:cNvSpPr>
            <a:spLocks noGrp="1"/>
          </p:cNvSpPr>
          <p:nvPr>
            <p:ph type="sldNum" sz="quarter" idx="12"/>
          </p:nvPr>
        </p:nvSpPr>
        <p:spPr/>
        <p:txBody>
          <a:bodyPr/>
          <a:lstStyle/>
          <a:p>
            <a:fld id="{FCE48BE1-E470-448F-88F1-FF5FCCDB00D4}" type="slidenum">
              <a:rPr lang="en-US" smtClean="0"/>
              <a:t>‹#›</a:t>
            </a:fld>
            <a:endParaRPr lang="en-US"/>
          </a:p>
        </p:txBody>
      </p:sp>
    </p:spTree>
    <p:extLst>
      <p:ext uri="{BB962C8B-B14F-4D97-AF65-F5344CB8AC3E}">
        <p14:creationId xmlns:p14="http://schemas.microsoft.com/office/powerpoint/2010/main" val="31822504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57F30-34FB-4632-8A96-08B1C11FEE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CC8CF3-AE25-0616-8EBF-1E57BE745A1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97DF069-AEEC-691F-F222-B14D58AF68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B6B009-46A3-7E6F-6096-A52BAA018290}"/>
              </a:ext>
            </a:extLst>
          </p:cNvPr>
          <p:cNvSpPr>
            <a:spLocks noGrp="1"/>
          </p:cNvSpPr>
          <p:nvPr>
            <p:ph type="dt" sz="half" idx="10"/>
          </p:nvPr>
        </p:nvSpPr>
        <p:spPr/>
        <p:txBody>
          <a:bodyPr/>
          <a:lstStyle/>
          <a:p>
            <a:fld id="{22A25C02-A1E1-43FF-9C22-412049AA1F3D}" type="datetimeFigureOut">
              <a:rPr lang="en-US" smtClean="0"/>
              <a:t>8/3/2026</a:t>
            </a:fld>
            <a:endParaRPr lang="en-US"/>
          </a:p>
        </p:txBody>
      </p:sp>
      <p:sp>
        <p:nvSpPr>
          <p:cNvPr id="6" name="Footer Placeholder 5">
            <a:extLst>
              <a:ext uri="{FF2B5EF4-FFF2-40B4-BE49-F238E27FC236}">
                <a16:creationId xmlns:a16="http://schemas.microsoft.com/office/drawing/2014/main" id="{DFFC4B9D-AE41-3FC3-5E60-F9909FD833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1BEEF8-7AEE-C6AA-519E-931A7AA23A3B}"/>
              </a:ext>
            </a:extLst>
          </p:cNvPr>
          <p:cNvSpPr>
            <a:spLocks noGrp="1"/>
          </p:cNvSpPr>
          <p:nvPr>
            <p:ph type="sldNum" sz="quarter" idx="12"/>
          </p:nvPr>
        </p:nvSpPr>
        <p:spPr/>
        <p:txBody>
          <a:bodyPr/>
          <a:lstStyle/>
          <a:p>
            <a:fld id="{FCE48BE1-E470-448F-88F1-FF5FCCDB00D4}" type="slidenum">
              <a:rPr lang="en-US" smtClean="0"/>
              <a:t>‹#›</a:t>
            </a:fld>
            <a:endParaRPr lang="en-US"/>
          </a:p>
        </p:txBody>
      </p:sp>
    </p:spTree>
    <p:extLst>
      <p:ext uri="{BB962C8B-B14F-4D97-AF65-F5344CB8AC3E}">
        <p14:creationId xmlns:p14="http://schemas.microsoft.com/office/powerpoint/2010/main" val="717543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272C0-617C-13BB-6726-7468E633B20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5C0C39B-11D2-5118-E9B2-9C3FBF23EEA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0F1D9C-A281-9C51-2200-A99449D1A231}"/>
              </a:ext>
            </a:extLst>
          </p:cNvPr>
          <p:cNvSpPr>
            <a:spLocks noGrp="1"/>
          </p:cNvSpPr>
          <p:nvPr>
            <p:ph type="dt" sz="half" idx="10"/>
          </p:nvPr>
        </p:nvSpPr>
        <p:spPr/>
        <p:txBody>
          <a:bodyPr/>
          <a:lstStyle/>
          <a:p>
            <a:fld id="{22A25C02-A1E1-43FF-9C22-412049AA1F3D}" type="datetimeFigureOut">
              <a:rPr lang="en-US" smtClean="0"/>
              <a:t>8/3/2026</a:t>
            </a:fld>
            <a:endParaRPr lang="en-US"/>
          </a:p>
        </p:txBody>
      </p:sp>
      <p:sp>
        <p:nvSpPr>
          <p:cNvPr id="5" name="Footer Placeholder 4">
            <a:extLst>
              <a:ext uri="{FF2B5EF4-FFF2-40B4-BE49-F238E27FC236}">
                <a16:creationId xmlns:a16="http://schemas.microsoft.com/office/drawing/2014/main" id="{D5C4927B-DF7D-2C43-2F06-4AB4E2A53E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D2CCC5-7D9C-EBA5-96D7-339221CDD421}"/>
              </a:ext>
            </a:extLst>
          </p:cNvPr>
          <p:cNvSpPr>
            <a:spLocks noGrp="1"/>
          </p:cNvSpPr>
          <p:nvPr>
            <p:ph type="sldNum" sz="quarter" idx="12"/>
          </p:nvPr>
        </p:nvSpPr>
        <p:spPr/>
        <p:txBody>
          <a:bodyPr/>
          <a:lstStyle/>
          <a:p>
            <a:fld id="{FCE48BE1-E470-448F-88F1-FF5FCCDB00D4}" type="slidenum">
              <a:rPr lang="en-US" smtClean="0"/>
              <a:t>‹#›</a:t>
            </a:fld>
            <a:endParaRPr lang="en-US"/>
          </a:p>
        </p:txBody>
      </p:sp>
    </p:spTree>
    <p:extLst>
      <p:ext uri="{BB962C8B-B14F-4D97-AF65-F5344CB8AC3E}">
        <p14:creationId xmlns:p14="http://schemas.microsoft.com/office/powerpoint/2010/main" val="3902167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67B8B4-0B18-98CC-A8B9-EF5491E5C9C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3CC6FC-3C20-16D6-ADB6-9E19FE0F71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DF1A41-12F9-2461-7736-19E1D35B5018}"/>
              </a:ext>
            </a:extLst>
          </p:cNvPr>
          <p:cNvSpPr>
            <a:spLocks noGrp="1"/>
          </p:cNvSpPr>
          <p:nvPr>
            <p:ph type="dt" sz="half" idx="10"/>
          </p:nvPr>
        </p:nvSpPr>
        <p:spPr/>
        <p:txBody>
          <a:bodyPr/>
          <a:lstStyle/>
          <a:p>
            <a:fld id="{22A25C02-A1E1-43FF-9C22-412049AA1F3D}" type="datetimeFigureOut">
              <a:rPr lang="en-US" smtClean="0"/>
              <a:t>8/3/2026</a:t>
            </a:fld>
            <a:endParaRPr lang="en-US"/>
          </a:p>
        </p:txBody>
      </p:sp>
      <p:sp>
        <p:nvSpPr>
          <p:cNvPr id="5" name="Footer Placeholder 4">
            <a:extLst>
              <a:ext uri="{FF2B5EF4-FFF2-40B4-BE49-F238E27FC236}">
                <a16:creationId xmlns:a16="http://schemas.microsoft.com/office/drawing/2014/main" id="{BE7C6328-E92A-320E-064B-60413021D8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BBD19E-6290-C6BE-959D-0838B0E5D175}"/>
              </a:ext>
            </a:extLst>
          </p:cNvPr>
          <p:cNvSpPr>
            <a:spLocks noGrp="1"/>
          </p:cNvSpPr>
          <p:nvPr>
            <p:ph type="sldNum" sz="quarter" idx="12"/>
          </p:nvPr>
        </p:nvSpPr>
        <p:spPr/>
        <p:txBody>
          <a:bodyPr/>
          <a:lstStyle/>
          <a:p>
            <a:fld id="{FCE48BE1-E470-448F-88F1-FF5FCCDB00D4}" type="slidenum">
              <a:rPr lang="en-US" smtClean="0"/>
              <a:t>‹#›</a:t>
            </a:fld>
            <a:endParaRPr lang="en-US"/>
          </a:p>
        </p:txBody>
      </p:sp>
    </p:spTree>
    <p:extLst>
      <p:ext uri="{BB962C8B-B14F-4D97-AF65-F5344CB8AC3E}">
        <p14:creationId xmlns:p14="http://schemas.microsoft.com/office/powerpoint/2010/main" val="4593530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BD5935-C73D-642E-1898-FAD6FF9D0B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14174DA-A4AC-FF4F-ABC1-24DA0E2636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0D15DC-4D3E-2B97-739F-D25F9B04B6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A25C02-A1E1-43FF-9C22-412049AA1F3D}" type="datetimeFigureOut">
              <a:rPr lang="en-US" smtClean="0"/>
              <a:t>8/3/2026</a:t>
            </a:fld>
            <a:endParaRPr lang="en-US"/>
          </a:p>
        </p:txBody>
      </p:sp>
      <p:sp>
        <p:nvSpPr>
          <p:cNvPr id="5" name="Footer Placeholder 4">
            <a:extLst>
              <a:ext uri="{FF2B5EF4-FFF2-40B4-BE49-F238E27FC236}">
                <a16:creationId xmlns:a16="http://schemas.microsoft.com/office/drawing/2014/main" id="{684F8827-EC29-B39F-6EFD-A1E1F630E0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91EC8C7-B052-34D8-386C-E7BBC86860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E48BE1-E470-448F-88F1-FF5FCCDB00D4}" type="slidenum">
              <a:rPr lang="en-US" smtClean="0"/>
              <a:t>‹#›</a:t>
            </a:fld>
            <a:endParaRPr lang="en-US"/>
          </a:p>
        </p:txBody>
      </p:sp>
    </p:spTree>
    <p:extLst>
      <p:ext uri="{BB962C8B-B14F-4D97-AF65-F5344CB8AC3E}">
        <p14:creationId xmlns:p14="http://schemas.microsoft.com/office/powerpoint/2010/main" val="24763697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7" Type="http://schemas.openxmlformats.org/officeDocument/2006/relationships/chart" Target="../charts/chart6.xml"/><Relationship Id="rId2" Type="http://schemas.openxmlformats.org/officeDocument/2006/relationships/chart" Target="../charts/chart1.xml"/><Relationship Id="rId1" Type="http://schemas.openxmlformats.org/officeDocument/2006/relationships/slideLayout" Target="../slideLayouts/slideLayout7.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7.xml.rels><?xml version="1.0" encoding="UTF-8" standalone="yes"?>
<Relationships xmlns="http://schemas.openxmlformats.org/package/2006/relationships"><Relationship Id="rId8" Type="http://schemas.openxmlformats.org/officeDocument/2006/relationships/chart" Target="../charts/chart13.xml"/><Relationship Id="rId3" Type="http://schemas.openxmlformats.org/officeDocument/2006/relationships/chart" Target="../charts/chart8.xml"/><Relationship Id="rId7" Type="http://schemas.openxmlformats.org/officeDocument/2006/relationships/chart" Target="../charts/chart12.xml"/><Relationship Id="rId2" Type="http://schemas.openxmlformats.org/officeDocument/2006/relationships/chart" Target="../charts/chart7.xml"/><Relationship Id="rId1" Type="http://schemas.openxmlformats.org/officeDocument/2006/relationships/slideLayout" Target="../slideLayouts/slideLayout7.xml"/><Relationship Id="rId6" Type="http://schemas.openxmlformats.org/officeDocument/2006/relationships/chart" Target="../charts/chart11.xml"/><Relationship Id="rId5" Type="http://schemas.openxmlformats.org/officeDocument/2006/relationships/chart" Target="../charts/chart10.xml"/><Relationship Id="rId4" Type="http://schemas.openxmlformats.org/officeDocument/2006/relationships/chart" Target="../charts/chart9.xml"/><Relationship Id="rId9" Type="http://schemas.openxmlformats.org/officeDocument/2006/relationships/chart" Target="../charts/char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77AC53-4E51-0527-F541-C8E2FB7DCDA3}"/>
              </a:ext>
            </a:extLst>
          </p:cNvPr>
          <p:cNvSpPr txBox="1"/>
          <p:nvPr/>
        </p:nvSpPr>
        <p:spPr>
          <a:xfrm>
            <a:off x="3047114" y="2459504"/>
            <a:ext cx="6097772" cy="1938992"/>
          </a:xfrm>
          <a:prstGeom prst="rect">
            <a:avLst/>
          </a:prstGeom>
          <a:noFill/>
        </p:spPr>
        <p:txBody>
          <a:bodyPr wrap="square">
            <a:spAutoFit/>
          </a:bodyPr>
          <a:lstStyle/>
          <a:p>
            <a:pPr algn="ctr"/>
            <a:r>
              <a:rPr lang="en-US" sz="6000" b="1" dirty="0"/>
              <a:t>HEALTH DATA (HEART DISEASE)</a:t>
            </a:r>
          </a:p>
        </p:txBody>
      </p:sp>
    </p:spTree>
    <p:extLst>
      <p:ext uri="{BB962C8B-B14F-4D97-AF65-F5344CB8AC3E}">
        <p14:creationId xmlns:p14="http://schemas.microsoft.com/office/powerpoint/2010/main" val="2601783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5" name="TextBox 1">
            <a:extLst>
              <a:ext uri="{FF2B5EF4-FFF2-40B4-BE49-F238E27FC236}">
                <a16:creationId xmlns:a16="http://schemas.microsoft.com/office/drawing/2014/main" id="{F9D1937C-6214-BE94-2CFB-8F537913115F}"/>
              </a:ext>
            </a:extLst>
          </p:cNvPr>
          <p:cNvSpPr txBox="1"/>
          <p:nvPr/>
        </p:nvSpPr>
        <p:spPr>
          <a:xfrm>
            <a:off x="0" y="0"/>
            <a:ext cx="12192000" cy="520700"/>
          </a:xfrm>
          <a:prstGeom prst="rect">
            <a:avLst/>
          </a:prstGeom>
          <a:solidFill>
            <a:schemeClr val="accent1">
              <a:lumMod val="75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chemeClr val="bg1"/>
                </a:solidFill>
              </a:rPr>
              <a:t>TABLE OF CONTENT</a:t>
            </a:r>
          </a:p>
        </p:txBody>
      </p:sp>
      <p:sp>
        <p:nvSpPr>
          <p:cNvPr id="7" name="TextBox 6">
            <a:extLst>
              <a:ext uri="{FF2B5EF4-FFF2-40B4-BE49-F238E27FC236}">
                <a16:creationId xmlns:a16="http://schemas.microsoft.com/office/drawing/2014/main" id="{71D59D05-C438-D54D-938E-A265ADCC9B70}"/>
              </a:ext>
            </a:extLst>
          </p:cNvPr>
          <p:cNvSpPr txBox="1"/>
          <p:nvPr/>
        </p:nvSpPr>
        <p:spPr>
          <a:xfrm>
            <a:off x="606056" y="1013883"/>
            <a:ext cx="6103088" cy="3359061"/>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US" sz="2400" dirty="0"/>
              <a:t>PROJECT OVERVIEW</a:t>
            </a:r>
          </a:p>
          <a:p>
            <a:pPr marL="342900" indent="-342900">
              <a:lnSpc>
                <a:spcPct val="150000"/>
              </a:lnSpc>
              <a:buFont typeface="Wingdings" panose="05000000000000000000" pitchFamily="2" charset="2"/>
              <a:buChar char="v"/>
            </a:pPr>
            <a:r>
              <a:rPr lang="en-US" sz="2400" dirty="0"/>
              <a:t>DATA CLEANING &amp; PREPARATION</a:t>
            </a:r>
          </a:p>
          <a:p>
            <a:pPr marL="342900" indent="-342900">
              <a:lnSpc>
                <a:spcPct val="150000"/>
              </a:lnSpc>
              <a:buFont typeface="Wingdings" panose="05000000000000000000" pitchFamily="2" charset="2"/>
              <a:buChar char="v"/>
            </a:pPr>
            <a:r>
              <a:rPr lang="en-US" sz="2400" dirty="0"/>
              <a:t>ANALYSIS</a:t>
            </a:r>
          </a:p>
          <a:p>
            <a:pPr marL="342900" indent="-342900">
              <a:lnSpc>
                <a:spcPct val="150000"/>
              </a:lnSpc>
              <a:buFont typeface="Wingdings" panose="05000000000000000000" pitchFamily="2" charset="2"/>
              <a:buChar char="v"/>
            </a:pPr>
            <a:r>
              <a:rPr lang="en-US" sz="2400" dirty="0"/>
              <a:t>KEY FINDINGS &amp; VISUALISATIONS</a:t>
            </a:r>
          </a:p>
          <a:p>
            <a:pPr marL="342900" indent="-342900">
              <a:lnSpc>
                <a:spcPct val="150000"/>
              </a:lnSpc>
              <a:buFont typeface="Wingdings" panose="05000000000000000000" pitchFamily="2" charset="2"/>
              <a:buChar char="v"/>
            </a:pPr>
            <a:r>
              <a:rPr lang="en-US" sz="2400" dirty="0"/>
              <a:t>DASHBOARD</a:t>
            </a:r>
          </a:p>
          <a:p>
            <a:pPr marL="342900" indent="-342900">
              <a:lnSpc>
                <a:spcPct val="150000"/>
              </a:lnSpc>
              <a:buFont typeface="Wingdings" panose="05000000000000000000" pitchFamily="2" charset="2"/>
              <a:buChar char="v"/>
            </a:pPr>
            <a:r>
              <a:rPr lang="en-US" sz="2400" dirty="0"/>
              <a:t>INSIGHT AND RECOMMENDATION</a:t>
            </a:r>
          </a:p>
        </p:txBody>
      </p:sp>
    </p:spTree>
    <p:extLst>
      <p:ext uri="{BB962C8B-B14F-4D97-AF65-F5344CB8AC3E}">
        <p14:creationId xmlns:p14="http://schemas.microsoft.com/office/powerpoint/2010/main" val="18974909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334435F7-CA31-B1C4-00D3-1025757EA28F}"/>
              </a:ext>
            </a:extLst>
          </p:cNvPr>
          <p:cNvSpPr txBox="1"/>
          <p:nvPr/>
        </p:nvSpPr>
        <p:spPr>
          <a:xfrm>
            <a:off x="0" y="0"/>
            <a:ext cx="12192000" cy="520700"/>
          </a:xfrm>
          <a:prstGeom prst="rect">
            <a:avLst/>
          </a:prstGeom>
          <a:solidFill>
            <a:schemeClr val="accent1">
              <a:lumMod val="75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chemeClr val="bg1"/>
                </a:solidFill>
              </a:rPr>
              <a:t>PROJECT OVERVIEW</a:t>
            </a:r>
          </a:p>
        </p:txBody>
      </p:sp>
      <p:sp>
        <p:nvSpPr>
          <p:cNvPr id="5" name="TextBox 4">
            <a:extLst>
              <a:ext uri="{FF2B5EF4-FFF2-40B4-BE49-F238E27FC236}">
                <a16:creationId xmlns:a16="http://schemas.microsoft.com/office/drawing/2014/main" id="{67B15687-007C-F449-1D63-F42A8294FE88}"/>
              </a:ext>
            </a:extLst>
          </p:cNvPr>
          <p:cNvSpPr txBox="1"/>
          <p:nvPr/>
        </p:nvSpPr>
        <p:spPr>
          <a:xfrm>
            <a:off x="349102" y="740711"/>
            <a:ext cx="11493796" cy="6001643"/>
          </a:xfrm>
          <a:prstGeom prst="rect">
            <a:avLst/>
          </a:prstGeom>
          <a:noFill/>
        </p:spPr>
        <p:txBody>
          <a:bodyPr wrap="square">
            <a:spAutoFit/>
          </a:bodyPr>
          <a:lstStyle/>
          <a:p>
            <a:r>
              <a:rPr lang="en-US" sz="2400" b="1" dirty="0"/>
              <a:t>Project Background:</a:t>
            </a:r>
            <a:br>
              <a:rPr lang="en-US" sz="2400" dirty="0"/>
            </a:br>
            <a:r>
              <a:rPr lang="en-US" sz="2400" dirty="0"/>
              <a:t>This project examined demographic, lifestyle, and clinical characteristics associated with heart disease.</a:t>
            </a:r>
          </a:p>
          <a:p>
            <a:endParaRPr lang="en-US" sz="2400" dirty="0"/>
          </a:p>
          <a:p>
            <a:r>
              <a:rPr lang="en-US" sz="2400" b="1" dirty="0"/>
              <a:t>Objective:</a:t>
            </a:r>
            <a:br>
              <a:rPr lang="en-US" sz="2400" dirty="0"/>
            </a:br>
            <a:r>
              <a:rPr lang="en-US" sz="2400" dirty="0"/>
              <a:t>To identify important cardiovascular risk patterns and determine which population segments demonstrated higher levels of heart disease.</a:t>
            </a:r>
          </a:p>
          <a:p>
            <a:endParaRPr lang="en-US" sz="2400" dirty="0"/>
          </a:p>
          <a:p>
            <a:r>
              <a:rPr lang="en-US" sz="2400" b="1" dirty="0"/>
              <a:t>Key Analytical Tasks:</a:t>
            </a:r>
            <a:br>
              <a:rPr lang="en-US" sz="2400" dirty="0"/>
            </a:br>
            <a:r>
              <a:rPr lang="en-US" sz="2400" dirty="0"/>
              <a:t>Data cleaning; demographic analysis; BMI classification; lifestyle risk assessment; clinical indicator analysis; customer/patient segmentation; comparison of heart disease prevalence across risk groups; and visualization of key patterns.</a:t>
            </a:r>
          </a:p>
          <a:p>
            <a:endParaRPr lang="en-US" sz="2400" dirty="0"/>
          </a:p>
          <a:p>
            <a:r>
              <a:rPr lang="en-US" sz="2400" b="1" dirty="0"/>
              <a:t>Key Variables:</a:t>
            </a:r>
            <a:br>
              <a:rPr lang="en-US" sz="2400" dirty="0"/>
            </a:br>
            <a:r>
              <a:rPr lang="en-US" sz="2400" dirty="0"/>
              <a:t>Age, gender, BMI, cholesterol, diabetes, smoking status, stress level, exercise, family history, and heart disease status.</a:t>
            </a:r>
          </a:p>
        </p:txBody>
      </p:sp>
    </p:spTree>
    <p:extLst>
      <p:ext uri="{BB962C8B-B14F-4D97-AF65-F5344CB8AC3E}">
        <p14:creationId xmlns:p14="http://schemas.microsoft.com/office/powerpoint/2010/main" val="12246251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46DDF4E3-20A4-D781-0F59-E1CABA4651F2}"/>
              </a:ext>
            </a:extLst>
          </p:cNvPr>
          <p:cNvSpPr txBox="1"/>
          <p:nvPr/>
        </p:nvSpPr>
        <p:spPr>
          <a:xfrm>
            <a:off x="0" y="0"/>
            <a:ext cx="12192000" cy="520700"/>
          </a:xfrm>
          <a:prstGeom prst="rect">
            <a:avLst/>
          </a:prstGeom>
          <a:solidFill>
            <a:schemeClr val="accent1">
              <a:lumMod val="75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lnSpc>
                <a:spcPct val="150000"/>
              </a:lnSpc>
            </a:pPr>
            <a:r>
              <a:rPr lang="en-US" sz="2800" b="1" dirty="0">
                <a:solidFill>
                  <a:schemeClr val="bg1"/>
                </a:solidFill>
              </a:rPr>
              <a:t>DATA CLEANING &amp; PREPARATION</a:t>
            </a:r>
          </a:p>
        </p:txBody>
      </p:sp>
      <p:sp>
        <p:nvSpPr>
          <p:cNvPr id="4" name="TextBox 1">
            <a:extLst>
              <a:ext uri="{FF2B5EF4-FFF2-40B4-BE49-F238E27FC236}">
                <a16:creationId xmlns:a16="http://schemas.microsoft.com/office/drawing/2014/main" id="{66647B8A-7F9E-4C2F-4B95-4D25EC920961}"/>
              </a:ext>
            </a:extLst>
          </p:cNvPr>
          <p:cNvSpPr txBox="1"/>
          <p:nvPr/>
        </p:nvSpPr>
        <p:spPr>
          <a:xfrm>
            <a:off x="255182" y="813243"/>
            <a:ext cx="11504428" cy="3578004"/>
          </a:xfrm>
          <a:prstGeom prst="rect">
            <a:avLst/>
          </a:prstGeom>
          <a:no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defTabSz="914400" eaLnBrk="1" fontAlgn="auto" latinLnBrk="0" hangingPunct="1">
              <a:lnSpc>
                <a:spcPct val="150000"/>
              </a:lnSpc>
              <a:spcBef>
                <a:spcPts val="0"/>
              </a:spcBef>
              <a:spcAft>
                <a:spcPts val="0"/>
              </a:spcAft>
              <a:buClrTx/>
              <a:buSzTx/>
              <a:buFontTx/>
              <a:buNone/>
              <a:tabLst/>
              <a:defRPr/>
            </a:pPr>
            <a:r>
              <a:rPr lang="en-US" sz="2400" dirty="0"/>
              <a:t>During data cleaning, several variables contained missing values. Blank cells in categorical variables were replaced with </a:t>
            </a:r>
            <a:r>
              <a:rPr lang="en-US" sz="2400" b="1" dirty="0"/>
              <a:t>"Unknown"</a:t>
            </a:r>
            <a:r>
              <a:rPr lang="en-US" sz="2400" dirty="0"/>
              <a:t> to indicate that the information was unavailable while preserving the records for analysis. Some missing values in numerical variables were retained where appropriate to avoid introducing bias into the dataset. However, missing values in the </a:t>
            </a:r>
            <a:r>
              <a:rPr lang="en-US" sz="2400" b="1" dirty="0"/>
              <a:t>BMI</a:t>
            </a:r>
            <a:r>
              <a:rPr lang="en-US" sz="2400" dirty="0"/>
              <a:t> column were replaced with the </a:t>
            </a:r>
            <a:r>
              <a:rPr lang="en-US" sz="2400" b="1" dirty="0"/>
              <a:t>mean BMI value</a:t>
            </a:r>
            <a:r>
              <a:rPr lang="en-US" sz="2400" dirty="0"/>
              <a:t>, ensuring that the missing observations were imputed while maintaining the overall distribution of the data. These cleaning procedures improved the completeness and consistency of the dataset, making it suitable for subsequent analysis of heart disease risk factors.</a:t>
            </a:r>
          </a:p>
        </p:txBody>
      </p:sp>
    </p:spTree>
    <p:extLst>
      <p:ext uri="{BB962C8B-B14F-4D97-AF65-F5344CB8AC3E}">
        <p14:creationId xmlns:p14="http://schemas.microsoft.com/office/powerpoint/2010/main" val="27334214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A14D76DC-6167-1F71-22D9-72CAD8682879}"/>
              </a:ext>
            </a:extLst>
          </p:cNvPr>
          <p:cNvSpPr txBox="1"/>
          <p:nvPr/>
        </p:nvSpPr>
        <p:spPr>
          <a:xfrm>
            <a:off x="0" y="0"/>
            <a:ext cx="12192000" cy="520700"/>
          </a:xfrm>
          <a:prstGeom prst="rect">
            <a:avLst/>
          </a:prstGeom>
          <a:solidFill>
            <a:schemeClr val="accent1">
              <a:lumMod val="75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chemeClr val="bg1"/>
                </a:solidFill>
              </a:rPr>
              <a:t>ANALYSIS</a:t>
            </a:r>
          </a:p>
        </p:txBody>
      </p:sp>
      <p:sp>
        <p:nvSpPr>
          <p:cNvPr id="5" name="TextBox 4">
            <a:extLst>
              <a:ext uri="{FF2B5EF4-FFF2-40B4-BE49-F238E27FC236}">
                <a16:creationId xmlns:a16="http://schemas.microsoft.com/office/drawing/2014/main" id="{58D916BB-9CB9-9FC5-F2E4-0CDD291DAAEC}"/>
              </a:ext>
            </a:extLst>
          </p:cNvPr>
          <p:cNvSpPr txBox="1"/>
          <p:nvPr/>
        </p:nvSpPr>
        <p:spPr>
          <a:xfrm>
            <a:off x="329608" y="711299"/>
            <a:ext cx="11706448" cy="5016758"/>
          </a:xfrm>
          <a:prstGeom prst="rect">
            <a:avLst/>
          </a:prstGeom>
          <a:noFill/>
        </p:spPr>
        <p:txBody>
          <a:bodyPr wrap="square">
            <a:spAutoFit/>
          </a:bodyPr>
          <a:lstStyle/>
          <a:p>
            <a:r>
              <a:rPr lang="en-US" sz="2000" dirty="0"/>
              <a:t>The cleaned health dataset was analyzed using </a:t>
            </a:r>
            <a:r>
              <a:rPr lang="en-US" sz="2000" b="1" dirty="0"/>
              <a:t>Microsoft Excel, PivotTables, calculated fields, and visualizations</a:t>
            </a:r>
            <a:r>
              <a:rPr lang="en-US" sz="2000" dirty="0"/>
              <a:t> to examine the relationship between lifestyle, demographic, and clinical factors and heart disease status. Patients were segmented by </a:t>
            </a:r>
            <a:r>
              <a:rPr lang="en-US" sz="2000" b="1" dirty="0"/>
              <a:t>age, BMI, cholesterol level, diabetes status, smoking status, stress level, exercise habits, and family history of heart disease</a:t>
            </a:r>
            <a:r>
              <a:rPr lang="en-US" sz="2000" dirty="0"/>
              <a:t> to identify patterns associated with cardiovascular risk.</a:t>
            </a:r>
          </a:p>
          <a:p>
            <a:r>
              <a:rPr lang="en-US" sz="2000" dirty="0"/>
              <a:t>Heart disease prevalence was compared across these different patient groups to determine which characteristics were more common among individuals with heart disease. The analysis examined whether </a:t>
            </a:r>
            <a:r>
              <a:rPr lang="en-US" sz="2000" b="1" dirty="0"/>
              <a:t>higher cholesterol, diabetes, smoking, elevated stress, increased BMI, limited physical activity, and family history</a:t>
            </a:r>
            <a:r>
              <a:rPr lang="en-US" sz="2000" dirty="0"/>
              <a:t> were associated with differences in heart disease occurrence. Age categories were also assessed to determine how cardiovascular risk varied across different stages of life.</a:t>
            </a:r>
          </a:p>
          <a:p>
            <a:r>
              <a:rPr lang="en-US" sz="2000" dirty="0"/>
              <a:t>Patients were further classified into </a:t>
            </a:r>
            <a:r>
              <a:rPr lang="en-US" sz="2000" b="1" dirty="0"/>
              <a:t>risk groups</a:t>
            </a:r>
            <a:r>
              <a:rPr lang="en-US" sz="2000" dirty="0"/>
              <a:t> based on the presence of key cardiovascular risk factors, allowing heart disease cases to be compared across low-, medium-, and high-risk segments. </a:t>
            </a:r>
            <a:r>
              <a:rPr lang="en-US" sz="2000" dirty="0" err="1"/>
              <a:t>PivotCharts</a:t>
            </a:r>
            <a:r>
              <a:rPr lang="en-US" sz="2000" dirty="0"/>
              <a:t> were used to </a:t>
            </a:r>
            <a:r>
              <a:rPr lang="en-US" sz="2000" dirty="0" err="1"/>
              <a:t>visualise</a:t>
            </a:r>
            <a:r>
              <a:rPr lang="en-US" sz="2000" dirty="0"/>
              <a:t> these patterns and highlight groups that may require greater preventive attention.</a:t>
            </a:r>
          </a:p>
          <a:p>
            <a:r>
              <a:rPr lang="en-US" sz="2000" dirty="0"/>
              <a:t>Overall, the analysis was designed to identify </a:t>
            </a:r>
            <a:r>
              <a:rPr lang="en-US" sz="2000" b="1" dirty="0"/>
              <a:t>higher-risk patient profiles and important cardiovascular risk patterns</a:t>
            </a:r>
            <a:r>
              <a:rPr lang="en-US" sz="2000" dirty="0"/>
              <a:t>, supporting recommendations for targeted health screening, lifestyle interventions, risk-factor monitoring, and early preventive care.</a:t>
            </a:r>
          </a:p>
        </p:txBody>
      </p:sp>
    </p:spTree>
    <p:extLst>
      <p:ext uri="{BB962C8B-B14F-4D97-AF65-F5344CB8AC3E}">
        <p14:creationId xmlns:p14="http://schemas.microsoft.com/office/powerpoint/2010/main" val="25947672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BBA78B46-957C-6CF7-80DD-007A8DC104D8}"/>
              </a:ext>
            </a:extLst>
          </p:cNvPr>
          <p:cNvSpPr txBox="1"/>
          <p:nvPr/>
        </p:nvSpPr>
        <p:spPr>
          <a:xfrm>
            <a:off x="0" y="0"/>
            <a:ext cx="12192000" cy="520700"/>
          </a:xfrm>
          <a:prstGeom prst="rect">
            <a:avLst/>
          </a:prstGeom>
          <a:solidFill>
            <a:schemeClr val="accent1">
              <a:lumMod val="75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400" b="1">
                <a:solidFill>
                  <a:schemeClr val="bg1"/>
                </a:solidFill>
              </a:rPr>
              <a:t>KEY FINDINGS &amp; VISUALIZATION</a:t>
            </a:r>
            <a:endParaRPr lang="en-US" sz="2400" b="1" dirty="0">
              <a:solidFill>
                <a:schemeClr val="bg1"/>
              </a:solidFill>
            </a:endParaRPr>
          </a:p>
        </p:txBody>
      </p:sp>
      <p:sp>
        <p:nvSpPr>
          <p:cNvPr id="8" name="TextBox 1">
            <a:extLst>
              <a:ext uri="{FF2B5EF4-FFF2-40B4-BE49-F238E27FC236}">
                <a16:creationId xmlns:a16="http://schemas.microsoft.com/office/drawing/2014/main" id="{533BC732-BDD5-7A53-09B3-41DD05CDD7A9}"/>
              </a:ext>
            </a:extLst>
          </p:cNvPr>
          <p:cNvSpPr txBox="1"/>
          <p:nvPr/>
        </p:nvSpPr>
        <p:spPr>
          <a:xfrm>
            <a:off x="6964326" y="615127"/>
            <a:ext cx="5089310" cy="6072752"/>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endParaRPr lang="en-US" sz="1600" dirty="0"/>
          </a:p>
          <a:p>
            <a:endParaRPr lang="en-US" sz="1600" dirty="0"/>
          </a:p>
          <a:p>
            <a:endParaRPr lang="en-US" sz="1600" dirty="0"/>
          </a:p>
          <a:p>
            <a:r>
              <a:rPr lang="en-US" sz="1600" dirty="0"/>
              <a:t>Lifestyle and clinical factors, including </a:t>
            </a:r>
            <a:r>
              <a:rPr lang="en-US" sz="1600" b="1" dirty="0"/>
              <a:t>stress, cholesterol, diabetes, smoking, and family history</a:t>
            </a:r>
            <a:r>
              <a:rPr lang="en-US" sz="1600" dirty="0"/>
              <a:t>, were analyzed to assess their relationship with heart disease. Patients with high stress levels recorded the highest number of heart disease cases, while cases were also slightly higher among those in the </a:t>
            </a:r>
            <a:r>
              <a:rPr lang="en-US" sz="1600" b="1" dirty="0"/>
              <a:t>250–300 cholesterol category</a:t>
            </a:r>
            <a:r>
              <a:rPr lang="en-US" sz="1600" dirty="0"/>
              <a:t>.</a:t>
            </a:r>
          </a:p>
          <a:p>
            <a:r>
              <a:rPr lang="en-US" sz="1600" dirty="0"/>
              <a:t>Patients were further classified into </a:t>
            </a:r>
            <a:r>
              <a:rPr lang="en-US" sz="1600" b="1" dirty="0"/>
              <a:t>high, medium, and low-risk groups</a:t>
            </a:r>
            <a:r>
              <a:rPr lang="en-US" sz="1600" dirty="0"/>
              <a:t> based on multiple cardiovascular risk factors. The high-risk group recorded the highest number of heart disease cases (</a:t>
            </a:r>
            <a:r>
              <a:rPr lang="en-US" sz="1600" b="1" dirty="0"/>
              <a:t>1,668</a:t>
            </a:r>
            <a:r>
              <a:rPr lang="en-US" sz="1600" dirty="0"/>
              <a:t>), although the differences across the three risk groups were relatively small. Overall, the findings emphasize the importance of considering multiple risk factors when identifying individuals who may benefit from </a:t>
            </a:r>
            <a:r>
              <a:rPr lang="en-US" sz="1600" b="1" dirty="0"/>
              <a:t>regular screening, early intervention, and lifestyle modification</a:t>
            </a:r>
            <a:r>
              <a:rPr lang="en-US" sz="1600" dirty="0"/>
              <a:t>.</a:t>
            </a:r>
          </a:p>
        </p:txBody>
      </p:sp>
      <p:sp>
        <p:nvSpPr>
          <p:cNvPr id="9" name="TextBox 8">
            <a:extLst>
              <a:ext uri="{FF2B5EF4-FFF2-40B4-BE49-F238E27FC236}">
                <a16:creationId xmlns:a16="http://schemas.microsoft.com/office/drawing/2014/main" id="{9514DC66-0706-0A3C-FABB-DFC86BF2A82B}"/>
              </a:ext>
            </a:extLst>
          </p:cNvPr>
          <p:cNvSpPr txBox="1"/>
          <p:nvPr/>
        </p:nvSpPr>
        <p:spPr>
          <a:xfrm>
            <a:off x="6939148" y="625960"/>
            <a:ext cx="5114487" cy="584775"/>
          </a:xfrm>
          <a:prstGeom prst="rect">
            <a:avLst/>
          </a:prstGeom>
          <a:solidFill>
            <a:schemeClr val="accent1">
              <a:lumMod val="60000"/>
              <a:lumOff val="40000"/>
            </a:schemeClr>
          </a:solidFill>
        </p:spPr>
        <p:txBody>
          <a:bodyPr wrap="square" rtlCol="0">
            <a:spAutoFit/>
          </a:bodyPr>
          <a:lstStyle/>
          <a:p>
            <a:pPr algn="ctr"/>
            <a:r>
              <a:rPr lang="en-GB" sz="1600" dirty="0">
                <a:solidFill>
                  <a:schemeClr val="dk1"/>
                </a:solidFill>
              </a:rPr>
              <a:t>Identifying correlations between lifestyle/clinical indicators and heart disease status</a:t>
            </a:r>
            <a:endParaRPr lang="en-US" sz="1600" dirty="0"/>
          </a:p>
        </p:txBody>
      </p:sp>
      <p:graphicFrame>
        <p:nvGraphicFramePr>
          <p:cNvPr id="10" name="Chart 9">
            <a:extLst>
              <a:ext uri="{FF2B5EF4-FFF2-40B4-BE49-F238E27FC236}">
                <a16:creationId xmlns:a16="http://schemas.microsoft.com/office/drawing/2014/main" id="{A4BF7934-FCF2-5095-D622-30DE9E08F08E}"/>
              </a:ext>
            </a:extLst>
          </p:cNvPr>
          <p:cNvGraphicFramePr>
            <a:graphicFrameLocks/>
          </p:cNvGraphicFramePr>
          <p:nvPr>
            <p:extLst>
              <p:ext uri="{D42A27DB-BD31-4B8C-83A1-F6EECF244321}">
                <p14:modId xmlns:p14="http://schemas.microsoft.com/office/powerpoint/2010/main" val="859219687"/>
              </p:ext>
            </p:extLst>
          </p:nvPr>
        </p:nvGraphicFramePr>
        <p:xfrm>
          <a:off x="3721395" y="2628962"/>
          <a:ext cx="3122057" cy="189791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a:extLst>
              <a:ext uri="{FF2B5EF4-FFF2-40B4-BE49-F238E27FC236}">
                <a16:creationId xmlns:a16="http://schemas.microsoft.com/office/drawing/2014/main" id="{1B82006A-3600-A142-591B-60B796C996C0}"/>
              </a:ext>
            </a:extLst>
          </p:cNvPr>
          <p:cNvGraphicFramePr>
            <a:graphicFrameLocks/>
          </p:cNvGraphicFramePr>
          <p:nvPr>
            <p:extLst>
              <p:ext uri="{D42A27DB-BD31-4B8C-83A1-F6EECF244321}">
                <p14:modId xmlns:p14="http://schemas.microsoft.com/office/powerpoint/2010/main" val="4095531205"/>
              </p:ext>
            </p:extLst>
          </p:nvPr>
        </p:nvGraphicFramePr>
        <p:xfrm>
          <a:off x="73282" y="617901"/>
          <a:ext cx="3552419" cy="19138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a:extLst>
              <a:ext uri="{FF2B5EF4-FFF2-40B4-BE49-F238E27FC236}">
                <a16:creationId xmlns:a16="http://schemas.microsoft.com/office/drawing/2014/main" id="{BDF0CF85-9208-3146-8BA1-6713998CF6D1}"/>
              </a:ext>
            </a:extLst>
          </p:cNvPr>
          <p:cNvGraphicFramePr>
            <a:graphicFrameLocks/>
          </p:cNvGraphicFramePr>
          <p:nvPr>
            <p:extLst>
              <p:ext uri="{D42A27DB-BD31-4B8C-83A1-F6EECF244321}">
                <p14:modId xmlns:p14="http://schemas.microsoft.com/office/powerpoint/2010/main" val="1659255802"/>
              </p:ext>
            </p:extLst>
          </p:nvPr>
        </p:nvGraphicFramePr>
        <p:xfrm>
          <a:off x="3721396" y="615127"/>
          <a:ext cx="3122058" cy="191940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3" name="Chart 12">
            <a:extLst>
              <a:ext uri="{FF2B5EF4-FFF2-40B4-BE49-F238E27FC236}">
                <a16:creationId xmlns:a16="http://schemas.microsoft.com/office/drawing/2014/main" id="{1F79CF22-C3FC-ADEE-04C0-D44CA7D1BB07}"/>
              </a:ext>
            </a:extLst>
          </p:cNvPr>
          <p:cNvGraphicFramePr>
            <a:graphicFrameLocks/>
          </p:cNvGraphicFramePr>
          <p:nvPr>
            <p:extLst>
              <p:ext uri="{D42A27DB-BD31-4B8C-83A1-F6EECF244321}">
                <p14:modId xmlns:p14="http://schemas.microsoft.com/office/powerpoint/2010/main" val="1562473212"/>
              </p:ext>
            </p:extLst>
          </p:nvPr>
        </p:nvGraphicFramePr>
        <p:xfrm>
          <a:off x="73282" y="2628962"/>
          <a:ext cx="3552419" cy="1897911"/>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4" name="Chart 13">
            <a:extLst>
              <a:ext uri="{FF2B5EF4-FFF2-40B4-BE49-F238E27FC236}">
                <a16:creationId xmlns:a16="http://schemas.microsoft.com/office/drawing/2014/main" id="{2D5E0EEB-0ED5-9778-4C68-5093982C4E69}"/>
              </a:ext>
            </a:extLst>
          </p:cNvPr>
          <p:cNvGraphicFramePr>
            <a:graphicFrameLocks/>
          </p:cNvGraphicFramePr>
          <p:nvPr>
            <p:extLst>
              <p:ext uri="{D42A27DB-BD31-4B8C-83A1-F6EECF244321}">
                <p14:modId xmlns:p14="http://schemas.microsoft.com/office/powerpoint/2010/main" val="900714103"/>
              </p:ext>
            </p:extLst>
          </p:nvPr>
        </p:nvGraphicFramePr>
        <p:xfrm>
          <a:off x="3721395" y="4621300"/>
          <a:ext cx="3122057" cy="206657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5" name="Chart 14">
            <a:extLst>
              <a:ext uri="{FF2B5EF4-FFF2-40B4-BE49-F238E27FC236}">
                <a16:creationId xmlns:a16="http://schemas.microsoft.com/office/drawing/2014/main" id="{38CCDA31-1123-9DE5-5AC2-0CCD98523692}"/>
              </a:ext>
            </a:extLst>
          </p:cNvPr>
          <p:cNvGraphicFramePr>
            <a:graphicFrameLocks/>
          </p:cNvGraphicFramePr>
          <p:nvPr>
            <p:extLst>
              <p:ext uri="{D42A27DB-BD31-4B8C-83A1-F6EECF244321}">
                <p14:modId xmlns:p14="http://schemas.microsoft.com/office/powerpoint/2010/main" val="886087010"/>
              </p:ext>
            </p:extLst>
          </p:nvPr>
        </p:nvGraphicFramePr>
        <p:xfrm>
          <a:off x="73282" y="4621300"/>
          <a:ext cx="3503948" cy="2066579"/>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4009939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1A80300F-EDEE-92CC-6BC6-BE50B3EC6CDC}"/>
              </a:ext>
            </a:extLst>
          </p:cNvPr>
          <p:cNvSpPr txBox="1"/>
          <p:nvPr/>
        </p:nvSpPr>
        <p:spPr>
          <a:xfrm>
            <a:off x="0" y="0"/>
            <a:ext cx="12192000" cy="520700"/>
          </a:xfrm>
          <a:prstGeom prst="rect">
            <a:avLst/>
          </a:prstGeom>
          <a:solidFill>
            <a:schemeClr val="accent1">
              <a:lumMod val="75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chemeClr val="bg1"/>
                </a:solidFill>
              </a:rPr>
              <a:t>HEART DISEASE RISK ANALYSIS DASHBOARD</a:t>
            </a:r>
          </a:p>
        </p:txBody>
      </p:sp>
      <p:graphicFrame>
        <p:nvGraphicFramePr>
          <p:cNvPr id="8" name="Chart 7">
            <a:extLst>
              <a:ext uri="{FF2B5EF4-FFF2-40B4-BE49-F238E27FC236}">
                <a16:creationId xmlns:a16="http://schemas.microsoft.com/office/drawing/2014/main" id="{B64E0111-8241-1A20-0F40-A29E245D6E72}"/>
              </a:ext>
            </a:extLst>
          </p:cNvPr>
          <p:cNvGraphicFramePr>
            <a:graphicFrameLocks/>
          </p:cNvGraphicFramePr>
          <p:nvPr>
            <p:extLst>
              <p:ext uri="{D42A27DB-BD31-4B8C-83A1-F6EECF244321}">
                <p14:modId xmlns:p14="http://schemas.microsoft.com/office/powerpoint/2010/main" val="607459853"/>
              </p:ext>
            </p:extLst>
          </p:nvPr>
        </p:nvGraphicFramePr>
        <p:xfrm>
          <a:off x="9966590" y="4174306"/>
          <a:ext cx="2225410" cy="260675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a:extLst>
              <a:ext uri="{FF2B5EF4-FFF2-40B4-BE49-F238E27FC236}">
                <a16:creationId xmlns:a16="http://schemas.microsoft.com/office/drawing/2014/main" id="{81DF1F0B-A419-9BDD-9AE8-F49A36080AE9}"/>
              </a:ext>
            </a:extLst>
          </p:cNvPr>
          <p:cNvGraphicFramePr>
            <a:graphicFrameLocks/>
          </p:cNvGraphicFramePr>
          <p:nvPr>
            <p:extLst>
              <p:ext uri="{D42A27DB-BD31-4B8C-83A1-F6EECF244321}">
                <p14:modId xmlns:p14="http://schemas.microsoft.com/office/powerpoint/2010/main" val="597989502"/>
              </p:ext>
            </p:extLst>
          </p:nvPr>
        </p:nvGraphicFramePr>
        <p:xfrm>
          <a:off x="0" y="1745807"/>
          <a:ext cx="2891011" cy="22384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Table 12">
            <a:extLst>
              <a:ext uri="{FF2B5EF4-FFF2-40B4-BE49-F238E27FC236}">
                <a16:creationId xmlns:a16="http://schemas.microsoft.com/office/drawing/2014/main" id="{29C09ED7-13B2-D50F-4C36-D8671C2C745F}"/>
              </a:ext>
            </a:extLst>
          </p:cNvPr>
          <p:cNvGraphicFramePr>
            <a:graphicFrameLocks noGrp="1"/>
          </p:cNvGraphicFramePr>
          <p:nvPr>
            <p:extLst>
              <p:ext uri="{D42A27DB-BD31-4B8C-83A1-F6EECF244321}">
                <p14:modId xmlns:p14="http://schemas.microsoft.com/office/powerpoint/2010/main" val="3790430843"/>
              </p:ext>
            </p:extLst>
          </p:nvPr>
        </p:nvGraphicFramePr>
        <p:xfrm>
          <a:off x="424005" y="817080"/>
          <a:ext cx="2311400" cy="533400"/>
        </p:xfrm>
        <a:graphic>
          <a:graphicData uri="http://schemas.openxmlformats.org/drawingml/2006/table">
            <a:tbl>
              <a:tblPr>
                <a:tableStyleId>{5C22544A-7EE6-4342-B048-85BDC9FD1C3A}</a:tableStyleId>
              </a:tblPr>
              <a:tblGrid>
                <a:gridCol w="2311400">
                  <a:extLst>
                    <a:ext uri="{9D8B030D-6E8A-4147-A177-3AD203B41FA5}">
                      <a16:colId xmlns:a16="http://schemas.microsoft.com/office/drawing/2014/main" val="1069433060"/>
                    </a:ext>
                  </a:extLst>
                </a:gridCol>
              </a:tblGrid>
              <a:tr h="234950">
                <a:tc>
                  <a:txBody>
                    <a:bodyPr/>
                    <a:lstStyle/>
                    <a:p>
                      <a:pPr algn="ctr" fontAlgn="b">
                        <a:buNone/>
                      </a:pPr>
                      <a:r>
                        <a:rPr lang="en-US" sz="1400" u="none" strike="noStrike">
                          <a:effectLst/>
                        </a:rPr>
                        <a:t>Heart Disease Cases</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accent1">
                        <a:lumMod val="60000"/>
                        <a:lumOff val="40000"/>
                      </a:schemeClr>
                    </a:solidFill>
                  </a:tcPr>
                </a:tc>
                <a:extLst>
                  <a:ext uri="{0D108BD9-81ED-4DB2-BD59-A6C34878D82A}">
                    <a16:rowId xmlns:a16="http://schemas.microsoft.com/office/drawing/2014/main" val="1525273266"/>
                  </a:ext>
                </a:extLst>
              </a:tr>
              <a:tr h="298450">
                <a:tc>
                  <a:txBody>
                    <a:bodyPr/>
                    <a:lstStyle/>
                    <a:p>
                      <a:pPr algn="ctr" fontAlgn="b">
                        <a:buNone/>
                      </a:pPr>
                      <a:r>
                        <a:rPr lang="en-US" sz="1800" u="none" strike="noStrike" dirty="0">
                          <a:effectLst/>
                        </a:rPr>
                        <a:t>2000</a:t>
                      </a:r>
                      <a:endParaRPr lang="en-US" sz="1800" b="0" i="0" u="none" strike="noStrike" dirty="0">
                        <a:solidFill>
                          <a:srgbClr val="000000"/>
                        </a:solidFill>
                        <a:effectLst/>
                        <a:latin typeface="Calibri" panose="020F0502020204030204" pitchFamily="34" charset="0"/>
                      </a:endParaRPr>
                    </a:p>
                  </a:txBody>
                  <a:tcPr marL="6350" marR="6350" marT="6350" marB="0" anchor="b">
                    <a:solidFill>
                      <a:schemeClr val="accent1">
                        <a:lumMod val="60000"/>
                        <a:lumOff val="40000"/>
                      </a:schemeClr>
                    </a:solidFill>
                  </a:tcPr>
                </a:tc>
                <a:extLst>
                  <a:ext uri="{0D108BD9-81ED-4DB2-BD59-A6C34878D82A}">
                    <a16:rowId xmlns:a16="http://schemas.microsoft.com/office/drawing/2014/main" val="308979723"/>
                  </a:ext>
                </a:extLst>
              </a:tr>
            </a:tbl>
          </a:graphicData>
        </a:graphic>
      </p:graphicFrame>
      <p:graphicFrame>
        <p:nvGraphicFramePr>
          <p:cNvPr id="14" name="Table 13">
            <a:extLst>
              <a:ext uri="{FF2B5EF4-FFF2-40B4-BE49-F238E27FC236}">
                <a16:creationId xmlns:a16="http://schemas.microsoft.com/office/drawing/2014/main" id="{65CE7246-11F1-1281-FC77-863F2A6A9D1D}"/>
              </a:ext>
            </a:extLst>
          </p:cNvPr>
          <p:cNvGraphicFramePr>
            <a:graphicFrameLocks noGrp="1"/>
          </p:cNvGraphicFramePr>
          <p:nvPr>
            <p:extLst>
              <p:ext uri="{D42A27DB-BD31-4B8C-83A1-F6EECF244321}">
                <p14:modId xmlns:p14="http://schemas.microsoft.com/office/powerpoint/2010/main" val="1988414742"/>
              </p:ext>
            </p:extLst>
          </p:nvPr>
        </p:nvGraphicFramePr>
        <p:xfrm>
          <a:off x="3243887" y="817080"/>
          <a:ext cx="2311400" cy="533400"/>
        </p:xfrm>
        <a:graphic>
          <a:graphicData uri="http://schemas.openxmlformats.org/drawingml/2006/table">
            <a:tbl>
              <a:tblPr>
                <a:tableStyleId>{5C22544A-7EE6-4342-B048-85BDC9FD1C3A}</a:tableStyleId>
              </a:tblPr>
              <a:tblGrid>
                <a:gridCol w="2311400">
                  <a:extLst>
                    <a:ext uri="{9D8B030D-6E8A-4147-A177-3AD203B41FA5}">
                      <a16:colId xmlns:a16="http://schemas.microsoft.com/office/drawing/2014/main" val="399848018"/>
                    </a:ext>
                  </a:extLst>
                </a:gridCol>
              </a:tblGrid>
              <a:tr h="234950">
                <a:tc>
                  <a:txBody>
                    <a:bodyPr/>
                    <a:lstStyle/>
                    <a:p>
                      <a:pPr algn="ctr" fontAlgn="b">
                        <a:buNone/>
                      </a:pPr>
                      <a:r>
                        <a:rPr lang="en-US" sz="1400" u="none" strike="noStrike" dirty="0">
                          <a:effectLst/>
                        </a:rPr>
                        <a:t>Total Patients</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accent1">
                        <a:lumMod val="60000"/>
                        <a:lumOff val="40000"/>
                      </a:schemeClr>
                    </a:solidFill>
                  </a:tcPr>
                </a:tc>
                <a:extLst>
                  <a:ext uri="{0D108BD9-81ED-4DB2-BD59-A6C34878D82A}">
                    <a16:rowId xmlns:a16="http://schemas.microsoft.com/office/drawing/2014/main" val="2572638691"/>
                  </a:ext>
                </a:extLst>
              </a:tr>
              <a:tr h="298450">
                <a:tc>
                  <a:txBody>
                    <a:bodyPr/>
                    <a:lstStyle/>
                    <a:p>
                      <a:pPr algn="ctr" fontAlgn="b">
                        <a:buNone/>
                      </a:pPr>
                      <a:r>
                        <a:rPr lang="en-US" sz="1800" u="none" strike="noStrike" dirty="0">
                          <a:effectLst/>
                        </a:rPr>
                        <a:t>10000</a:t>
                      </a:r>
                      <a:endParaRPr lang="en-US" sz="1800" b="0" i="0" u="none" strike="noStrike" dirty="0">
                        <a:solidFill>
                          <a:srgbClr val="000000"/>
                        </a:solidFill>
                        <a:effectLst/>
                        <a:latin typeface="Calibri" panose="020F0502020204030204" pitchFamily="34" charset="0"/>
                      </a:endParaRPr>
                    </a:p>
                  </a:txBody>
                  <a:tcPr marL="6350" marR="6350" marT="6350" marB="0" anchor="b">
                    <a:solidFill>
                      <a:schemeClr val="accent1">
                        <a:lumMod val="60000"/>
                        <a:lumOff val="40000"/>
                      </a:schemeClr>
                    </a:solidFill>
                  </a:tcPr>
                </a:tc>
                <a:extLst>
                  <a:ext uri="{0D108BD9-81ED-4DB2-BD59-A6C34878D82A}">
                    <a16:rowId xmlns:a16="http://schemas.microsoft.com/office/drawing/2014/main" val="247761126"/>
                  </a:ext>
                </a:extLst>
              </a:tr>
            </a:tbl>
          </a:graphicData>
        </a:graphic>
      </p:graphicFrame>
      <p:graphicFrame>
        <p:nvGraphicFramePr>
          <p:cNvPr id="15" name="Table 14">
            <a:extLst>
              <a:ext uri="{FF2B5EF4-FFF2-40B4-BE49-F238E27FC236}">
                <a16:creationId xmlns:a16="http://schemas.microsoft.com/office/drawing/2014/main" id="{2CE23F78-6474-5431-B217-82F4BE5609C6}"/>
              </a:ext>
            </a:extLst>
          </p:cNvPr>
          <p:cNvGraphicFramePr>
            <a:graphicFrameLocks noGrp="1"/>
          </p:cNvGraphicFramePr>
          <p:nvPr>
            <p:extLst>
              <p:ext uri="{D42A27DB-BD31-4B8C-83A1-F6EECF244321}">
                <p14:modId xmlns:p14="http://schemas.microsoft.com/office/powerpoint/2010/main" val="86454794"/>
              </p:ext>
            </p:extLst>
          </p:nvPr>
        </p:nvGraphicFramePr>
        <p:xfrm>
          <a:off x="6063769" y="817080"/>
          <a:ext cx="2311400" cy="561340"/>
        </p:xfrm>
        <a:graphic>
          <a:graphicData uri="http://schemas.openxmlformats.org/drawingml/2006/table">
            <a:tbl>
              <a:tblPr>
                <a:tableStyleId>{5C22544A-7EE6-4342-B048-85BDC9FD1C3A}</a:tableStyleId>
              </a:tblPr>
              <a:tblGrid>
                <a:gridCol w="2311400">
                  <a:extLst>
                    <a:ext uri="{9D8B030D-6E8A-4147-A177-3AD203B41FA5}">
                      <a16:colId xmlns:a16="http://schemas.microsoft.com/office/drawing/2014/main" val="3899094118"/>
                    </a:ext>
                  </a:extLst>
                </a:gridCol>
              </a:tblGrid>
              <a:tr h="266700">
                <a:tc>
                  <a:txBody>
                    <a:bodyPr/>
                    <a:lstStyle/>
                    <a:p>
                      <a:pPr algn="ctr" fontAlgn="b">
                        <a:buNone/>
                      </a:pPr>
                      <a:r>
                        <a:rPr lang="en-US" sz="1800" u="none" strike="noStrike" dirty="0">
                          <a:effectLst/>
                        </a:rPr>
                        <a:t>Heart Disease Rate </a:t>
                      </a:r>
                      <a:endParaRPr lang="en-US" sz="1800" b="0" i="0" u="none" strike="noStrike" dirty="0">
                        <a:solidFill>
                          <a:srgbClr val="000000"/>
                        </a:solidFill>
                        <a:effectLst/>
                        <a:latin typeface="Calibri" panose="020F0502020204030204" pitchFamily="34" charset="0"/>
                      </a:endParaRPr>
                    </a:p>
                  </a:txBody>
                  <a:tcPr marL="6350" marR="6350" marT="6350" marB="0" anchor="b">
                    <a:solidFill>
                      <a:schemeClr val="accent1">
                        <a:lumMod val="60000"/>
                        <a:lumOff val="40000"/>
                      </a:schemeClr>
                    </a:solidFill>
                  </a:tcPr>
                </a:tc>
                <a:extLst>
                  <a:ext uri="{0D108BD9-81ED-4DB2-BD59-A6C34878D82A}">
                    <a16:rowId xmlns:a16="http://schemas.microsoft.com/office/drawing/2014/main" val="2972419744"/>
                  </a:ext>
                </a:extLst>
              </a:tr>
              <a:tr h="266700">
                <a:tc>
                  <a:txBody>
                    <a:bodyPr/>
                    <a:lstStyle/>
                    <a:p>
                      <a:pPr algn="ctr" fontAlgn="b">
                        <a:buNone/>
                      </a:pPr>
                      <a:r>
                        <a:rPr lang="en-US" sz="1800" u="none" strike="noStrike" dirty="0">
                          <a:effectLst/>
                        </a:rPr>
                        <a:t>20%</a:t>
                      </a:r>
                      <a:endParaRPr lang="en-US" sz="1800" b="0" i="0" u="none" strike="noStrike" dirty="0">
                        <a:solidFill>
                          <a:srgbClr val="000000"/>
                        </a:solidFill>
                        <a:effectLst/>
                        <a:latin typeface="Calibri" panose="020F0502020204030204" pitchFamily="34" charset="0"/>
                      </a:endParaRPr>
                    </a:p>
                  </a:txBody>
                  <a:tcPr marL="6350" marR="6350" marT="6350" marB="0" anchor="b">
                    <a:solidFill>
                      <a:schemeClr val="accent1">
                        <a:lumMod val="60000"/>
                        <a:lumOff val="40000"/>
                      </a:schemeClr>
                    </a:solidFill>
                  </a:tcPr>
                </a:tc>
                <a:extLst>
                  <a:ext uri="{0D108BD9-81ED-4DB2-BD59-A6C34878D82A}">
                    <a16:rowId xmlns:a16="http://schemas.microsoft.com/office/drawing/2014/main" val="3704111527"/>
                  </a:ext>
                </a:extLst>
              </a:tr>
            </a:tbl>
          </a:graphicData>
        </a:graphic>
      </p:graphicFrame>
      <p:graphicFrame>
        <p:nvGraphicFramePr>
          <p:cNvPr id="25" name="Chart 24">
            <a:extLst>
              <a:ext uri="{FF2B5EF4-FFF2-40B4-BE49-F238E27FC236}">
                <a16:creationId xmlns:a16="http://schemas.microsoft.com/office/drawing/2014/main" id="{5AA36AAA-F062-2077-198D-131D29D849F9}"/>
              </a:ext>
            </a:extLst>
          </p:cNvPr>
          <p:cNvGraphicFramePr>
            <a:graphicFrameLocks/>
          </p:cNvGraphicFramePr>
          <p:nvPr>
            <p:extLst>
              <p:ext uri="{D42A27DB-BD31-4B8C-83A1-F6EECF244321}">
                <p14:modId xmlns:p14="http://schemas.microsoft.com/office/powerpoint/2010/main" val="2668957337"/>
              </p:ext>
            </p:extLst>
          </p:nvPr>
        </p:nvGraphicFramePr>
        <p:xfrm>
          <a:off x="9966590" y="1745806"/>
          <a:ext cx="2225410" cy="224491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7" name="Chart 26">
            <a:extLst>
              <a:ext uri="{FF2B5EF4-FFF2-40B4-BE49-F238E27FC236}">
                <a16:creationId xmlns:a16="http://schemas.microsoft.com/office/drawing/2014/main" id="{098546CD-3982-E5BB-3A91-617A1C4E91B1}"/>
              </a:ext>
            </a:extLst>
          </p:cNvPr>
          <p:cNvGraphicFramePr>
            <a:graphicFrameLocks/>
          </p:cNvGraphicFramePr>
          <p:nvPr>
            <p:extLst>
              <p:ext uri="{D42A27DB-BD31-4B8C-83A1-F6EECF244321}">
                <p14:modId xmlns:p14="http://schemas.microsoft.com/office/powerpoint/2010/main" val="2886031418"/>
              </p:ext>
            </p:extLst>
          </p:nvPr>
        </p:nvGraphicFramePr>
        <p:xfrm>
          <a:off x="3054381" y="1751354"/>
          <a:ext cx="3552419" cy="223842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9" name="Chart 28">
            <a:extLst>
              <a:ext uri="{FF2B5EF4-FFF2-40B4-BE49-F238E27FC236}">
                <a16:creationId xmlns:a16="http://schemas.microsoft.com/office/drawing/2014/main" id="{4C1A202E-A4E5-9BB2-C30F-176FDDBD9D59}"/>
              </a:ext>
            </a:extLst>
          </p:cNvPr>
          <p:cNvGraphicFramePr>
            <a:graphicFrameLocks/>
          </p:cNvGraphicFramePr>
          <p:nvPr>
            <p:extLst>
              <p:ext uri="{D42A27DB-BD31-4B8C-83A1-F6EECF244321}">
                <p14:modId xmlns:p14="http://schemas.microsoft.com/office/powerpoint/2010/main" val="2955391734"/>
              </p:ext>
            </p:extLst>
          </p:nvPr>
        </p:nvGraphicFramePr>
        <p:xfrm>
          <a:off x="6770171" y="1745806"/>
          <a:ext cx="3033048" cy="2244914"/>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31" name="Chart 30">
            <a:extLst>
              <a:ext uri="{FF2B5EF4-FFF2-40B4-BE49-F238E27FC236}">
                <a16:creationId xmlns:a16="http://schemas.microsoft.com/office/drawing/2014/main" id="{AF295A95-C23F-93F2-C0D2-8138F4FE1389}"/>
              </a:ext>
            </a:extLst>
          </p:cNvPr>
          <p:cNvGraphicFramePr>
            <a:graphicFrameLocks/>
          </p:cNvGraphicFramePr>
          <p:nvPr>
            <p:extLst>
              <p:ext uri="{D42A27DB-BD31-4B8C-83A1-F6EECF244321}">
                <p14:modId xmlns:p14="http://schemas.microsoft.com/office/powerpoint/2010/main" val="3714747834"/>
              </p:ext>
            </p:extLst>
          </p:nvPr>
        </p:nvGraphicFramePr>
        <p:xfrm>
          <a:off x="6770171" y="4174307"/>
          <a:ext cx="3033048" cy="2606754"/>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33" name="Chart 32">
            <a:extLst>
              <a:ext uri="{FF2B5EF4-FFF2-40B4-BE49-F238E27FC236}">
                <a16:creationId xmlns:a16="http://schemas.microsoft.com/office/drawing/2014/main" id="{1C05566A-BF3C-7F41-C637-3DB65EDCAAB7}"/>
              </a:ext>
            </a:extLst>
          </p:cNvPr>
          <p:cNvGraphicFramePr>
            <a:graphicFrameLocks/>
          </p:cNvGraphicFramePr>
          <p:nvPr>
            <p:extLst>
              <p:ext uri="{D42A27DB-BD31-4B8C-83A1-F6EECF244321}">
                <p14:modId xmlns:p14="http://schemas.microsoft.com/office/powerpoint/2010/main" val="3603119290"/>
              </p:ext>
            </p:extLst>
          </p:nvPr>
        </p:nvGraphicFramePr>
        <p:xfrm>
          <a:off x="3054382" y="4174307"/>
          <a:ext cx="3552418" cy="2606754"/>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35" name="Chart 34">
            <a:extLst>
              <a:ext uri="{FF2B5EF4-FFF2-40B4-BE49-F238E27FC236}">
                <a16:creationId xmlns:a16="http://schemas.microsoft.com/office/drawing/2014/main" id="{BCA92001-AFBB-BD15-0E8E-908BCAA158A2}"/>
              </a:ext>
            </a:extLst>
          </p:cNvPr>
          <p:cNvGraphicFramePr>
            <a:graphicFrameLocks/>
          </p:cNvGraphicFramePr>
          <p:nvPr>
            <p:extLst>
              <p:ext uri="{D42A27DB-BD31-4B8C-83A1-F6EECF244321}">
                <p14:modId xmlns:p14="http://schemas.microsoft.com/office/powerpoint/2010/main" val="3582131498"/>
              </p:ext>
            </p:extLst>
          </p:nvPr>
        </p:nvGraphicFramePr>
        <p:xfrm>
          <a:off x="0" y="4174307"/>
          <a:ext cx="2891011" cy="2606754"/>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36" name="Table 35">
            <a:extLst>
              <a:ext uri="{FF2B5EF4-FFF2-40B4-BE49-F238E27FC236}">
                <a16:creationId xmlns:a16="http://schemas.microsoft.com/office/drawing/2014/main" id="{F09E1BE6-1936-4C61-D161-A09CC4892F7D}"/>
              </a:ext>
            </a:extLst>
          </p:cNvPr>
          <p:cNvGraphicFramePr>
            <a:graphicFrameLocks noGrp="1"/>
          </p:cNvGraphicFramePr>
          <p:nvPr>
            <p:extLst>
              <p:ext uri="{D42A27DB-BD31-4B8C-83A1-F6EECF244321}">
                <p14:modId xmlns:p14="http://schemas.microsoft.com/office/powerpoint/2010/main" val="2529960412"/>
              </p:ext>
            </p:extLst>
          </p:nvPr>
        </p:nvGraphicFramePr>
        <p:xfrm>
          <a:off x="8883651" y="817080"/>
          <a:ext cx="2891011" cy="561340"/>
        </p:xfrm>
        <a:graphic>
          <a:graphicData uri="http://schemas.openxmlformats.org/drawingml/2006/table">
            <a:tbl>
              <a:tblPr>
                <a:tableStyleId>{5C22544A-7EE6-4342-B048-85BDC9FD1C3A}</a:tableStyleId>
              </a:tblPr>
              <a:tblGrid>
                <a:gridCol w="2891011">
                  <a:extLst>
                    <a:ext uri="{9D8B030D-6E8A-4147-A177-3AD203B41FA5}">
                      <a16:colId xmlns:a16="http://schemas.microsoft.com/office/drawing/2014/main" val="935259225"/>
                    </a:ext>
                  </a:extLst>
                </a:gridCol>
              </a:tblGrid>
              <a:tr h="266700">
                <a:tc>
                  <a:txBody>
                    <a:bodyPr/>
                    <a:lstStyle/>
                    <a:p>
                      <a:pPr algn="ctr" fontAlgn="b">
                        <a:buNone/>
                      </a:pPr>
                      <a:r>
                        <a:rPr lang="en-US" sz="1800" u="none" strike="noStrike" dirty="0">
                          <a:effectLst/>
                        </a:rPr>
                        <a:t>Average Cholesterol Level</a:t>
                      </a:r>
                      <a:endParaRPr lang="en-US" sz="1800" b="1" i="0" u="none" strike="noStrike" dirty="0">
                        <a:solidFill>
                          <a:srgbClr val="000000"/>
                        </a:solidFill>
                        <a:effectLst/>
                        <a:latin typeface="Calibri" panose="020F0502020204030204" pitchFamily="34" charset="0"/>
                      </a:endParaRPr>
                    </a:p>
                  </a:txBody>
                  <a:tcPr marL="6350" marR="6350" marT="6350" marB="0" anchor="b">
                    <a:solidFill>
                      <a:schemeClr val="accent1">
                        <a:lumMod val="60000"/>
                        <a:lumOff val="40000"/>
                      </a:schemeClr>
                    </a:solidFill>
                  </a:tcPr>
                </a:tc>
                <a:extLst>
                  <a:ext uri="{0D108BD9-81ED-4DB2-BD59-A6C34878D82A}">
                    <a16:rowId xmlns:a16="http://schemas.microsoft.com/office/drawing/2014/main" val="202714724"/>
                  </a:ext>
                </a:extLst>
              </a:tr>
              <a:tr h="266700">
                <a:tc>
                  <a:txBody>
                    <a:bodyPr/>
                    <a:lstStyle/>
                    <a:p>
                      <a:pPr algn="ctr" fontAlgn="b">
                        <a:buNone/>
                      </a:pPr>
                      <a:r>
                        <a:rPr lang="en-US" sz="1800" u="none" strike="noStrike" dirty="0">
                          <a:effectLst/>
                        </a:rPr>
                        <a:t>225.43</a:t>
                      </a:r>
                      <a:endParaRPr lang="en-US" sz="1800" b="0" i="0" u="none" strike="noStrike" dirty="0">
                        <a:solidFill>
                          <a:srgbClr val="000000"/>
                        </a:solidFill>
                        <a:effectLst/>
                        <a:latin typeface="Calibri" panose="020F0502020204030204" pitchFamily="34" charset="0"/>
                      </a:endParaRPr>
                    </a:p>
                  </a:txBody>
                  <a:tcPr marL="6350" marR="6350" marT="6350" marB="0" anchor="b">
                    <a:solidFill>
                      <a:schemeClr val="accent1">
                        <a:lumMod val="60000"/>
                        <a:lumOff val="40000"/>
                      </a:schemeClr>
                    </a:solidFill>
                  </a:tcPr>
                </a:tc>
                <a:extLst>
                  <a:ext uri="{0D108BD9-81ED-4DB2-BD59-A6C34878D82A}">
                    <a16:rowId xmlns:a16="http://schemas.microsoft.com/office/drawing/2014/main" val="2661494572"/>
                  </a:ext>
                </a:extLst>
              </a:tr>
            </a:tbl>
          </a:graphicData>
        </a:graphic>
      </p:graphicFrame>
    </p:spTree>
    <p:extLst>
      <p:ext uri="{BB962C8B-B14F-4D97-AF65-F5344CB8AC3E}">
        <p14:creationId xmlns:p14="http://schemas.microsoft.com/office/powerpoint/2010/main" val="1067502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B0DA11C6-AACD-61F1-6F3A-A71415E57976}"/>
              </a:ext>
            </a:extLst>
          </p:cNvPr>
          <p:cNvSpPr txBox="1"/>
          <p:nvPr/>
        </p:nvSpPr>
        <p:spPr>
          <a:xfrm>
            <a:off x="0" y="0"/>
            <a:ext cx="12192000" cy="520700"/>
          </a:xfrm>
          <a:prstGeom prst="rect">
            <a:avLst/>
          </a:prstGeom>
          <a:solidFill>
            <a:schemeClr val="accent1">
              <a:lumMod val="75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lnSpc>
                <a:spcPct val="150000"/>
              </a:lnSpc>
            </a:pPr>
            <a:r>
              <a:rPr lang="en-US" sz="2800" b="1" dirty="0">
                <a:solidFill>
                  <a:schemeClr val="bg1"/>
                </a:solidFill>
              </a:rPr>
              <a:t>INSIGHT AND RECOMMENDATION</a:t>
            </a:r>
          </a:p>
        </p:txBody>
      </p:sp>
      <p:sp>
        <p:nvSpPr>
          <p:cNvPr id="5" name="TextBox 4">
            <a:extLst>
              <a:ext uri="{FF2B5EF4-FFF2-40B4-BE49-F238E27FC236}">
                <a16:creationId xmlns:a16="http://schemas.microsoft.com/office/drawing/2014/main" id="{5D57CCFB-8534-E672-E253-07F89C37E5C2}"/>
              </a:ext>
            </a:extLst>
          </p:cNvPr>
          <p:cNvSpPr txBox="1"/>
          <p:nvPr/>
        </p:nvSpPr>
        <p:spPr>
          <a:xfrm>
            <a:off x="233916" y="679156"/>
            <a:ext cx="11958084" cy="5647700"/>
          </a:xfrm>
          <a:prstGeom prst="rect">
            <a:avLst/>
          </a:prstGeom>
          <a:noFill/>
        </p:spPr>
        <p:txBody>
          <a:bodyPr wrap="square">
            <a:spAutoFit/>
          </a:bodyPr>
          <a:lstStyle/>
          <a:p>
            <a:r>
              <a:rPr lang="en-US" sz="1900" b="1" dirty="0"/>
              <a:t>Insights</a:t>
            </a:r>
          </a:p>
          <a:p>
            <a:r>
              <a:rPr lang="en-US" sz="1900" dirty="0"/>
              <a:t>The analysis showed that approximately </a:t>
            </a:r>
            <a:r>
              <a:rPr lang="en-US" sz="1900" b="1" dirty="0"/>
              <a:t>20% of patients had heart disease</a:t>
            </a:r>
            <a:r>
              <a:rPr lang="en-US" sz="1900" dirty="0"/>
              <a:t>, with relatively small differences across most lifestyle and clinical factors. The </a:t>
            </a:r>
            <a:r>
              <a:rPr lang="en-US" sz="1900" b="1" dirty="0"/>
              <a:t>250–300 cholesterol group</a:t>
            </a:r>
            <a:r>
              <a:rPr lang="en-US" sz="1900" dirty="0"/>
              <a:t> recorded the highest heart disease prevalence at </a:t>
            </a:r>
            <a:r>
              <a:rPr lang="en-US" sz="1900" b="1" dirty="0"/>
              <a:t>20.47%</a:t>
            </a:r>
            <a:r>
              <a:rPr lang="en-US" sz="1900" dirty="0"/>
              <a:t>, suggesting a slight increase compared with the lower cholesterol categories. Exercise habits showed minimal variation, while smokers recorded a heart disease rate of </a:t>
            </a:r>
            <a:r>
              <a:rPr lang="en-US" sz="1900" b="1" dirty="0"/>
              <a:t>20.09%</a:t>
            </a:r>
            <a:r>
              <a:rPr lang="en-US" sz="1900" dirty="0"/>
              <a:t> compared with </a:t>
            </a:r>
            <a:r>
              <a:rPr lang="en-US" sz="1900" b="1" dirty="0"/>
              <a:t>19.89%</a:t>
            </a:r>
            <a:r>
              <a:rPr lang="en-US" sz="1900" dirty="0"/>
              <a:t> among non-smokers. Similarly, diabetes and family history showed only small differences in heart disease prevalence between groups. Age analysis showed that the </a:t>
            </a:r>
            <a:r>
              <a:rPr lang="en-US" sz="1900" b="1" dirty="0"/>
              <a:t>60–80 age group recorded the highest number of heart disease cases</a:t>
            </a:r>
            <a:r>
              <a:rPr lang="en-US" sz="1900" dirty="0"/>
              <a:t>, although this should be interpreted alongside the number of patients within each age group. Overall, the findings suggest that no single factor showed a strong association with heart disease in this dataset, highlighting the importance of considering </a:t>
            </a:r>
            <a:r>
              <a:rPr lang="en-US" sz="1900" b="1" dirty="0"/>
              <a:t>multiple lifestyle, demographic, and clinical factors together</a:t>
            </a:r>
            <a:r>
              <a:rPr lang="en-US" sz="1900" dirty="0"/>
              <a:t>.</a:t>
            </a:r>
          </a:p>
          <a:p>
            <a:endParaRPr lang="en-US" sz="1900" dirty="0"/>
          </a:p>
          <a:p>
            <a:r>
              <a:rPr lang="en-US" sz="1900" b="1" dirty="0"/>
              <a:t>Recommendations</a:t>
            </a:r>
          </a:p>
          <a:p>
            <a:r>
              <a:rPr lang="en-US" sz="1900" dirty="0"/>
              <a:t>Healthcare providers should continue to promote </a:t>
            </a:r>
            <a:r>
              <a:rPr lang="en-US" sz="1900" b="1" dirty="0"/>
              <a:t>regular cardiovascular screening and preventive care</a:t>
            </a:r>
            <a:r>
              <a:rPr lang="en-US" sz="1900" dirty="0"/>
              <a:t>, particularly for individuals with multiple risk factors. Monitoring cholesterol, blood glucose, BMI, stress, smoking habits, and other relevant indicators can support early identification of cardiovascular concerns. Health promotion programs should encourage </a:t>
            </a:r>
            <a:r>
              <a:rPr lang="en-US" sz="1900" b="1" dirty="0"/>
              <a:t>regular physical activity, healthy eating, smoking cessation, and effective stress management</a:t>
            </a:r>
            <a:r>
              <a:rPr lang="en-US" sz="1900" dirty="0"/>
              <a:t>. Since the analysis did not identify large differences in heart disease prevalence across individual risk factors, healthcare interventions should focus on a </a:t>
            </a:r>
            <a:r>
              <a:rPr lang="en-US" sz="1900" b="1" dirty="0"/>
              <a:t>holistic assessment of overall cardiovascular risk</a:t>
            </a:r>
            <a:r>
              <a:rPr lang="en-US" sz="1900" dirty="0"/>
              <a:t> rather than relying on a single indicator. Older adults may also benefit from regular health assessments and appropriate preventive support.</a:t>
            </a:r>
          </a:p>
        </p:txBody>
      </p:sp>
    </p:spTree>
    <p:extLst>
      <p:ext uri="{BB962C8B-B14F-4D97-AF65-F5344CB8AC3E}">
        <p14:creationId xmlns:p14="http://schemas.microsoft.com/office/powerpoint/2010/main" val="11161056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252</TotalTime>
  <Words>993</Words>
  <Application>Microsoft Office PowerPoint</Application>
  <PresentationFormat>Widescreen</PresentationFormat>
  <Paragraphs>59</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Akinnitire Akintunde</dc:creator>
  <cp:lastModifiedBy>Akinnitire Akintunde</cp:lastModifiedBy>
  <cp:revision>41</cp:revision>
  <dcterms:created xsi:type="dcterms:W3CDTF">2026-07-21T22:23:32Z</dcterms:created>
  <dcterms:modified xsi:type="dcterms:W3CDTF">2026-08-03T10:44:00Z</dcterms:modified>
</cp:coreProperties>
</file>