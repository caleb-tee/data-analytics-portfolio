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charts/chart12.xml" ContentType="application/vnd.openxmlformats-officedocument.drawingml.chart+xml"/>
  <Override PartName="/ppt/charts/style12.xml" ContentType="application/vnd.ms-office.chartstyle+xml"/>
  <Override PartName="/ppt/charts/colors12.xml" ContentType="application/vnd.ms-office.chartcolorstyle+xml"/>
  <Override PartName="/ppt/charts/chart13.xml" ContentType="application/vnd.openxmlformats-officedocument.drawingml.chart+xml"/>
  <Override PartName="/ppt/charts/style13.xml" ContentType="application/vnd.ms-office.chartstyle+xml"/>
  <Override PartName="/ppt/charts/colors13.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8" r:id="rId3"/>
    <p:sldId id="257" r:id="rId4"/>
    <p:sldId id="258" r:id="rId5"/>
    <p:sldId id="259" r:id="rId6"/>
    <p:sldId id="261" r:id="rId7"/>
    <p:sldId id="262" r:id="rId8"/>
    <p:sldId id="266" r:id="rId9"/>
    <p:sldId id="263" r:id="rId10"/>
    <p:sldId id="264" r:id="rId11"/>
    <p:sldId id="265"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2482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1.xml"/><Relationship Id="rId1" Type="http://schemas.microsoft.com/office/2011/relationships/chartStyle" Target="style11.xml"/></Relationships>
</file>

<file path=ppt/charts/_rels/chart12.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2.xml"/><Relationship Id="rId1" Type="http://schemas.microsoft.com/office/2011/relationships/chartStyle" Target="style12.xml"/></Relationships>
</file>

<file path=ppt/charts/_rels/chart13.xml.rels><?xml version="1.0" encoding="UTF-8" standalone="yes"?>
<Relationships xmlns="http://schemas.openxmlformats.org/package/2006/relationships"><Relationship Id="rId3" Type="http://schemas.openxmlformats.org/officeDocument/2006/relationships/oleObject" Target="file:///C:\Users\USER\OneDrive\Desktop\data%20sets%20skillboost\Customer%20Churn%20(GT%20Bank).xlsx" TargetMode="External"/><Relationship Id="rId2" Type="http://schemas.microsoft.com/office/2011/relationships/chartColorStyle" Target="colors13.xml"/><Relationship Id="rId1" Type="http://schemas.microsoft.com/office/2011/relationships/chartStyle" Target="style1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Profiling!PivotTable3</c:name>
    <c:fmtId val="2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Customer</a:t>
            </a:r>
            <a:r>
              <a:rPr lang="en-US" baseline="0"/>
              <a:t> by Gender</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Risk Profiling'!$H$3:$H$4</c:f>
              <c:strCache>
                <c:ptCount val="1"/>
                <c:pt idx="0">
                  <c:v>No</c:v>
                </c:pt>
              </c:strCache>
            </c:strRef>
          </c:tx>
          <c:spPr>
            <a:solidFill>
              <a:schemeClr val="accent2"/>
            </a:solidFill>
            <a:ln>
              <a:noFill/>
            </a:ln>
            <a:effectLst/>
          </c:spPr>
          <c:invertIfNegative val="0"/>
          <c:cat>
            <c:strRef>
              <c:f>'Demographic Risk Profiling'!$G$5:$G$8</c:f>
              <c:strCache>
                <c:ptCount val="3"/>
                <c:pt idx="0">
                  <c:v>Female</c:v>
                </c:pt>
                <c:pt idx="1">
                  <c:v>Male</c:v>
                </c:pt>
                <c:pt idx="2">
                  <c:v>(blank)</c:v>
                </c:pt>
              </c:strCache>
            </c:strRef>
          </c:cat>
          <c:val>
            <c:numRef>
              <c:f>'Demographic Risk Profiling'!$H$5:$H$8</c:f>
              <c:numCache>
                <c:formatCode>General</c:formatCode>
                <c:ptCount val="3"/>
                <c:pt idx="0">
                  <c:v>3404</c:v>
                </c:pt>
                <c:pt idx="1">
                  <c:v>4559</c:v>
                </c:pt>
              </c:numCache>
            </c:numRef>
          </c:val>
          <c:extLst>
            <c:ext xmlns:c16="http://schemas.microsoft.com/office/drawing/2014/chart" uri="{C3380CC4-5D6E-409C-BE32-E72D297353CC}">
              <c16:uniqueId val="{00000000-7105-4EAF-925B-3930C32AC63D}"/>
            </c:ext>
          </c:extLst>
        </c:ser>
        <c:ser>
          <c:idx val="1"/>
          <c:order val="1"/>
          <c:tx>
            <c:strRef>
              <c:f>'Demographic Risk Profiling'!$I$3:$I$4</c:f>
              <c:strCache>
                <c:ptCount val="1"/>
                <c:pt idx="0">
                  <c:v>Yes</c:v>
                </c:pt>
              </c:strCache>
            </c:strRef>
          </c:tx>
          <c:spPr>
            <a:solidFill>
              <a:schemeClr val="accent4"/>
            </a:solidFill>
            <a:ln>
              <a:noFill/>
            </a:ln>
            <a:effectLst/>
          </c:spPr>
          <c:invertIfNegative val="0"/>
          <c:cat>
            <c:strRef>
              <c:f>'Demographic Risk Profiling'!$G$5:$G$8</c:f>
              <c:strCache>
                <c:ptCount val="3"/>
                <c:pt idx="0">
                  <c:v>Female</c:v>
                </c:pt>
                <c:pt idx="1">
                  <c:v>Male</c:v>
                </c:pt>
                <c:pt idx="2">
                  <c:v>(blank)</c:v>
                </c:pt>
              </c:strCache>
            </c:strRef>
          </c:cat>
          <c:val>
            <c:numRef>
              <c:f>'Demographic Risk Profiling'!$I$5:$I$8</c:f>
              <c:numCache>
                <c:formatCode>General</c:formatCode>
                <c:ptCount val="3"/>
                <c:pt idx="0">
                  <c:v>1139</c:v>
                </c:pt>
                <c:pt idx="1">
                  <c:v>898</c:v>
                </c:pt>
              </c:numCache>
            </c:numRef>
          </c:val>
          <c:extLst>
            <c:ext xmlns:c16="http://schemas.microsoft.com/office/drawing/2014/chart" uri="{C3380CC4-5D6E-409C-BE32-E72D297353CC}">
              <c16:uniqueId val="{00000001-7105-4EAF-925B-3930C32AC63D}"/>
            </c:ext>
          </c:extLst>
        </c:ser>
        <c:ser>
          <c:idx val="2"/>
          <c:order val="2"/>
          <c:tx>
            <c:strRef>
              <c:f>'Demographic Risk Profiling'!$J$3:$J$4</c:f>
              <c:strCache>
                <c:ptCount val="1"/>
                <c:pt idx="0">
                  <c:v>(blank)</c:v>
                </c:pt>
              </c:strCache>
            </c:strRef>
          </c:tx>
          <c:spPr>
            <a:solidFill>
              <a:schemeClr val="accent6"/>
            </a:solidFill>
            <a:ln>
              <a:noFill/>
            </a:ln>
            <a:effectLst/>
          </c:spPr>
          <c:invertIfNegative val="0"/>
          <c:cat>
            <c:strRef>
              <c:f>'Demographic Risk Profiling'!$G$5:$G$8</c:f>
              <c:strCache>
                <c:ptCount val="3"/>
                <c:pt idx="0">
                  <c:v>Female</c:v>
                </c:pt>
                <c:pt idx="1">
                  <c:v>Male</c:v>
                </c:pt>
                <c:pt idx="2">
                  <c:v>(blank)</c:v>
                </c:pt>
              </c:strCache>
            </c:strRef>
          </c:cat>
          <c:val>
            <c:numRef>
              <c:f>'Demographic Risk Profiling'!$J$5:$J$8</c:f>
              <c:numCache>
                <c:formatCode>General</c:formatCode>
                <c:ptCount val="3"/>
              </c:numCache>
            </c:numRef>
          </c:val>
          <c:extLst>
            <c:ext xmlns:c16="http://schemas.microsoft.com/office/drawing/2014/chart" uri="{C3380CC4-5D6E-409C-BE32-E72D297353CC}">
              <c16:uniqueId val="{00000002-7105-4EAF-925B-3930C32AC63D}"/>
            </c:ext>
          </c:extLst>
        </c:ser>
        <c:dLbls>
          <c:showLegendKey val="0"/>
          <c:showVal val="0"/>
          <c:showCatName val="0"/>
          <c:showSerName val="0"/>
          <c:showPercent val="0"/>
          <c:showBubbleSize val="0"/>
        </c:dLbls>
        <c:gapWidth val="219"/>
        <c:overlap val="-27"/>
        <c:axId val="398719128"/>
        <c:axId val="398722728"/>
      </c:barChart>
      <c:catAx>
        <c:axId val="3987191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Exited</a:t>
                </a:r>
              </a:p>
            </c:rich>
          </c:tx>
          <c:layout>
            <c:manualLayout>
              <c:xMode val="edge"/>
              <c:yMode val="edge"/>
              <c:x val="0.8863229168621205"/>
              <c:y val="0.36339506943473193"/>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8722728"/>
        <c:crosses val="autoZero"/>
        <c:auto val="1"/>
        <c:lblAlgn val="ctr"/>
        <c:lblOffset val="100"/>
        <c:noMultiLvlLbl val="0"/>
      </c:catAx>
      <c:valAx>
        <c:axId val="398722728"/>
        <c:scaling>
          <c:orientation val="minMax"/>
        </c:scaling>
        <c:delete val="0"/>
        <c:axPos val="l"/>
        <c:majorGridlines>
          <c:spPr>
            <a:ln w="9525" cap="flat" cmpd="sng" algn="ctr">
              <a:solidFill>
                <a:schemeClr val="tx1">
                  <a:lumMod val="15000"/>
                  <a:lumOff val="85000"/>
                </a:schemeClr>
              </a:solidFill>
              <a:round/>
            </a:ln>
            <a:effectLst/>
          </c:spPr>
        </c:majorGridlines>
        <c:title>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3987191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Profiling!PivotTable2</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Customer by Age Group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Risk Profiling'!$C$3:$C$4</c:f>
              <c:strCache>
                <c:ptCount val="1"/>
                <c:pt idx="0">
                  <c:v>No</c:v>
                </c:pt>
              </c:strCache>
            </c:strRef>
          </c:tx>
          <c:spPr>
            <a:solidFill>
              <a:schemeClr val="accent2"/>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Profiling'!$C$5:$C$14</c:f>
              <c:numCache>
                <c:formatCode>General</c:formatCode>
                <c:ptCount val="9"/>
                <c:pt idx="0">
                  <c:v>2</c:v>
                </c:pt>
                <c:pt idx="1">
                  <c:v>84</c:v>
                </c:pt>
                <c:pt idx="2">
                  <c:v>1736</c:v>
                </c:pt>
                <c:pt idx="3">
                  <c:v>3913</c:v>
                </c:pt>
                <c:pt idx="4">
                  <c:v>1532</c:v>
                </c:pt>
                <c:pt idx="5">
                  <c:v>349</c:v>
                </c:pt>
                <c:pt idx="6">
                  <c:v>227</c:v>
                </c:pt>
                <c:pt idx="7">
                  <c:v>111</c:v>
                </c:pt>
                <c:pt idx="8">
                  <c:v>9</c:v>
                </c:pt>
              </c:numCache>
            </c:numRef>
          </c:val>
          <c:extLst>
            <c:ext xmlns:c16="http://schemas.microsoft.com/office/drawing/2014/chart" uri="{C3380CC4-5D6E-409C-BE32-E72D297353CC}">
              <c16:uniqueId val="{00000000-2D99-40B7-AD62-7B3755588403}"/>
            </c:ext>
          </c:extLst>
        </c:ser>
        <c:ser>
          <c:idx val="1"/>
          <c:order val="1"/>
          <c:tx>
            <c:strRef>
              <c:f>'Demographic Risk Profiling'!$D$3:$D$4</c:f>
              <c:strCache>
                <c:ptCount val="1"/>
                <c:pt idx="0">
                  <c:v>Yes</c:v>
                </c:pt>
              </c:strCache>
            </c:strRef>
          </c:tx>
          <c:spPr>
            <a:solidFill>
              <a:schemeClr val="accent4"/>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Profiling'!$D$5:$D$14</c:f>
              <c:numCache>
                <c:formatCode>General</c:formatCode>
                <c:ptCount val="9"/>
                <c:pt idx="1">
                  <c:v>5</c:v>
                </c:pt>
                <c:pt idx="2">
                  <c:v>143</c:v>
                </c:pt>
                <c:pt idx="3">
                  <c:v>538</c:v>
                </c:pt>
                <c:pt idx="4">
                  <c:v>788</c:v>
                </c:pt>
                <c:pt idx="5">
                  <c:v>448</c:v>
                </c:pt>
                <c:pt idx="6">
                  <c:v>104</c:v>
                </c:pt>
                <c:pt idx="7">
                  <c:v>10</c:v>
                </c:pt>
                <c:pt idx="8">
                  <c:v>1</c:v>
                </c:pt>
              </c:numCache>
            </c:numRef>
          </c:val>
          <c:extLst>
            <c:ext xmlns:c16="http://schemas.microsoft.com/office/drawing/2014/chart" uri="{C3380CC4-5D6E-409C-BE32-E72D297353CC}">
              <c16:uniqueId val="{00000001-2D99-40B7-AD62-7B3755588403}"/>
            </c:ext>
          </c:extLst>
        </c:ser>
        <c:dLbls>
          <c:showLegendKey val="0"/>
          <c:showVal val="0"/>
          <c:showCatName val="0"/>
          <c:showSerName val="0"/>
          <c:showPercent val="0"/>
          <c:showBubbleSize val="0"/>
        </c:dLbls>
        <c:gapWidth val="219"/>
        <c:overlap val="-27"/>
        <c:axId val="551543888"/>
        <c:axId val="551544240"/>
      </c:barChart>
      <c:catAx>
        <c:axId val="55154388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90441892400471802"/>
              <c:y val="0.4110795162990015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4240"/>
        <c:crosses val="autoZero"/>
        <c:auto val="1"/>
        <c:lblAlgn val="ctr"/>
        <c:lblOffset val="100"/>
        <c:noMultiLvlLbl val="0"/>
      </c:catAx>
      <c:valAx>
        <c:axId val="551544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3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Bank).xlsx]Customer Value and Relationship!PivotTable8</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dirty="0"/>
              <a:t>Customer by Tenure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'Customer Value and Relationship'!$C$3:$C$4</c:f>
              <c:strCache>
                <c:ptCount val="1"/>
                <c:pt idx="0">
                  <c:v>No</c:v>
                </c:pt>
              </c:strCache>
            </c:strRef>
          </c:tx>
          <c:spPr>
            <a:solidFill>
              <a:schemeClr val="accent2"/>
            </a:solidFill>
            <a:ln>
              <a:noFill/>
            </a:ln>
            <a:effectLst/>
          </c:spPr>
          <c:invertIfNegative val="0"/>
          <c:cat>
            <c:strRef>
              <c:f>'Customer Value and Relationship'!$B$5:$B$16</c:f>
              <c:strCache>
                <c:ptCount val="11"/>
                <c:pt idx="0">
                  <c:v>0</c:v>
                </c:pt>
                <c:pt idx="1">
                  <c:v>1</c:v>
                </c:pt>
                <c:pt idx="2">
                  <c:v>2</c:v>
                </c:pt>
                <c:pt idx="3">
                  <c:v>3</c:v>
                </c:pt>
                <c:pt idx="4">
                  <c:v>4</c:v>
                </c:pt>
                <c:pt idx="5">
                  <c:v>5</c:v>
                </c:pt>
                <c:pt idx="6">
                  <c:v>6</c:v>
                </c:pt>
                <c:pt idx="7">
                  <c:v>7</c:v>
                </c:pt>
                <c:pt idx="8">
                  <c:v>8</c:v>
                </c:pt>
                <c:pt idx="9">
                  <c:v>9</c:v>
                </c:pt>
                <c:pt idx="10">
                  <c:v>10</c:v>
                </c:pt>
              </c:strCache>
            </c:strRef>
          </c:cat>
          <c:val>
            <c:numRef>
              <c:f>'Customer Value and Relationship'!$C$5:$C$16</c:f>
              <c:numCache>
                <c:formatCode>General</c:formatCode>
                <c:ptCount val="11"/>
                <c:pt idx="0">
                  <c:v>318</c:v>
                </c:pt>
                <c:pt idx="1">
                  <c:v>803</c:v>
                </c:pt>
                <c:pt idx="2">
                  <c:v>847</c:v>
                </c:pt>
                <c:pt idx="3">
                  <c:v>796</c:v>
                </c:pt>
                <c:pt idx="4">
                  <c:v>786</c:v>
                </c:pt>
                <c:pt idx="5">
                  <c:v>803</c:v>
                </c:pt>
                <c:pt idx="6">
                  <c:v>771</c:v>
                </c:pt>
                <c:pt idx="7">
                  <c:v>851</c:v>
                </c:pt>
                <c:pt idx="8">
                  <c:v>828</c:v>
                </c:pt>
                <c:pt idx="9">
                  <c:v>771</c:v>
                </c:pt>
                <c:pt idx="10">
                  <c:v>389</c:v>
                </c:pt>
              </c:numCache>
            </c:numRef>
          </c:val>
          <c:extLst>
            <c:ext xmlns:c16="http://schemas.microsoft.com/office/drawing/2014/chart" uri="{C3380CC4-5D6E-409C-BE32-E72D297353CC}">
              <c16:uniqueId val="{00000000-FCAD-47BF-B1E9-94BF5F7BB7CC}"/>
            </c:ext>
          </c:extLst>
        </c:ser>
        <c:ser>
          <c:idx val="1"/>
          <c:order val="1"/>
          <c:tx>
            <c:strRef>
              <c:f>'Customer Value and Relationship'!$D$3:$D$4</c:f>
              <c:strCache>
                <c:ptCount val="1"/>
                <c:pt idx="0">
                  <c:v>Yes</c:v>
                </c:pt>
              </c:strCache>
            </c:strRef>
          </c:tx>
          <c:spPr>
            <a:solidFill>
              <a:schemeClr val="accent4"/>
            </a:solidFill>
            <a:ln>
              <a:noFill/>
            </a:ln>
            <a:effectLst/>
          </c:spPr>
          <c:invertIfNegative val="0"/>
          <c:cat>
            <c:strRef>
              <c:f>'Customer Value and Relationship'!$B$5:$B$16</c:f>
              <c:strCache>
                <c:ptCount val="11"/>
                <c:pt idx="0">
                  <c:v>0</c:v>
                </c:pt>
                <c:pt idx="1">
                  <c:v>1</c:v>
                </c:pt>
                <c:pt idx="2">
                  <c:v>2</c:v>
                </c:pt>
                <c:pt idx="3">
                  <c:v>3</c:v>
                </c:pt>
                <c:pt idx="4">
                  <c:v>4</c:v>
                </c:pt>
                <c:pt idx="5">
                  <c:v>5</c:v>
                </c:pt>
                <c:pt idx="6">
                  <c:v>6</c:v>
                </c:pt>
                <c:pt idx="7">
                  <c:v>7</c:v>
                </c:pt>
                <c:pt idx="8">
                  <c:v>8</c:v>
                </c:pt>
                <c:pt idx="9">
                  <c:v>9</c:v>
                </c:pt>
                <c:pt idx="10">
                  <c:v>10</c:v>
                </c:pt>
              </c:strCache>
            </c:strRef>
          </c:cat>
          <c:val>
            <c:numRef>
              <c:f>'Customer Value and Relationship'!$D$5:$D$16</c:f>
              <c:numCache>
                <c:formatCode>General</c:formatCode>
                <c:ptCount val="11"/>
                <c:pt idx="0">
                  <c:v>95</c:v>
                </c:pt>
                <c:pt idx="1">
                  <c:v>232</c:v>
                </c:pt>
                <c:pt idx="2">
                  <c:v>201</c:v>
                </c:pt>
                <c:pt idx="3">
                  <c:v>213</c:v>
                </c:pt>
                <c:pt idx="4">
                  <c:v>203</c:v>
                </c:pt>
                <c:pt idx="5">
                  <c:v>209</c:v>
                </c:pt>
                <c:pt idx="6">
                  <c:v>196</c:v>
                </c:pt>
                <c:pt idx="7">
                  <c:v>177</c:v>
                </c:pt>
                <c:pt idx="8">
                  <c:v>197</c:v>
                </c:pt>
                <c:pt idx="9">
                  <c:v>213</c:v>
                </c:pt>
                <c:pt idx="10">
                  <c:v>101</c:v>
                </c:pt>
              </c:numCache>
            </c:numRef>
          </c:val>
          <c:extLst>
            <c:ext xmlns:c16="http://schemas.microsoft.com/office/drawing/2014/chart" uri="{C3380CC4-5D6E-409C-BE32-E72D297353CC}">
              <c16:uniqueId val="{00000001-FCAD-47BF-B1E9-94BF5F7BB7CC}"/>
            </c:ext>
          </c:extLst>
        </c:ser>
        <c:dLbls>
          <c:showLegendKey val="0"/>
          <c:showVal val="0"/>
          <c:showCatName val="0"/>
          <c:showSerName val="0"/>
          <c:showPercent val="0"/>
          <c:showBubbleSize val="0"/>
        </c:dLbls>
        <c:gapWidth val="219"/>
        <c:overlap val="-27"/>
        <c:axId val="131468792"/>
        <c:axId val="131463752"/>
      </c:barChart>
      <c:catAx>
        <c:axId val="131468792"/>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sz="1000" b="0" i="0" u="none" strike="noStrike" kern="1200" baseline="0" dirty="0">
                    <a:solidFill>
                      <a:prstClr val="black">
                        <a:lumMod val="65000"/>
                        <a:lumOff val="35000"/>
                      </a:prstClr>
                    </a:solidFill>
                  </a:rPr>
                  <a:t>Exited</a:t>
                </a:r>
              </a:p>
            </c:rich>
          </c:tx>
          <c:layout>
            <c:manualLayout>
              <c:xMode val="edge"/>
              <c:yMode val="edge"/>
              <c:x val="0.8974549431321085"/>
              <c:y val="0.38793963254593178"/>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463752"/>
        <c:crosses val="autoZero"/>
        <c:auto val="1"/>
        <c:lblAlgn val="ctr"/>
        <c:lblOffset val="100"/>
        <c:noMultiLvlLbl val="0"/>
      </c:catAx>
      <c:valAx>
        <c:axId val="131463752"/>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31468792"/>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Bank).xlsx]Customer Value and Relationship!PivotTable9</c:name>
    <c:fmtId val="23"/>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dirty="0">
                <a:solidFill>
                  <a:prstClr val="black">
                    <a:lumMod val="65000"/>
                    <a:lumOff val="35000"/>
                  </a:prstClr>
                </a:solidFill>
              </a:rPr>
              <a:t>Customer by Account Balance</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'Customer Value and Relationship'!$C$20:$C$21</c:f>
              <c:strCache>
                <c:ptCount val="1"/>
                <c:pt idx="0">
                  <c:v>No</c:v>
                </c:pt>
              </c:strCache>
            </c:strRef>
          </c:tx>
          <c:spPr>
            <a:solidFill>
              <a:schemeClr val="accent2"/>
            </a:solidFill>
            <a:ln>
              <a:noFill/>
            </a:ln>
            <a:effectLst/>
          </c:spPr>
          <c:invertIfNegative val="0"/>
          <c:cat>
            <c:strRef>
              <c:f>'Customer Value and Relationship'!$B$22:$B$25</c:f>
              <c:strCache>
                <c:ptCount val="3"/>
                <c:pt idx="0">
                  <c:v>High Balance</c:v>
                </c:pt>
                <c:pt idx="1">
                  <c:v>Low Balance</c:v>
                </c:pt>
                <c:pt idx="2">
                  <c:v>Medium Balance</c:v>
                </c:pt>
              </c:strCache>
            </c:strRef>
          </c:cat>
          <c:val>
            <c:numRef>
              <c:f>'Customer Value and Relationship'!$C$22:$C$25</c:f>
              <c:numCache>
                <c:formatCode>General</c:formatCode>
                <c:ptCount val="3"/>
                <c:pt idx="0">
                  <c:v>109</c:v>
                </c:pt>
                <c:pt idx="1">
                  <c:v>3899</c:v>
                </c:pt>
                <c:pt idx="2">
                  <c:v>3955</c:v>
                </c:pt>
              </c:numCache>
            </c:numRef>
          </c:val>
          <c:extLst>
            <c:ext xmlns:c16="http://schemas.microsoft.com/office/drawing/2014/chart" uri="{C3380CC4-5D6E-409C-BE32-E72D297353CC}">
              <c16:uniqueId val="{00000000-AB91-4082-A7C6-A7AACDA2D7B0}"/>
            </c:ext>
          </c:extLst>
        </c:ser>
        <c:ser>
          <c:idx val="1"/>
          <c:order val="1"/>
          <c:tx>
            <c:strRef>
              <c:f>'Customer Value and Relationship'!$D$20:$D$21</c:f>
              <c:strCache>
                <c:ptCount val="1"/>
                <c:pt idx="0">
                  <c:v>Yes</c:v>
                </c:pt>
              </c:strCache>
            </c:strRef>
          </c:tx>
          <c:spPr>
            <a:solidFill>
              <a:schemeClr val="accent4"/>
            </a:solidFill>
            <a:ln>
              <a:noFill/>
            </a:ln>
            <a:effectLst/>
          </c:spPr>
          <c:invertIfNegative val="0"/>
          <c:cat>
            <c:strRef>
              <c:f>'Customer Value and Relationship'!$B$22:$B$25</c:f>
              <c:strCache>
                <c:ptCount val="3"/>
                <c:pt idx="0">
                  <c:v>High Balance</c:v>
                </c:pt>
                <c:pt idx="1">
                  <c:v>Low Balance</c:v>
                </c:pt>
                <c:pt idx="2">
                  <c:v>Medium Balance</c:v>
                </c:pt>
              </c:strCache>
            </c:strRef>
          </c:cat>
          <c:val>
            <c:numRef>
              <c:f>'Customer Value and Relationship'!$D$22:$D$25</c:f>
              <c:numCache>
                <c:formatCode>General</c:formatCode>
                <c:ptCount val="3"/>
                <c:pt idx="0">
                  <c:v>51</c:v>
                </c:pt>
                <c:pt idx="1">
                  <c:v>703</c:v>
                </c:pt>
                <c:pt idx="2">
                  <c:v>1283</c:v>
                </c:pt>
              </c:numCache>
            </c:numRef>
          </c:val>
          <c:extLst>
            <c:ext xmlns:c16="http://schemas.microsoft.com/office/drawing/2014/chart" uri="{C3380CC4-5D6E-409C-BE32-E72D297353CC}">
              <c16:uniqueId val="{00000001-AB91-4082-A7C6-A7AACDA2D7B0}"/>
            </c:ext>
          </c:extLst>
        </c:ser>
        <c:dLbls>
          <c:showLegendKey val="0"/>
          <c:showVal val="0"/>
          <c:showCatName val="0"/>
          <c:showSerName val="0"/>
          <c:showPercent val="0"/>
          <c:showBubbleSize val="0"/>
        </c:dLbls>
        <c:gapWidth val="219"/>
        <c:overlap val="-27"/>
        <c:axId val="828118848"/>
        <c:axId val="828121728"/>
      </c:barChart>
      <c:catAx>
        <c:axId val="82811884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89823272090988626"/>
              <c:y val="0.39719889180519102"/>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8121728"/>
        <c:crosses val="autoZero"/>
        <c:auto val="1"/>
        <c:lblAlgn val="ctr"/>
        <c:lblOffset val="100"/>
        <c:noMultiLvlLbl val="0"/>
      </c:catAx>
      <c:valAx>
        <c:axId val="82812172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82811884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!PivotTable5</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Lifetime Value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'!$H$2:$H$3</c:f>
              <c:strCache>
                <c:ptCount val="1"/>
                <c:pt idx="0">
                  <c:v>No</c:v>
                </c:pt>
              </c:strCache>
            </c:strRef>
          </c:tx>
          <c:spPr>
            <a:solidFill>
              <a:schemeClr val="accent2"/>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'!$H$4:$H$7</c:f>
              <c:numCache>
                <c:formatCode>General</c:formatCode>
                <c:ptCount val="3"/>
                <c:pt idx="0">
                  <c:v>3610</c:v>
                </c:pt>
                <c:pt idx="1">
                  <c:v>2385</c:v>
                </c:pt>
                <c:pt idx="2">
                  <c:v>1968</c:v>
                </c:pt>
              </c:numCache>
            </c:numRef>
          </c:val>
          <c:extLst>
            <c:ext xmlns:c16="http://schemas.microsoft.com/office/drawing/2014/chart" uri="{C3380CC4-5D6E-409C-BE32-E72D297353CC}">
              <c16:uniqueId val="{00000000-30DD-4E76-9B71-0D0C41C8364B}"/>
            </c:ext>
          </c:extLst>
        </c:ser>
        <c:ser>
          <c:idx val="1"/>
          <c:order val="1"/>
          <c:tx>
            <c:strRef>
              <c:f>'Segment-Based Churn Comparison '!$I$2:$I$3</c:f>
              <c:strCache>
                <c:ptCount val="1"/>
                <c:pt idx="0">
                  <c:v>Yes</c:v>
                </c:pt>
              </c:strCache>
            </c:strRef>
          </c:tx>
          <c:spPr>
            <a:solidFill>
              <a:schemeClr val="accent4"/>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'!$I$4:$I$7</c:f>
              <c:numCache>
                <c:formatCode>General</c:formatCode>
                <c:ptCount val="3"/>
                <c:pt idx="0">
                  <c:v>884</c:v>
                </c:pt>
                <c:pt idx="1">
                  <c:v>625</c:v>
                </c:pt>
                <c:pt idx="2">
                  <c:v>528</c:v>
                </c:pt>
              </c:numCache>
            </c:numRef>
          </c:val>
          <c:extLst>
            <c:ext xmlns:c16="http://schemas.microsoft.com/office/drawing/2014/chart" uri="{C3380CC4-5D6E-409C-BE32-E72D297353CC}">
              <c16:uniqueId val="{00000001-30DD-4E76-9B71-0D0C41C8364B}"/>
            </c:ext>
          </c:extLst>
        </c:ser>
        <c:dLbls>
          <c:showLegendKey val="0"/>
          <c:showVal val="0"/>
          <c:showCatName val="0"/>
          <c:showSerName val="0"/>
          <c:showPercent val="0"/>
          <c:showBubbleSize val="0"/>
        </c:dLbls>
        <c:gapWidth val="219"/>
        <c:overlap val="-27"/>
        <c:axId val="555740304"/>
        <c:axId val="555740656"/>
      </c:barChart>
      <c:catAx>
        <c:axId val="555740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656"/>
        <c:crosses val="autoZero"/>
        <c:auto val="1"/>
        <c:lblAlgn val="ctr"/>
        <c:lblOffset val="100"/>
        <c:noMultiLvlLbl val="0"/>
      </c:catAx>
      <c:valAx>
        <c:axId val="55574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3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!PivotTable4</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'!$C$2:$C$3</c:f>
              <c:strCache>
                <c:ptCount val="1"/>
                <c:pt idx="0">
                  <c:v>No</c:v>
                </c:pt>
              </c:strCache>
            </c:strRef>
          </c:tx>
          <c:spPr>
            <a:solidFill>
              <a:schemeClr val="accent2"/>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'!$C$4:$C$9</c:f>
              <c:numCache>
                <c:formatCode>General</c:formatCode>
                <c:ptCount val="5"/>
                <c:pt idx="0">
                  <c:v>1568</c:v>
                </c:pt>
                <c:pt idx="1">
                  <c:v>1581</c:v>
                </c:pt>
                <c:pt idx="2">
                  <c:v>1672</c:v>
                </c:pt>
                <c:pt idx="3">
                  <c:v>1614</c:v>
                </c:pt>
                <c:pt idx="4">
                  <c:v>1528</c:v>
                </c:pt>
              </c:numCache>
            </c:numRef>
          </c:val>
          <c:extLst>
            <c:ext xmlns:c16="http://schemas.microsoft.com/office/drawing/2014/chart" uri="{C3380CC4-5D6E-409C-BE32-E72D297353CC}">
              <c16:uniqueId val="{00000000-5415-42AE-8272-5B85129B5CB6}"/>
            </c:ext>
          </c:extLst>
        </c:ser>
        <c:ser>
          <c:idx val="1"/>
          <c:order val="1"/>
          <c:tx>
            <c:strRef>
              <c:f>'Segment-Based Churn Comparison '!$D$2:$D$3</c:f>
              <c:strCache>
                <c:ptCount val="1"/>
                <c:pt idx="0">
                  <c:v>Yes</c:v>
                </c:pt>
              </c:strCache>
            </c:strRef>
          </c:tx>
          <c:spPr>
            <a:solidFill>
              <a:schemeClr val="accent4"/>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'!$D$4:$D$9</c:f>
              <c:numCache>
                <c:formatCode>General</c:formatCode>
                <c:ptCount val="5"/>
                <c:pt idx="0">
                  <c:v>390</c:v>
                </c:pt>
                <c:pt idx="1">
                  <c:v>389</c:v>
                </c:pt>
                <c:pt idx="2">
                  <c:v>389</c:v>
                </c:pt>
                <c:pt idx="3">
                  <c:v>438</c:v>
                </c:pt>
                <c:pt idx="4">
                  <c:v>431</c:v>
                </c:pt>
              </c:numCache>
            </c:numRef>
          </c:val>
          <c:extLst>
            <c:ext xmlns:c16="http://schemas.microsoft.com/office/drawing/2014/chart" uri="{C3380CC4-5D6E-409C-BE32-E72D297353CC}">
              <c16:uniqueId val="{00000001-5415-42AE-8272-5B85129B5CB6}"/>
            </c:ext>
          </c:extLst>
        </c:ser>
        <c:dLbls>
          <c:showLegendKey val="0"/>
          <c:showVal val="0"/>
          <c:showCatName val="0"/>
          <c:showSerName val="0"/>
          <c:showPercent val="0"/>
          <c:showBubbleSize val="0"/>
        </c:dLbls>
        <c:gapWidth val="219"/>
        <c:overlap val="-27"/>
        <c:axId val="611293656"/>
        <c:axId val="611294360"/>
      </c:barChart>
      <c:catAx>
        <c:axId val="611293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4360"/>
        <c:crosses val="autoZero"/>
        <c:auto val="1"/>
        <c:lblAlgn val="ctr"/>
        <c:lblOffset val="100"/>
        <c:noMultiLvlLbl val="0"/>
      </c:catAx>
      <c:valAx>
        <c:axId val="611294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3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Bank).xlsx]Service Usage and Engagement In!PivotTable6</c:name>
    <c:fmtId val="26"/>
  </c:pivotSource>
  <c:chart>
    <c:title>
      <c:tx>
        <c:rich>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r>
              <a:rPr lang="en-US" sz="1400" b="0" i="0" u="none" strike="noStrike" kern="1200" spc="0" baseline="0" dirty="0">
                <a:solidFill>
                  <a:prstClr val="black">
                    <a:lumMod val="65000"/>
                    <a:lumOff val="35000"/>
                  </a:prstClr>
                </a:solidFill>
              </a:rPr>
              <a:t>Customer  by Active Credit Card Ownership</a:t>
            </a:r>
          </a:p>
        </c:rich>
      </c:tx>
      <c:layout>
        <c:manualLayout>
          <c:xMode val="edge"/>
          <c:yMode val="edge"/>
          <c:x val="0.2217564142571028"/>
          <c:y val="5.0955414012738856E-2"/>
        </c:manualLayout>
      </c:layout>
      <c:overlay val="0"/>
      <c:spPr>
        <a:noFill/>
        <a:ln>
          <a:noFill/>
        </a:ln>
        <a:effectLst/>
      </c:spPr>
      <c:txPr>
        <a:bodyPr rot="0" spcFirstLastPara="1" vertOverflow="ellipsis" vert="horz" wrap="square" anchor="ctr" anchorCtr="1"/>
        <a:lstStyle/>
        <a:p>
          <a:pPr marL="0" marR="0" lvl="0" indent="0" algn="ctr" defTabSz="914400" rtl="0" eaLnBrk="1" fontAlgn="auto" latinLnBrk="0" hangingPunct="1">
            <a:lnSpc>
              <a:spcPct val="100000"/>
            </a:lnSpc>
            <a:spcBef>
              <a:spcPts val="0"/>
            </a:spcBef>
            <a:spcAft>
              <a:spcPts val="0"/>
            </a:spcAft>
            <a:buClrTx/>
            <a:buSzTx/>
            <a:buFontTx/>
            <a:buNone/>
            <a:tabLst/>
            <a:defRPr sz="1400" b="0" i="0" u="none" strike="noStrike" kern="1200" spc="0" baseline="0">
              <a:solidFill>
                <a:prstClr val="black">
                  <a:lumMod val="65000"/>
                  <a:lumOff val="35000"/>
                </a:prst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'Service Usage and Engagement In'!$C$3:$C$4</c:f>
              <c:strCache>
                <c:ptCount val="1"/>
                <c:pt idx="0">
                  <c:v>No</c:v>
                </c:pt>
              </c:strCache>
            </c:strRef>
          </c:tx>
          <c:spPr>
            <a:solidFill>
              <a:schemeClr val="accent2"/>
            </a:solidFill>
            <a:ln>
              <a:noFill/>
            </a:ln>
            <a:effectLst/>
          </c:spPr>
          <c:invertIfNegative val="0"/>
          <c:cat>
            <c:strRef>
              <c:f>'Service Usage and Engagement In'!$B$5:$B$7</c:f>
              <c:strCache>
                <c:ptCount val="2"/>
                <c:pt idx="0">
                  <c:v>No</c:v>
                </c:pt>
                <c:pt idx="1">
                  <c:v>Yes</c:v>
                </c:pt>
              </c:strCache>
            </c:strRef>
          </c:cat>
          <c:val>
            <c:numRef>
              <c:f>'Service Usage and Engagement In'!$C$5:$C$7</c:f>
              <c:numCache>
                <c:formatCode>General</c:formatCode>
                <c:ptCount val="2"/>
                <c:pt idx="0">
                  <c:v>2332</c:v>
                </c:pt>
                <c:pt idx="1">
                  <c:v>5631</c:v>
                </c:pt>
              </c:numCache>
            </c:numRef>
          </c:val>
          <c:extLst>
            <c:ext xmlns:c16="http://schemas.microsoft.com/office/drawing/2014/chart" uri="{C3380CC4-5D6E-409C-BE32-E72D297353CC}">
              <c16:uniqueId val="{00000000-2DA7-4861-BE3B-A7638B6883C6}"/>
            </c:ext>
          </c:extLst>
        </c:ser>
        <c:ser>
          <c:idx val="1"/>
          <c:order val="1"/>
          <c:tx>
            <c:strRef>
              <c:f>'Service Usage and Engagement In'!$D$3:$D$4</c:f>
              <c:strCache>
                <c:ptCount val="1"/>
                <c:pt idx="0">
                  <c:v>Yes</c:v>
                </c:pt>
              </c:strCache>
            </c:strRef>
          </c:tx>
          <c:spPr>
            <a:solidFill>
              <a:schemeClr val="accent4"/>
            </a:solidFill>
            <a:ln>
              <a:noFill/>
            </a:ln>
            <a:effectLst/>
          </c:spPr>
          <c:invertIfNegative val="0"/>
          <c:cat>
            <c:strRef>
              <c:f>'Service Usage and Engagement In'!$B$5:$B$7</c:f>
              <c:strCache>
                <c:ptCount val="2"/>
                <c:pt idx="0">
                  <c:v>No</c:v>
                </c:pt>
                <c:pt idx="1">
                  <c:v>Yes</c:v>
                </c:pt>
              </c:strCache>
            </c:strRef>
          </c:cat>
          <c:val>
            <c:numRef>
              <c:f>'Service Usage and Engagement In'!$D$5:$D$7</c:f>
              <c:numCache>
                <c:formatCode>General</c:formatCode>
                <c:ptCount val="2"/>
                <c:pt idx="0">
                  <c:v>613</c:v>
                </c:pt>
                <c:pt idx="1">
                  <c:v>1424</c:v>
                </c:pt>
              </c:numCache>
            </c:numRef>
          </c:val>
          <c:extLst>
            <c:ext xmlns:c16="http://schemas.microsoft.com/office/drawing/2014/chart" uri="{C3380CC4-5D6E-409C-BE32-E72D297353CC}">
              <c16:uniqueId val="{00000001-2DA7-4861-BE3B-A7638B6883C6}"/>
            </c:ext>
          </c:extLst>
        </c:ser>
        <c:dLbls>
          <c:showLegendKey val="0"/>
          <c:showVal val="0"/>
          <c:showCatName val="0"/>
          <c:showSerName val="0"/>
          <c:showPercent val="0"/>
          <c:showBubbleSize val="0"/>
        </c:dLbls>
        <c:gapWidth val="219"/>
        <c:overlap val="-27"/>
        <c:axId val="973438568"/>
        <c:axId val="978046488"/>
      </c:barChart>
      <c:catAx>
        <c:axId val="97343856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90681411575229542"/>
              <c:y val="0.39996790210140937"/>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8046488"/>
        <c:crosses val="autoZero"/>
        <c:auto val="1"/>
        <c:lblAlgn val="ctr"/>
        <c:lblOffset val="100"/>
        <c:noMultiLvlLbl val="0"/>
      </c:catAx>
      <c:valAx>
        <c:axId val="97804648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7343856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dropZonesVisible val="1"/>
      </c14:pivotOptions>
    </c:ext>
    <c:ext xmlns:c16="http://schemas.microsoft.com/office/drawing/2014/chart" uri="{E28EC0CA-F0BB-4C9C-879D-F8772B89E7AC}">
      <c16:pivotOptions16>
        <c16:showExpandCollapseFieldButtons val="1"/>
      </c16:pivotOptions16>
    </c:ext>
  </c:extLst>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Bank).xlsx]Service Usage and Engagement In!PivotTable7</c:name>
    <c:fmtId val="31"/>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dirty="0"/>
              <a:t>Customer  by Active Membership Status</a:t>
            </a:r>
            <a:endParaRPr lang="en-US" dirty="0"/>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'Service Usage and Engagement In'!$C$11:$C$12</c:f>
              <c:strCache>
                <c:ptCount val="1"/>
                <c:pt idx="0">
                  <c:v>No</c:v>
                </c:pt>
              </c:strCache>
            </c:strRef>
          </c:tx>
          <c:spPr>
            <a:solidFill>
              <a:schemeClr val="accent2"/>
            </a:solidFill>
            <a:ln>
              <a:noFill/>
            </a:ln>
            <a:effectLst/>
          </c:spPr>
          <c:invertIfNegative val="0"/>
          <c:cat>
            <c:strRef>
              <c:f>'Service Usage and Engagement In'!$B$13:$B$15</c:f>
              <c:strCache>
                <c:ptCount val="2"/>
                <c:pt idx="0">
                  <c:v>No</c:v>
                </c:pt>
                <c:pt idx="1">
                  <c:v>Yes</c:v>
                </c:pt>
              </c:strCache>
            </c:strRef>
          </c:cat>
          <c:val>
            <c:numRef>
              <c:f>'Service Usage and Engagement In'!$C$13:$C$15</c:f>
              <c:numCache>
                <c:formatCode>General</c:formatCode>
                <c:ptCount val="2"/>
                <c:pt idx="0">
                  <c:v>3547</c:v>
                </c:pt>
                <c:pt idx="1">
                  <c:v>4416</c:v>
                </c:pt>
              </c:numCache>
            </c:numRef>
          </c:val>
          <c:extLst>
            <c:ext xmlns:c16="http://schemas.microsoft.com/office/drawing/2014/chart" uri="{C3380CC4-5D6E-409C-BE32-E72D297353CC}">
              <c16:uniqueId val="{00000000-43AA-4187-9FE7-5D3630BAFFED}"/>
            </c:ext>
          </c:extLst>
        </c:ser>
        <c:ser>
          <c:idx val="1"/>
          <c:order val="1"/>
          <c:tx>
            <c:strRef>
              <c:f>'Service Usage and Engagement In'!$D$11:$D$12</c:f>
              <c:strCache>
                <c:ptCount val="1"/>
                <c:pt idx="0">
                  <c:v>Yes</c:v>
                </c:pt>
              </c:strCache>
            </c:strRef>
          </c:tx>
          <c:spPr>
            <a:solidFill>
              <a:schemeClr val="accent4"/>
            </a:solidFill>
            <a:ln>
              <a:noFill/>
            </a:ln>
            <a:effectLst/>
          </c:spPr>
          <c:invertIfNegative val="0"/>
          <c:cat>
            <c:strRef>
              <c:f>'Service Usage and Engagement In'!$B$13:$B$15</c:f>
              <c:strCache>
                <c:ptCount val="2"/>
                <c:pt idx="0">
                  <c:v>No</c:v>
                </c:pt>
                <c:pt idx="1">
                  <c:v>Yes</c:v>
                </c:pt>
              </c:strCache>
            </c:strRef>
          </c:cat>
          <c:val>
            <c:numRef>
              <c:f>'Service Usage and Engagement In'!$D$13:$D$15</c:f>
              <c:numCache>
                <c:formatCode>General</c:formatCode>
                <c:ptCount val="2"/>
                <c:pt idx="0">
                  <c:v>1302</c:v>
                </c:pt>
                <c:pt idx="1">
                  <c:v>735</c:v>
                </c:pt>
              </c:numCache>
            </c:numRef>
          </c:val>
          <c:extLst>
            <c:ext xmlns:c16="http://schemas.microsoft.com/office/drawing/2014/chart" uri="{C3380CC4-5D6E-409C-BE32-E72D297353CC}">
              <c16:uniqueId val="{00000001-43AA-4187-9FE7-5D3630BAFFED}"/>
            </c:ext>
          </c:extLst>
        </c:ser>
        <c:dLbls>
          <c:showLegendKey val="0"/>
          <c:showVal val="0"/>
          <c:showCatName val="0"/>
          <c:showSerName val="0"/>
          <c:showPercent val="0"/>
          <c:showBubbleSize val="0"/>
        </c:dLbls>
        <c:gapWidth val="219"/>
        <c:overlap val="-27"/>
        <c:axId val="611297528"/>
        <c:axId val="611300696"/>
      </c:barChart>
      <c:catAx>
        <c:axId val="611297528"/>
        <c:scaling>
          <c:orientation val="minMax"/>
        </c:scaling>
        <c:delete val="0"/>
        <c:axPos val="b"/>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dirty="0"/>
                  <a:t>Exited</a:t>
                </a:r>
              </a:p>
            </c:rich>
          </c:tx>
          <c:layout>
            <c:manualLayout>
              <c:xMode val="edge"/>
              <c:yMode val="edge"/>
              <c:x val="0.89658682607188533"/>
              <c:y val="0.37372146915970916"/>
            </c:manualLayout>
          </c:layout>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300696"/>
        <c:crosses val="autoZero"/>
        <c:auto val="1"/>
        <c:lblAlgn val="ctr"/>
        <c:lblOffset val="100"/>
        <c:noMultiLvlLbl val="0"/>
      </c:catAx>
      <c:valAx>
        <c:axId val="611300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7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Profiling!PivotTable2</c:name>
    <c:fmtId val="20"/>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kern="1200" spc="0" baseline="0">
                <a:solidFill>
                  <a:sysClr val="windowText" lastClr="000000">
                    <a:lumMod val="65000"/>
                    <a:lumOff val="35000"/>
                  </a:sysClr>
                </a:solidFill>
              </a:rPr>
              <a:t>Customer by Age Group </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'Demographic Risk Profiling'!$C$3:$C$4</c:f>
              <c:strCache>
                <c:ptCount val="1"/>
                <c:pt idx="0">
                  <c:v>No</c:v>
                </c:pt>
              </c:strCache>
            </c:strRef>
          </c:tx>
          <c:spPr>
            <a:solidFill>
              <a:schemeClr val="accent2"/>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Profiling'!$C$5:$C$14</c:f>
              <c:numCache>
                <c:formatCode>General</c:formatCode>
                <c:ptCount val="9"/>
                <c:pt idx="0">
                  <c:v>2</c:v>
                </c:pt>
                <c:pt idx="1">
                  <c:v>84</c:v>
                </c:pt>
                <c:pt idx="2">
                  <c:v>1736</c:v>
                </c:pt>
                <c:pt idx="3">
                  <c:v>3913</c:v>
                </c:pt>
                <c:pt idx="4">
                  <c:v>1532</c:v>
                </c:pt>
                <c:pt idx="5">
                  <c:v>349</c:v>
                </c:pt>
                <c:pt idx="6">
                  <c:v>227</c:v>
                </c:pt>
                <c:pt idx="7">
                  <c:v>111</c:v>
                </c:pt>
                <c:pt idx="8">
                  <c:v>9</c:v>
                </c:pt>
              </c:numCache>
            </c:numRef>
          </c:val>
          <c:extLst>
            <c:ext xmlns:c16="http://schemas.microsoft.com/office/drawing/2014/chart" uri="{C3380CC4-5D6E-409C-BE32-E72D297353CC}">
              <c16:uniqueId val="{00000000-1566-4DAF-9880-D9140467157E}"/>
            </c:ext>
          </c:extLst>
        </c:ser>
        <c:ser>
          <c:idx val="1"/>
          <c:order val="1"/>
          <c:tx>
            <c:strRef>
              <c:f>'Demographic Risk Profiling'!$D$3:$D$4</c:f>
              <c:strCache>
                <c:ptCount val="1"/>
                <c:pt idx="0">
                  <c:v>Yes</c:v>
                </c:pt>
              </c:strCache>
            </c:strRef>
          </c:tx>
          <c:spPr>
            <a:solidFill>
              <a:schemeClr val="accent4"/>
            </a:solidFill>
            <a:ln>
              <a:noFill/>
            </a:ln>
            <a:effectLst/>
          </c:spPr>
          <c:invertIfNegative val="0"/>
          <c:cat>
            <c:strRef>
              <c:f>'Demographic Risk Profiling'!$B$5:$B$14</c:f>
              <c:strCache>
                <c:ptCount val="9"/>
                <c:pt idx="0">
                  <c:v>-9</c:v>
                </c:pt>
                <c:pt idx="1">
                  <c:v>18-20</c:v>
                </c:pt>
                <c:pt idx="2">
                  <c:v>21-30</c:v>
                </c:pt>
                <c:pt idx="3">
                  <c:v>31-40</c:v>
                </c:pt>
                <c:pt idx="4">
                  <c:v>41-50</c:v>
                </c:pt>
                <c:pt idx="5">
                  <c:v>51-60</c:v>
                </c:pt>
                <c:pt idx="6">
                  <c:v>61-70</c:v>
                </c:pt>
                <c:pt idx="7">
                  <c:v>71-80</c:v>
                </c:pt>
                <c:pt idx="8">
                  <c:v>81-90</c:v>
                </c:pt>
              </c:strCache>
            </c:strRef>
          </c:cat>
          <c:val>
            <c:numRef>
              <c:f>'Demographic Risk Profiling'!$D$5:$D$14</c:f>
              <c:numCache>
                <c:formatCode>General</c:formatCode>
                <c:ptCount val="9"/>
                <c:pt idx="1">
                  <c:v>5</c:v>
                </c:pt>
                <c:pt idx="2">
                  <c:v>143</c:v>
                </c:pt>
                <c:pt idx="3">
                  <c:v>538</c:v>
                </c:pt>
                <c:pt idx="4">
                  <c:v>788</c:v>
                </c:pt>
                <c:pt idx="5">
                  <c:v>448</c:v>
                </c:pt>
                <c:pt idx="6">
                  <c:v>104</c:v>
                </c:pt>
                <c:pt idx="7">
                  <c:v>10</c:v>
                </c:pt>
                <c:pt idx="8">
                  <c:v>1</c:v>
                </c:pt>
              </c:numCache>
            </c:numRef>
          </c:val>
          <c:extLst>
            <c:ext xmlns:c16="http://schemas.microsoft.com/office/drawing/2014/chart" uri="{C3380CC4-5D6E-409C-BE32-E72D297353CC}">
              <c16:uniqueId val="{00000001-1566-4DAF-9880-D9140467157E}"/>
            </c:ext>
          </c:extLst>
        </c:ser>
        <c:dLbls>
          <c:showLegendKey val="0"/>
          <c:showVal val="0"/>
          <c:showCatName val="0"/>
          <c:showSerName val="0"/>
          <c:showPercent val="0"/>
          <c:showBubbleSize val="0"/>
        </c:dLbls>
        <c:gapWidth val="219"/>
        <c:overlap val="-27"/>
        <c:axId val="551543888"/>
        <c:axId val="551544240"/>
      </c:barChart>
      <c:catAx>
        <c:axId val="55154388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4240"/>
        <c:crosses val="autoZero"/>
        <c:auto val="1"/>
        <c:lblAlgn val="ctr"/>
        <c:lblOffset val="100"/>
        <c:noMultiLvlLbl val="0"/>
      </c:catAx>
      <c:valAx>
        <c:axId val="55154424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154388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Bank).xlsx]Service Usage and Engagement In!PivotTable7</c:name>
    <c:fmtId val="26"/>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Active Membership Status</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'Service Usage and Engagement In'!$C$11:$C$12</c:f>
              <c:strCache>
                <c:ptCount val="1"/>
                <c:pt idx="0">
                  <c:v>No</c:v>
                </c:pt>
              </c:strCache>
            </c:strRef>
          </c:tx>
          <c:spPr>
            <a:solidFill>
              <a:schemeClr val="accent2"/>
            </a:solidFill>
            <a:ln>
              <a:noFill/>
            </a:ln>
            <a:effectLst/>
          </c:spPr>
          <c:invertIfNegative val="0"/>
          <c:cat>
            <c:strRef>
              <c:f>'Service Usage and Engagement In'!$B$13:$B$15</c:f>
              <c:strCache>
                <c:ptCount val="2"/>
                <c:pt idx="0">
                  <c:v>No</c:v>
                </c:pt>
                <c:pt idx="1">
                  <c:v>Yes</c:v>
                </c:pt>
              </c:strCache>
            </c:strRef>
          </c:cat>
          <c:val>
            <c:numRef>
              <c:f>'Service Usage and Engagement In'!$C$13:$C$15</c:f>
              <c:numCache>
                <c:formatCode>General</c:formatCode>
                <c:ptCount val="2"/>
                <c:pt idx="0">
                  <c:v>3547</c:v>
                </c:pt>
                <c:pt idx="1">
                  <c:v>4416</c:v>
                </c:pt>
              </c:numCache>
            </c:numRef>
          </c:val>
          <c:extLst>
            <c:ext xmlns:c16="http://schemas.microsoft.com/office/drawing/2014/chart" uri="{C3380CC4-5D6E-409C-BE32-E72D297353CC}">
              <c16:uniqueId val="{00000000-2D77-426F-9DEB-28E79A4B5B0C}"/>
            </c:ext>
          </c:extLst>
        </c:ser>
        <c:ser>
          <c:idx val="1"/>
          <c:order val="1"/>
          <c:tx>
            <c:strRef>
              <c:f>'Service Usage and Engagement In'!$D$11:$D$12</c:f>
              <c:strCache>
                <c:ptCount val="1"/>
                <c:pt idx="0">
                  <c:v>Yes</c:v>
                </c:pt>
              </c:strCache>
            </c:strRef>
          </c:tx>
          <c:spPr>
            <a:solidFill>
              <a:schemeClr val="accent4"/>
            </a:solidFill>
            <a:ln>
              <a:noFill/>
            </a:ln>
            <a:effectLst/>
          </c:spPr>
          <c:invertIfNegative val="0"/>
          <c:cat>
            <c:strRef>
              <c:f>'Service Usage and Engagement In'!$B$13:$B$15</c:f>
              <c:strCache>
                <c:ptCount val="2"/>
                <c:pt idx="0">
                  <c:v>No</c:v>
                </c:pt>
                <c:pt idx="1">
                  <c:v>Yes</c:v>
                </c:pt>
              </c:strCache>
            </c:strRef>
          </c:cat>
          <c:val>
            <c:numRef>
              <c:f>'Service Usage and Engagement In'!$D$13:$D$15</c:f>
              <c:numCache>
                <c:formatCode>General</c:formatCode>
                <c:ptCount val="2"/>
                <c:pt idx="0">
                  <c:v>1302</c:v>
                </c:pt>
                <c:pt idx="1">
                  <c:v>735</c:v>
                </c:pt>
              </c:numCache>
            </c:numRef>
          </c:val>
          <c:extLst>
            <c:ext xmlns:c16="http://schemas.microsoft.com/office/drawing/2014/chart" uri="{C3380CC4-5D6E-409C-BE32-E72D297353CC}">
              <c16:uniqueId val="{00000001-2D77-426F-9DEB-28E79A4B5B0C}"/>
            </c:ext>
          </c:extLst>
        </c:ser>
        <c:dLbls>
          <c:showLegendKey val="0"/>
          <c:showVal val="0"/>
          <c:showCatName val="0"/>
          <c:showSerName val="0"/>
          <c:showPercent val="0"/>
          <c:showBubbleSize val="0"/>
        </c:dLbls>
        <c:gapWidth val="219"/>
        <c:overlap val="-27"/>
        <c:axId val="611297528"/>
        <c:axId val="611300696"/>
      </c:barChart>
      <c:catAx>
        <c:axId val="6112975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300696"/>
        <c:crosses val="autoZero"/>
        <c:auto val="1"/>
        <c:lblAlgn val="ctr"/>
        <c:lblOffset val="100"/>
        <c:noMultiLvlLbl val="0"/>
      </c:catAx>
      <c:valAx>
        <c:axId val="61130069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7528"/>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!PivotTable5</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Lifetime Value Category</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'!$H$2:$H$3</c:f>
              <c:strCache>
                <c:ptCount val="1"/>
                <c:pt idx="0">
                  <c:v>No</c:v>
                </c:pt>
              </c:strCache>
            </c:strRef>
          </c:tx>
          <c:spPr>
            <a:solidFill>
              <a:schemeClr val="accent2"/>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'!$H$4:$H$7</c:f>
              <c:numCache>
                <c:formatCode>General</c:formatCode>
                <c:ptCount val="3"/>
                <c:pt idx="0">
                  <c:v>3610</c:v>
                </c:pt>
                <c:pt idx="1">
                  <c:v>2385</c:v>
                </c:pt>
                <c:pt idx="2">
                  <c:v>1968</c:v>
                </c:pt>
              </c:numCache>
            </c:numRef>
          </c:val>
          <c:extLst>
            <c:ext xmlns:c16="http://schemas.microsoft.com/office/drawing/2014/chart" uri="{C3380CC4-5D6E-409C-BE32-E72D297353CC}">
              <c16:uniqueId val="{00000000-FE2C-4BD0-8ECD-560716F7E4F4}"/>
            </c:ext>
          </c:extLst>
        </c:ser>
        <c:ser>
          <c:idx val="1"/>
          <c:order val="1"/>
          <c:tx>
            <c:strRef>
              <c:f>'Segment-Based Churn Comparison '!$I$2:$I$3</c:f>
              <c:strCache>
                <c:ptCount val="1"/>
                <c:pt idx="0">
                  <c:v>Yes</c:v>
                </c:pt>
              </c:strCache>
            </c:strRef>
          </c:tx>
          <c:spPr>
            <a:solidFill>
              <a:schemeClr val="accent4"/>
            </a:solidFill>
            <a:ln>
              <a:noFill/>
            </a:ln>
            <a:effectLst/>
          </c:spPr>
          <c:invertIfNegative val="0"/>
          <c:cat>
            <c:strRef>
              <c:f>'Segment-Based Churn Comparison '!$G$4:$G$7</c:f>
              <c:strCache>
                <c:ptCount val="3"/>
                <c:pt idx="0">
                  <c:v>Long-Term</c:v>
                </c:pt>
                <c:pt idx="1">
                  <c:v>Mid-Term</c:v>
                </c:pt>
                <c:pt idx="2">
                  <c:v>New</c:v>
                </c:pt>
              </c:strCache>
            </c:strRef>
          </c:cat>
          <c:val>
            <c:numRef>
              <c:f>'Segment-Based Churn Comparison '!$I$4:$I$7</c:f>
              <c:numCache>
                <c:formatCode>General</c:formatCode>
                <c:ptCount val="3"/>
                <c:pt idx="0">
                  <c:v>884</c:v>
                </c:pt>
                <c:pt idx="1">
                  <c:v>625</c:v>
                </c:pt>
                <c:pt idx="2">
                  <c:v>528</c:v>
                </c:pt>
              </c:numCache>
            </c:numRef>
          </c:val>
          <c:extLst>
            <c:ext xmlns:c16="http://schemas.microsoft.com/office/drawing/2014/chart" uri="{C3380CC4-5D6E-409C-BE32-E72D297353CC}">
              <c16:uniqueId val="{00000001-FE2C-4BD0-8ECD-560716F7E4F4}"/>
            </c:ext>
          </c:extLst>
        </c:ser>
        <c:dLbls>
          <c:showLegendKey val="0"/>
          <c:showVal val="0"/>
          <c:showCatName val="0"/>
          <c:showSerName val="0"/>
          <c:showPercent val="0"/>
          <c:showBubbleSize val="0"/>
        </c:dLbls>
        <c:gapWidth val="219"/>
        <c:overlap val="-27"/>
        <c:axId val="555740304"/>
        <c:axId val="555740656"/>
      </c:barChart>
      <c:catAx>
        <c:axId val="55574030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656"/>
        <c:crosses val="autoZero"/>
        <c:auto val="1"/>
        <c:lblAlgn val="ctr"/>
        <c:lblOffset val="100"/>
        <c:noMultiLvlLbl val="0"/>
      </c:catAx>
      <c:valAx>
        <c:axId val="555740656"/>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555740304"/>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Bank).xlsx]Segment-Based Churn Comparison !PivotTable4</c:name>
    <c:fmtId val="24"/>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by Location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1"/>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2"/>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3"/>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4"/>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5"/>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6"/>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7"/>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8"/>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
        <c:idx val="9"/>
        <c:spPr>
          <a:solidFill>
            <a:schemeClr val="accent2"/>
          </a:solidFill>
          <a:ln>
            <a:no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0"/>
          <c:showCatName val="0"/>
          <c:showSerName val="0"/>
          <c:showPercent val="0"/>
          <c:showBubbleSize val="0"/>
          <c:extLst>
            <c:ext xmlns:c15="http://schemas.microsoft.com/office/drawing/2012/chart" uri="{CE6537A1-D6FC-4f65-9D91-7224C49458BB}"/>
          </c:extLst>
        </c:dLbl>
      </c:pivotFmt>
    </c:pivotFmts>
    <c:plotArea>
      <c:layout/>
      <c:barChart>
        <c:barDir val="col"/>
        <c:grouping val="clustered"/>
        <c:varyColors val="0"/>
        <c:ser>
          <c:idx val="0"/>
          <c:order val="0"/>
          <c:tx>
            <c:strRef>
              <c:f>'Segment-Based Churn Comparison '!$C$2:$C$3</c:f>
              <c:strCache>
                <c:ptCount val="1"/>
                <c:pt idx="0">
                  <c:v>No</c:v>
                </c:pt>
              </c:strCache>
            </c:strRef>
          </c:tx>
          <c:spPr>
            <a:solidFill>
              <a:schemeClr val="accent2"/>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'!$C$4:$C$9</c:f>
              <c:numCache>
                <c:formatCode>General</c:formatCode>
                <c:ptCount val="5"/>
                <c:pt idx="0">
                  <c:v>1568</c:v>
                </c:pt>
                <c:pt idx="1">
                  <c:v>1581</c:v>
                </c:pt>
                <c:pt idx="2">
                  <c:v>1672</c:v>
                </c:pt>
                <c:pt idx="3">
                  <c:v>1614</c:v>
                </c:pt>
                <c:pt idx="4">
                  <c:v>1528</c:v>
                </c:pt>
              </c:numCache>
            </c:numRef>
          </c:val>
          <c:extLst>
            <c:ext xmlns:c16="http://schemas.microsoft.com/office/drawing/2014/chart" uri="{C3380CC4-5D6E-409C-BE32-E72D297353CC}">
              <c16:uniqueId val="{00000000-8818-434F-B104-4E648BF99ED1}"/>
            </c:ext>
          </c:extLst>
        </c:ser>
        <c:ser>
          <c:idx val="1"/>
          <c:order val="1"/>
          <c:tx>
            <c:strRef>
              <c:f>'Segment-Based Churn Comparison '!$D$2:$D$3</c:f>
              <c:strCache>
                <c:ptCount val="1"/>
                <c:pt idx="0">
                  <c:v>Yes</c:v>
                </c:pt>
              </c:strCache>
            </c:strRef>
          </c:tx>
          <c:spPr>
            <a:solidFill>
              <a:schemeClr val="accent4"/>
            </a:solidFill>
            <a:ln>
              <a:noFill/>
            </a:ln>
            <a:effectLst/>
          </c:spPr>
          <c:invertIfNegative val="0"/>
          <c:cat>
            <c:strRef>
              <c:f>'Segment-Based Churn Comparison '!$B$4:$B$9</c:f>
              <c:strCache>
                <c:ptCount val="5"/>
                <c:pt idx="0">
                  <c:v>Abuja</c:v>
                </c:pt>
                <c:pt idx="1">
                  <c:v>Enugu</c:v>
                </c:pt>
                <c:pt idx="2">
                  <c:v>Ibadan</c:v>
                </c:pt>
                <c:pt idx="3">
                  <c:v>Lagos</c:v>
                </c:pt>
                <c:pt idx="4">
                  <c:v>Port Harcourt</c:v>
                </c:pt>
              </c:strCache>
            </c:strRef>
          </c:cat>
          <c:val>
            <c:numRef>
              <c:f>'Segment-Based Churn Comparison '!$D$4:$D$9</c:f>
              <c:numCache>
                <c:formatCode>General</c:formatCode>
                <c:ptCount val="5"/>
                <c:pt idx="0">
                  <c:v>390</c:v>
                </c:pt>
                <c:pt idx="1">
                  <c:v>389</c:v>
                </c:pt>
                <c:pt idx="2">
                  <c:v>389</c:v>
                </c:pt>
                <c:pt idx="3">
                  <c:v>438</c:v>
                </c:pt>
                <c:pt idx="4">
                  <c:v>431</c:v>
                </c:pt>
              </c:numCache>
            </c:numRef>
          </c:val>
          <c:extLst>
            <c:ext xmlns:c16="http://schemas.microsoft.com/office/drawing/2014/chart" uri="{C3380CC4-5D6E-409C-BE32-E72D297353CC}">
              <c16:uniqueId val="{00000001-8818-434F-B104-4E648BF99ED1}"/>
            </c:ext>
          </c:extLst>
        </c:ser>
        <c:dLbls>
          <c:showLegendKey val="0"/>
          <c:showVal val="0"/>
          <c:showCatName val="0"/>
          <c:showSerName val="0"/>
          <c:showPercent val="0"/>
          <c:showBubbleSize val="0"/>
        </c:dLbls>
        <c:gapWidth val="219"/>
        <c:overlap val="-27"/>
        <c:axId val="611293656"/>
        <c:axId val="611294360"/>
      </c:barChart>
      <c:catAx>
        <c:axId val="61129365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4360"/>
        <c:crosses val="autoZero"/>
        <c:auto val="1"/>
        <c:lblAlgn val="ctr"/>
        <c:lblOffset val="100"/>
        <c:noMultiLvlLbl val="0"/>
      </c:catAx>
      <c:valAx>
        <c:axId val="611294360"/>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611293656"/>
        <c:crosses val="autoZero"/>
        <c:crossBetween val="between"/>
      </c:valAx>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pivotSource>
    <c:name>[Customer Churn (GT Bank).xlsx]Demographic Risk Profiling!PivotTable10</c:name>
    <c:fmtId val="28"/>
  </c:pivotSource>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sz="1400" b="0" i="0" u="none" strike="noStrike" baseline="0"/>
              <a:t>Customer  Distribution</a:t>
            </a:r>
            <a:endParaRPr lang="en-US"/>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ivotFmts>
      <c:pivotFmt>
        <c:idx val="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2"/>
        <c:spPr>
          <a:solidFill>
            <a:schemeClr val="accent2"/>
          </a:solidFill>
          <a:ln w="19050">
            <a:solidFill>
              <a:schemeClr val="lt1"/>
            </a:solidFill>
          </a:ln>
          <a:effectLst/>
        </c:spPr>
      </c:pivotFmt>
      <c:pivotFmt>
        <c:idx val="3"/>
        <c:spPr>
          <a:solidFill>
            <a:schemeClr val="accent2"/>
          </a:solidFill>
          <a:ln w="19050">
            <a:solidFill>
              <a:schemeClr val="lt1"/>
            </a:solidFill>
          </a:ln>
          <a:effectLst/>
        </c:spPr>
      </c:pivotFmt>
      <c:pivotFmt>
        <c:idx val="4"/>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5"/>
        <c:spPr>
          <a:solidFill>
            <a:schemeClr val="accent2"/>
          </a:solidFill>
          <a:ln w="19050">
            <a:solidFill>
              <a:schemeClr val="lt1"/>
            </a:solidFill>
          </a:ln>
          <a:effectLst/>
        </c:spPr>
      </c:pivotFmt>
      <c:pivotFmt>
        <c:idx val="6"/>
        <c:spPr>
          <a:solidFill>
            <a:schemeClr val="accent2"/>
          </a:solidFill>
          <a:ln w="19050">
            <a:solidFill>
              <a:schemeClr val="lt1"/>
            </a:solidFill>
          </a:ln>
          <a:effectLst/>
        </c:spPr>
      </c:pivotFmt>
      <c:pivotFmt>
        <c:idx val="7"/>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8"/>
        <c:spPr>
          <a:solidFill>
            <a:schemeClr val="accent2"/>
          </a:solidFill>
          <a:ln w="19050">
            <a:solidFill>
              <a:schemeClr val="lt1"/>
            </a:solidFill>
          </a:ln>
          <a:effectLst/>
        </c:spPr>
      </c:pivotFmt>
      <c:pivotFmt>
        <c:idx val="9"/>
        <c:spPr>
          <a:solidFill>
            <a:schemeClr val="accent2"/>
          </a:solidFill>
          <a:ln w="19050">
            <a:solidFill>
              <a:schemeClr val="lt1"/>
            </a:solidFill>
          </a:ln>
          <a:effectLst/>
        </c:spPr>
      </c:pivotFmt>
      <c:pivotFmt>
        <c:idx val="10"/>
        <c:spPr>
          <a:solidFill>
            <a:schemeClr val="accent2"/>
          </a:solidFill>
          <a:ln w="19050">
            <a:solidFill>
              <a:schemeClr val="lt1"/>
            </a:solidFill>
          </a:ln>
          <a:effectLst/>
        </c:spPr>
        <c:marker>
          <c:symbol val="none"/>
        </c:marker>
        <c:dLbl>
          <c:idx val="0"/>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extLst>
            <c:ext xmlns:c15="http://schemas.microsoft.com/office/drawing/2012/chart" uri="{CE6537A1-D6FC-4f65-9D91-7224C49458BB}"/>
          </c:extLst>
        </c:dLbl>
      </c:pivotFmt>
      <c:pivotFmt>
        <c:idx val="11"/>
        <c:spPr>
          <a:solidFill>
            <a:schemeClr val="accent2"/>
          </a:solidFill>
          <a:ln w="19050">
            <a:solidFill>
              <a:schemeClr val="lt1"/>
            </a:solidFill>
          </a:ln>
          <a:effectLst/>
        </c:spPr>
      </c:pivotFmt>
      <c:pivotFmt>
        <c:idx val="12"/>
        <c:spPr>
          <a:solidFill>
            <a:schemeClr val="accent2"/>
          </a:solidFill>
          <a:ln w="19050">
            <a:solidFill>
              <a:schemeClr val="lt1"/>
            </a:solidFill>
          </a:ln>
          <a:effectLst/>
        </c:spPr>
      </c:pivotFmt>
    </c:pivotFmts>
    <c:plotArea>
      <c:layout/>
      <c:doughnutChart>
        <c:varyColors val="1"/>
        <c:ser>
          <c:idx val="0"/>
          <c:order val="0"/>
          <c:tx>
            <c:strRef>
              <c:f>'Demographic Risk Profiling'!$H$11</c:f>
              <c:strCache>
                <c:ptCount val="1"/>
                <c:pt idx="0">
                  <c:v>Total</c:v>
                </c:pt>
              </c:strCache>
            </c:strRef>
          </c:tx>
          <c:dPt>
            <c:idx val="0"/>
            <c:bubble3D val="0"/>
            <c:spPr>
              <a:solidFill>
                <a:schemeClr val="accent2"/>
              </a:solidFill>
              <a:ln w="19050">
                <a:solidFill>
                  <a:schemeClr val="lt1"/>
                </a:solidFill>
              </a:ln>
              <a:effectLst/>
            </c:spPr>
            <c:extLst>
              <c:ext xmlns:c16="http://schemas.microsoft.com/office/drawing/2014/chart" uri="{C3380CC4-5D6E-409C-BE32-E72D297353CC}">
                <c16:uniqueId val="{00000001-239E-4D03-864B-649CCABE877F}"/>
              </c:ext>
            </c:extLst>
          </c:dPt>
          <c:dPt>
            <c:idx val="1"/>
            <c:bubble3D val="0"/>
            <c:spPr>
              <a:solidFill>
                <a:schemeClr val="accent4"/>
              </a:solidFill>
              <a:ln w="19050">
                <a:solidFill>
                  <a:schemeClr val="lt1"/>
                </a:solidFill>
              </a:ln>
              <a:effectLst/>
            </c:spPr>
            <c:extLst>
              <c:ext xmlns:c16="http://schemas.microsoft.com/office/drawing/2014/chart" uri="{C3380CC4-5D6E-409C-BE32-E72D297353CC}">
                <c16:uniqueId val="{00000003-239E-4D03-864B-649CCABE877F}"/>
              </c:ext>
            </c:extLst>
          </c:dPt>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en-US"/>
              </a:p>
            </c:txPr>
            <c:showLegendKey val="0"/>
            <c:showVal val="1"/>
            <c:showCatName val="0"/>
            <c:showSerName val="0"/>
            <c:showPercent val="0"/>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'Demographic Risk Profiling'!$G$12:$G$14</c:f>
              <c:strCache>
                <c:ptCount val="2"/>
                <c:pt idx="0">
                  <c:v>No</c:v>
                </c:pt>
                <c:pt idx="1">
                  <c:v>Yes</c:v>
                </c:pt>
              </c:strCache>
            </c:strRef>
          </c:cat>
          <c:val>
            <c:numRef>
              <c:f>'Demographic Risk Profiling'!$H$12:$H$14</c:f>
              <c:numCache>
                <c:formatCode>General</c:formatCode>
                <c:ptCount val="2"/>
                <c:pt idx="0">
                  <c:v>7963</c:v>
                </c:pt>
                <c:pt idx="1">
                  <c:v>2037</c:v>
                </c:pt>
              </c:numCache>
            </c:numRef>
          </c:val>
          <c:extLst>
            <c:ext xmlns:c16="http://schemas.microsoft.com/office/drawing/2014/chart" uri="{C3380CC4-5D6E-409C-BE32-E72D297353CC}">
              <c16:uniqueId val="{00000004-239E-4D03-864B-649CCABE877F}"/>
            </c:ext>
          </c:extLst>
        </c:ser>
        <c:dLbls>
          <c:showLegendKey val="0"/>
          <c:showVal val="1"/>
          <c:showCatName val="0"/>
          <c:showSerName val="0"/>
          <c:showPercent val="0"/>
          <c:showBubbleSize val="0"/>
          <c:showLeaderLines val="1"/>
        </c:dLbls>
        <c:firstSliceAng val="0"/>
        <c:holeSize val="75"/>
      </c:doughnutChart>
      <c:spPr>
        <a:noFill/>
        <a:ln>
          <a:noFill/>
        </a:ln>
        <a:effectLst/>
      </c:spPr>
    </c:plotArea>
    <c:legend>
      <c:legendPos val="r"/>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a:noFill/>
    </a:ln>
    <a:effectLst/>
  </c:spPr>
  <c:txPr>
    <a:bodyPr/>
    <a:lstStyle/>
    <a:p>
      <a:pPr>
        <a:defRPr/>
      </a:pPr>
      <a:endParaRPr lang="en-US"/>
    </a:p>
  </c:txPr>
  <c:externalData r:id="rId3">
    <c:autoUpdate val="0"/>
  </c:externalData>
  <c:extLst>
    <c:ext xmlns:c14="http://schemas.microsoft.com/office/drawing/2007/8/2/chart" uri="{781A3756-C4B2-4CAC-9D66-4F8BD8637D16}">
      <c14:pivotOptions>
        <c14:dropZoneFilter val="1"/>
        <c14:dropZoneCategories val="1"/>
        <c14:dropZoneData val="1"/>
        <c14:dropZoneSeries val="1"/>
      </c14:pivotOptions>
    </c:ext>
    <c:ext xmlns:c16="http://schemas.microsoft.com/office/drawing/2014/chart" uri="{E28EC0CA-F0BB-4C9C-879D-F8772B89E7AC}">
      <c16:pivotOptions16>
        <c16:showExpandCollapseFieldButtons val="1"/>
      </c16:pivotOptions16>
    </c:ext>
  </c:extLst>
</c:chartSpace>
</file>

<file path=ppt/charts/colors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2.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3.xml><?xml version="1.0" encoding="utf-8"?>
<cs:colorStyle xmlns:cs="http://schemas.microsoft.com/office/drawing/2012/chartStyle" xmlns:a="http://schemas.openxmlformats.org/drawingml/2006/main" meth="cycle" id="12">
  <a:schemeClr val="accent2"/>
  <a:schemeClr val="accent4"/>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1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6CEAF4-CB61-903E-671D-63445ED54F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31E1A864-42E1-975B-DE6B-5E34BE14969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53ECA63-73D3-0865-3E42-07AD1DF5EB65}"/>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5" name="Footer Placeholder 4">
            <a:extLst>
              <a:ext uri="{FF2B5EF4-FFF2-40B4-BE49-F238E27FC236}">
                <a16:creationId xmlns:a16="http://schemas.microsoft.com/office/drawing/2014/main" id="{D8D1BB8D-4FAB-B514-D868-FBC472AC611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B254F2-AFEF-4391-915E-2DB346F40C13}"/>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41208440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10CD3-DB5A-0BE6-1A8A-5F0FF71DDB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BF362D-85C8-894D-8270-6445E50A872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F40AC7-C801-7067-82D1-B7DBE2780DB4}"/>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5" name="Footer Placeholder 4">
            <a:extLst>
              <a:ext uri="{FF2B5EF4-FFF2-40B4-BE49-F238E27FC236}">
                <a16:creationId xmlns:a16="http://schemas.microsoft.com/office/drawing/2014/main" id="{F2857AA0-7F5A-045B-3D3A-A904DEA1BB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9F0B65-0291-00F2-CDFC-D7BB6E16D801}"/>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28225461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AEA48B-466E-76C3-B671-08388599AA3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A08176C6-2B66-60A5-A018-A3E7E39104D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7CD6D0-472A-6129-7383-205DD0F63A32}"/>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5" name="Footer Placeholder 4">
            <a:extLst>
              <a:ext uri="{FF2B5EF4-FFF2-40B4-BE49-F238E27FC236}">
                <a16:creationId xmlns:a16="http://schemas.microsoft.com/office/drawing/2014/main" id="{4C8A5144-5E7C-7571-DD08-6558EBF7275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2B51875-8DFC-0025-0A33-610CAF220BA5}"/>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20343604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5E2512-F550-CB36-DC72-F20B15F0593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FDDC42-EC35-C9D4-19EE-173B14CF217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6F3770B-8898-10D3-9BBB-A75E7AF0635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076C1B-69F9-FC50-7471-1F02F394AE95}"/>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6" name="Footer Placeholder 5">
            <a:extLst>
              <a:ext uri="{FF2B5EF4-FFF2-40B4-BE49-F238E27FC236}">
                <a16:creationId xmlns:a16="http://schemas.microsoft.com/office/drawing/2014/main" id="{68908EDD-628D-F827-FBAE-00FF9F189EA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18C6441-A312-78D4-3FB3-2EC6E4DF6A70}"/>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2161745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0FA873-F4BD-BE26-BE70-FC2DF12D4A24}"/>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48E7CAB-A846-24D6-C597-064EDC2561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4FC3FA7-19CF-7F62-7F67-E83E8387820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586E645-9145-0437-0889-7A84DBE9A44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FAC434F-DE60-8187-BBE4-16491F85DB5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3D36321-1FC0-B7F0-617F-F7E955C30888}"/>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8" name="Footer Placeholder 7">
            <a:extLst>
              <a:ext uri="{FF2B5EF4-FFF2-40B4-BE49-F238E27FC236}">
                <a16:creationId xmlns:a16="http://schemas.microsoft.com/office/drawing/2014/main" id="{DA681C83-E777-A051-7860-B301EF0E075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0CA5573-1EB5-99AD-8D30-2E4B983E3217}"/>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6440575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A8CE2B-9B02-2F12-8787-26E1DC4AF41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7404C54-D6BD-23EF-7391-106B59E90FAE}"/>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4" name="Footer Placeholder 3">
            <a:extLst>
              <a:ext uri="{FF2B5EF4-FFF2-40B4-BE49-F238E27FC236}">
                <a16:creationId xmlns:a16="http://schemas.microsoft.com/office/drawing/2014/main" id="{B5785035-D187-C30B-4867-932093E1581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BE47DF0-A5FD-D44E-A564-67048EDEA514}"/>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38967104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44779D6-7F85-8E6F-11F8-AEE23F1F42C2}"/>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3" name="Footer Placeholder 2">
            <a:extLst>
              <a:ext uri="{FF2B5EF4-FFF2-40B4-BE49-F238E27FC236}">
                <a16:creationId xmlns:a16="http://schemas.microsoft.com/office/drawing/2014/main" id="{555E7D8D-74DD-DFD7-0ACE-ACE03238B7A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6ED054B9-5BAC-16B9-5138-0D0B3613D300}"/>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07712490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8373C0-D79D-66E1-BAD4-0AFBB08DF81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BD0836D4-9A75-2854-26F5-42B57F6E5C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5FFB84B-2E44-A591-9E35-4BF5DC3622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AB516CC-6110-1E78-D097-51C148CCDBDF}"/>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6" name="Footer Placeholder 5">
            <a:extLst>
              <a:ext uri="{FF2B5EF4-FFF2-40B4-BE49-F238E27FC236}">
                <a16:creationId xmlns:a16="http://schemas.microsoft.com/office/drawing/2014/main" id="{7F3AB6CE-8881-A7DA-A532-BD18FDBD185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888CD3C-232D-D2BF-7DA7-2B265CAAA460}"/>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33369895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D8B6-79A5-71FC-8DAF-FB832EFE56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2ABDF7C6-E31B-FED0-F2A6-1720C099D2F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8C997DD-E8FC-14AB-7D2C-A3486C491EE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BC1012-3FB6-471B-1448-58A2993FA9DC}"/>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6" name="Footer Placeholder 5">
            <a:extLst>
              <a:ext uri="{FF2B5EF4-FFF2-40B4-BE49-F238E27FC236}">
                <a16:creationId xmlns:a16="http://schemas.microsoft.com/office/drawing/2014/main" id="{3E13CA38-4C51-09EE-B601-CBAAC7DFF7C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CD5570-540E-9950-D45E-7631383D9917}"/>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1703224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DFA3B9-71DF-D049-EBBB-25C31528046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02BE88D-CCCA-0005-AFA9-C35655B7DE6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47944E8-8609-A0DF-A252-6DDBCF950466}"/>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5" name="Footer Placeholder 4">
            <a:extLst>
              <a:ext uri="{FF2B5EF4-FFF2-40B4-BE49-F238E27FC236}">
                <a16:creationId xmlns:a16="http://schemas.microsoft.com/office/drawing/2014/main" id="{91243543-B61E-A3B3-B0A7-BF79933E0FF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07738D-00F9-ECB0-5C51-72F2AD1BE7F4}"/>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2530365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A7F670A-A755-68D8-4A94-5BC796875DD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DB2E0FFC-A762-AA4D-064E-463150FD911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6B6BF9D-8D59-330B-4D3E-420D5772670D}"/>
              </a:ext>
            </a:extLst>
          </p:cNvPr>
          <p:cNvSpPr>
            <a:spLocks noGrp="1"/>
          </p:cNvSpPr>
          <p:nvPr>
            <p:ph type="dt" sz="half" idx="10"/>
          </p:nvPr>
        </p:nvSpPr>
        <p:spPr/>
        <p:txBody>
          <a:bodyPr/>
          <a:lstStyle/>
          <a:p>
            <a:fld id="{C26001AA-A47C-40A2-B71F-ACC67E91746C}" type="datetimeFigureOut">
              <a:rPr lang="en-US" smtClean="0"/>
              <a:t>8/12/2026</a:t>
            </a:fld>
            <a:endParaRPr lang="en-US"/>
          </a:p>
        </p:txBody>
      </p:sp>
      <p:sp>
        <p:nvSpPr>
          <p:cNvPr id="5" name="Footer Placeholder 4">
            <a:extLst>
              <a:ext uri="{FF2B5EF4-FFF2-40B4-BE49-F238E27FC236}">
                <a16:creationId xmlns:a16="http://schemas.microsoft.com/office/drawing/2014/main" id="{8BA7F39A-8B80-56A4-5AA9-F063EB66CB2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EF4F31-FCAC-5A95-268E-AD4A738FA95A}"/>
              </a:ext>
            </a:extLst>
          </p:cNvPr>
          <p:cNvSpPr>
            <a:spLocks noGrp="1"/>
          </p:cNvSpPr>
          <p:nvPr>
            <p:ph type="sldNum" sz="quarter" idx="12"/>
          </p:nvPr>
        </p:nvSpPr>
        <p:spPr/>
        <p:txBody>
          <a:bodyPr/>
          <a:lstStyle/>
          <a:p>
            <a:fld id="{69341C93-FDA1-48EC-8FA1-2FED73AFD8BC}" type="slidenum">
              <a:rPr lang="en-US" smtClean="0"/>
              <a:t>‹#›</a:t>
            </a:fld>
            <a:endParaRPr lang="en-US"/>
          </a:p>
        </p:txBody>
      </p:sp>
    </p:spTree>
    <p:extLst>
      <p:ext uri="{BB962C8B-B14F-4D97-AF65-F5344CB8AC3E}">
        <p14:creationId xmlns:p14="http://schemas.microsoft.com/office/powerpoint/2010/main" val="36674385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DB97102-0D17-ECB0-0ACF-8A0D4366A1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488759F-FCA9-BEB9-6094-7788F14D7FB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16F07C0-9712-7C82-A046-E291A0E42C6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26001AA-A47C-40A2-B71F-ACC67E91746C}" type="datetimeFigureOut">
              <a:rPr lang="en-US" smtClean="0"/>
              <a:t>8/12/2026</a:t>
            </a:fld>
            <a:endParaRPr lang="en-US"/>
          </a:p>
        </p:txBody>
      </p:sp>
      <p:sp>
        <p:nvSpPr>
          <p:cNvPr id="5" name="Footer Placeholder 4">
            <a:extLst>
              <a:ext uri="{FF2B5EF4-FFF2-40B4-BE49-F238E27FC236}">
                <a16:creationId xmlns:a16="http://schemas.microsoft.com/office/drawing/2014/main" id="{5D197134-97C2-77F1-2F3D-3C66CF3A459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0C8739E-7C97-E272-2BB0-66CC34D3894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341C93-FDA1-48EC-8FA1-2FED73AFD8BC}" type="slidenum">
              <a:rPr lang="en-US" smtClean="0"/>
              <a:t>‹#›</a:t>
            </a:fld>
            <a:endParaRPr lang="en-US"/>
          </a:p>
        </p:txBody>
      </p:sp>
    </p:spTree>
    <p:extLst>
      <p:ext uri="{BB962C8B-B14F-4D97-AF65-F5344CB8AC3E}">
        <p14:creationId xmlns:p14="http://schemas.microsoft.com/office/powerpoint/2010/main" val="5590941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chart" Target="../charts/chart3.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chart" Target="../charts/chart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chart" Target="../charts/chart8.xml"/><Relationship Id="rId2" Type="http://schemas.openxmlformats.org/officeDocument/2006/relationships/chart" Target="../charts/chart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chart" Target="../charts/chart9.xml"/><Relationship Id="rId1" Type="http://schemas.openxmlformats.org/officeDocument/2006/relationships/slideLayout" Target="../slideLayouts/slideLayout7.xml"/><Relationship Id="rId6" Type="http://schemas.openxmlformats.org/officeDocument/2006/relationships/chart" Target="../charts/chart13.xml"/><Relationship Id="rId5" Type="http://schemas.openxmlformats.org/officeDocument/2006/relationships/chart" Target="../charts/chart12.xml"/><Relationship Id="rId4" Type="http://schemas.openxmlformats.org/officeDocument/2006/relationships/chart" Target="../charts/chart1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1312A51-D328-83BD-363D-A81B759D2D5B}"/>
              </a:ext>
            </a:extLst>
          </p:cNvPr>
          <p:cNvSpPr txBox="1"/>
          <p:nvPr/>
        </p:nvSpPr>
        <p:spPr>
          <a:xfrm>
            <a:off x="3051545" y="3105834"/>
            <a:ext cx="6804836" cy="646331"/>
          </a:xfrm>
          <a:prstGeom prst="rect">
            <a:avLst/>
          </a:prstGeom>
          <a:noFill/>
        </p:spPr>
        <p:txBody>
          <a:bodyPr wrap="square" rtlCol="0">
            <a:spAutoFit/>
          </a:bodyPr>
          <a:lstStyle/>
          <a:p>
            <a:r>
              <a:rPr lang="en-US" sz="3600" b="1" dirty="0">
                <a:solidFill>
                  <a:schemeClr val="bg1"/>
                </a:solidFill>
              </a:rPr>
              <a:t>CUSTOMER CHURN   ANALYSIS </a:t>
            </a:r>
          </a:p>
        </p:txBody>
      </p:sp>
    </p:spTree>
    <p:extLst>
      <p:ext uri="{BB962C8B-B14F-4D97-AF65-F5344CB8AC3E}">
        <p14:creationId xmlns:p14="http://schemas.microsoft.com/office/powerpoint/2010/main" val="23345277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040A93E-E141-3619-30FA-5BA54DB7EC85}"/>
              </a:ext>
            </a:extLst>
          </p:cNvPr>
          <p:cNvSpPr txBox="1"/>
          <p:nvPr/>
        </p:nvSpPr>
        <p:spPr>
          <a:xfrm>
            <a:off x="265813" y="705539"/>
            <a:ext cx="6103088" cy="3359061"/>
          </a:xfrm>
          <a:prstGeom prst="rect">
            <a:avLst/>
          </a:prstGeom>
          <a:noFill/>
        </p:spPr>
        <p:txBody>
          <a:bodyPr wrap="square">
            <a:spAutoFit/>
          </a:bodyPr>
          <a:lstStyle/>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PROJECT OVERVIEW</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DATA CLEANING &amp; PREPARATION</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ANALYSIS</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KEY FINDINGS &amp; VISUALIZATIONS</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DASHBOARD</a:t>
            </a:r>
          </a:p>
          <a:p>
            <a:pPr marL="342900" indent="-342900">
              <a:lnSpc>
                <a:spcPct val="150000"/>
              </a:lnSpc>
              <a:buFont typeface="Wingdings" panose="05000000000000000000" pitchFamily="2" charset="2"/>
              <a:buChar char="v"/>
            </a:pPr>
            <a:r>
              <a:rPr lang="en-US" sz="2400" dirty="0">
                <a:solidFill>
                  <a:schemeClr val="bg1"/>
                </a:solidFill>
                <a:latin typeface="Calibri" panose="020F0502020204030204" pitchFamily="34" charset="0"/>
                <a:cs typeface="Calibri" panose="020F0502020204030204" pitchFamily="34" charset="0"/>
              </a:rPr>
              <a:t>INSIGHT &amp; RECOMMENDATION</a:t>
            </a:r>
          </a:p>
        </p:txBody>
      </p:sp>
      <p:sp>
        <p:nvSpPr>
          <p:cNvPr id="5" name="TextBox 10">
            <a:extLst>
              <a:ext uri="{FF2B5EF4-FFF2-40B4-BE49-F238E27FC236}">
                <a16:creationId xmlns:a16="http://schemas.microsoft.com/office/drawing/2014/main" id="{317D06E2-79B7-40F3-9B89-770C319F97B0}"/>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TABLE OF CONTENT</a:t>
            </a:r>
          </a:p>
        </p:txBody>
      </p:sp>
    </p:spTree>
    <p:extLst>
      <p:ext uri="{BB962C8B-B14F-4D97-AF65-F5344CB8AC3E}">
        <p14:creationId xmlns:p14="http://schemas.microsoft.com/office/powerpoint/2010/main" val="2750972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2" name="TextBox 10">
            <a:extLst>
              <a:ext uri="{FF2B5EF4-FFF2-40B4-BE49-F238E27FC236}">
                <a16:creationId xmlns:a16="http://schemas.microsoft.com/office/drawing/2014/main" id="{A957DE86-2B2B-29E5-01AA-AF9B42E80F9F}"/>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PROJECT OVERVIEW</a:t>
            </a:r>
          </a:p>
        </p:txBody>
      </p:sp>
      <p:sp>
        <p:nvSpPr>
          <p:cNvPr id="3" name="TextBox 2">
            <a:extLst>
              <a:ext uri="{FF2B5EF4-FFF2-40B4-BE49-F238E27FC236}">
                <a16:creationId xmlns:a16="http://schemas.microsoft.com/office/drawing/2014/main" id="{47D1D8D5-7A7F-28A5-ECA8-CC4BBCB6342F}"/>
              </a:ext>
            </a:extLst>
          </p:cNvPr>
          <p:cNvSpPr txBox="1"/>
          <p:nvPr/>
        </p:nvSpPr>
        <p:spPr>
          <a:xfrm>
            <a:off x="233915" y="874455"/>
            <a:ext cx="11132289" cy="5016758"/>
          </a:xfrm>
          <a:prstGeom prst="rect">
            <a:avLst/>
          </a:prstGeom>
          <a:noFill/>
        </p:spPr>
        <p:txBody>
          <a:bodyPr wrap="square" rtlCol="0">
            <a:spAutoFit/>
          </a:bodyPr>
          <a:lstStyle/>
          <a:p>
            <a:r>
              <a:rPr lang="en-US" sz="2000" b="1" dirty="0">
                <a:solidFill>
                  <a:schemeClr val="bg1"/>
                </a:solidFill>
              </a:rPr>
              <a:t>Project Background:</a:t>
            </a:r>
            <a:br>
              <a:rPr lang="en-US" sz="2000" dirty="0">
                <a:solidFill>
                  <a:schemeClr val="bg1"/>
                </a:solidFill>
              </a:rPr>
            </a:br>
            <a:r>
              <a:rPr lang="en-US" sz="2000" dirty="0">
                <a:solidFill>
                  <a:schemeClr val="bg1"/>
                </a:solidFill>
              </a:rPr>
              <a:t>This project analyzed customer account and demographic information to understand the factors associated with customers leaving the bank.</a:t>
            </a:r>
          </a:p>
          <a:p>
            <a:endParaRPr lang="en-US" sz="2000" dirty="0">
              <a:solidFill>
                <a:schemeClr val="bg1"/>
              </a:solidFill>
            </a:endParaRPr>
          </a:p>
          <a:p>
            <a:r>
              <a:rPr lang="en-US" sz="2000" b="1" dirty="0">
                <a:solidFill>
                  <a:schemeClr val="bg1"/>
                </a:solidFill>
              </a:rPr>
              <a:t>Objective:</a:t>
            </a:r>
            <a:br>
              <a:rPr lang="en-US" sz="2000" dirty="0">
                <a:solidFill>
                  <a:schemeClr val="bg1"/>
                </a:solidFill>
              </a:rPr>
            </a:br>
            <a:r>
              <a:rPr lang="en-US" sz="2000" dirty="0">
                <a:solidFill>
                  <a:schemeClr val="bg1"/>
                </a:solidFill>
              </a:rPr>
              <a:t>To identify customer segments with elevated churn risk and provide evidence-based strategies for improving customer retention.</a:t>
            </a:r>
          </a:p>
          <a:p>
            <a:endParaRPr lang="en-US" sz="2000" dirty="0">
              <a:solidFill>
                <a:schemeClr val="bg1"/>
              </a:solidFill>
            </a:endParaRPr>
          </a:p>
          <a:p>
            <a:r>
              <a:rPr lang="en-US" sz="2000" b="1" dirty="0">
                <a:solidFill>
                  <a:schemeClr val="bg1"/>
                </a:solidFill>
              </a:rPr>
              <a:t>Key Analytical Tasks:</a:t>
            </a:r>
            <a:br>
              <a:rPr lang="en-US" sz="2000" dirty="0">
                <a:solidFill>
                  <a:schemeClr val="bg1"/>
                </a:solidFill>
              </a:rPr>
            </a:br>
            <a:r>
              <a:rPr lang="en-US" sz="2000" dirty="0">
                <a:solidFill>
                  <a:schemeClr val="bg1"/>
                </a:solidFill>
              </a:rPr>
              <a:t>Data cleaning; demographic risk profiling; tenure and balance analysis; geographic churn comparison; customer lifetime value analysis; service usage analysis; customer engagement assessment; and retention recommendations.</a:t>
            </a:r>
          </a:p>
          <a:p>
            <a:endParaRPr lang="en-US" sz="2000" dirty="0">
              <a:solidFill>
                <a:schemeClr val="bg1"/>
              </a:solidFill>
            </a:endParaRPr>
          </a:p>
          <a:p>
            <a:r>
              <a:rPr lang="en-US" sz="2000" b="1" dirty="0">
                <a:solidFill>
                  <a:schemeClr val="bg1"/>
                </a:solidFill>
              </a:rPr>
              <a:t>Key Variables:</a:t>
            </a:r>
            <a:br>
              <a:rPr lang="en-US" sz="2000" dirty="0">
                <a:solidFill>
                  <a:schemeClr val="bg1"/>
                </a:solidFill>
              </a:rPr>
            </a:br>
            <a:r>
              <a:rPr lang="en-US" sz="2000" dirty="0">
                <a:solidFill>
                  <a:schemeClr val="bg1"/>
                </a:solidFill>
              </a:rPr>
              <a:t>Age, gender, geography, tenure, account balance, credit-card ownership, active membership, customer lifetime category, and churn status.</a:t>
            </a:r>
          </a:p>
        </p:txBody>
      </p:sp>
    </p:spTree>
    <p:extLst>
      <p:ext uri="{BB962C8B-B14F-4D97-AF65-F5344CB8AC3E}">
        <p14:creationId xmlns:p14="http://schemas.microsoft.com/office/powerpoint/2010/main" val="2110297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8" name="TextBox 10">
            <a:extLst>
              <a:ext uri="{FF2B5EF4-FFF2-40B4-BE49-F238E27FC236}">
                <a16:creationId xmlns:a16="http://schemas.microsoft.com/office/drawing/2014/main" id="{44CDF495-186A-6515-09F7-E029A81A1781}"/>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DATA CLEANING &amp; PREPARATION</a:t>
            </a:r>
          </a:p>
        </p:txBody>
      </p:sp>
      <p:sp>
        <p:nvSpPr>
          <p:cNvPr id="3" name="TextBox 2">
            <a:extLst>
              <a:ext uri="{FF2B5EF4-FFF2-40B4-BE49-F238E27FC236}">
                <a16:creationId xmlns:a16="http://schemas.microsoft.com/office/drawing/2014/main" id="{6C937CF4-6810-156C-C757-1C6AB7249FD8}"/>
              </a:ext>
            </a:extLst>
          </p:cNvPr>
          <p:cNvSpPr txBox="1"/>
          <p:nvPr/>
        </p:nvSpPr>
        <p:spPr>
          <a:xfrm>
            <a:off x="116958" y="599404"/>
            <a:ext cx="11919098" cy="5355312"/>
          </a:xfrm>
          <a:prstGeom prst="rect">
            <a:avLst/>
          </a:prstGeom>
          <a:noFill/>
        </p:spPr>
        <p:txBody>
          <a:bodyPr wrap="square">
            <a:spAutoFit/>
          </a:bodyPr>
          <a:lstStyle/>
          <a:p>
            <a:r>
              <a:rPr lang="en-US" dirty="0">
                <a:solidFill>
                  <a:schemeClr val="bg1"/>
                </a:solidFill>
              </a:rPr>
              <a:t>The dataset was reviewed to identify any personally identifiable information (PII) that could compromise customer privacy. The dataset was examined for missing values to determine whether any records contained incomplete information. The assessment showed that no missing values were found, indicating that all customer records were complete and no imputation or deletion was required. To facilitate demographic analysis, the </a:t>
            </a:r>
            <a:r>
              <a:rPr lang="en-US" b="1" dirty="0">
                <a:solidFill>
                  <a:schemeClr val="bg1"/>
                </a:solidFill>
              </a:rPr>
              <a:t>Age</a:t>
            </a:r>
            <a:r>
              <a:rPr lang="en-US" dirty="0">
                <a:solidFill>
                  <a:schemeClr val="bg1"/>
                </a:solidFill>
              </a:rPr>
              <a:t> variable was grouped into meaningful categories (18–30, 31–40, 41–50, 51–60, and 61+) to enable comparisons of customer churn across different age groups.</a:t>
            </a:r>
          </a:p>
          <a:p>
            <a:endParaRPr lang="en-US" dirty="0">
              <a:solidFill>
                <a:schemeClr val="bg1"/>
              </a:solidFill>
            </a:endParaRPr>
          </a:p>
          <a:p>
            <a:r>
              <a:rPr lang="en-US" dirty="0">
                <a:solidFill>
                  <a:schemeClr val="bg1"/>
                </a:solidFill>
              </a:rPr>
              <a:t>The dataset was also checked for consistency to ensure that each variable contained valid and meaningful values. Duplicate records were examined, and none were found. Data types were verified to ensure numerical variables were stored as numeric values and categorical variables as text or categories. Binary variables, including </a:t>
            </a:r>
            <a:r>
              <a:rPr lang="en-US" b="1" dirty="0" err="1">
                <a:solidFill>
                  <a:schemeClr val="bg1"/>
                </a:solidFill>
              </a:rPr>
              <a:t>HasCrCard</a:t>
            </a:r>
            <a:r>
              <a:rPr lang="en-US" dirty="0">
                <a:solidFill>
                  <a:schemeClr val="bg1"/>
                </a:solidFill>
              </a:rPr>
              <a:t>, </a:t>
            </a:r>
            <a:r>
              <a:rPr lang="en-US" b="1" dirty="0" err="1">
                <a:solidFill>
                  <a:schemeClr val="bg1"/>
                </a:solidFill>
              </a:rPr>
              <a:t>IsActiveMember</a:t>
            </a:r>
            <a:r>
              <a:rPr lang="en-US" dirty="0">
                <a:solidFill>
                  <a:schemeClr val="bg1"/>
                </a:solidFill>
              </a:rPr>
              <a:t>, and </a:t>
            </a:r>
            <a:r>
              <a:rPr lang="en-US" b="1" dirty="0">
                <a:solidFill>
                  <a:schemeClr val="bg1"/>
                </a:solidFill>
              </a:rPr>
              <a:t>Exited</a:t>
            </a:r>
            <a:r>
              <a:rPr lang="en-US" dirty="0">
                <a:solidFill>
                  <a:schemeClr val="bg1"/>
                </a:solidFill>
              </a:rPr>
              <a:t>, were confirmed to contain only valid values (0 = No, 1 = Yes). Category names were checked for spelling and formatting consistency, while numerical variables such as </a:t>
            </a:r>
            <a:r>
              <a:rPr lang="en-US" b="1" dirty="0">
                <a:solidFill>
                  <a:schemeClr val="bg1"/>
                </a:solidFill>
              </a:rPr>
              <a:t>Age</a:t>
            </a:r>
            <a:r>
              <a:rPr lang="en-US" dirty="0">
                <a:solidFill>
                  <a:schemeClr val="bg1"/>
                </a:solidFill>
              </a:rPr>
              <a:t>, </a:t>
            </a:r>
            <a:r>
              <a:rPr lang="en-US" b="1" dirty="0">
                <a:solidFill>
                  <a:schemeClr val="bg1"/>
                </a:solidFill>
              </a:rPr>
              <a:t>Balance</a:t>
            </a:r>
            <a:r>
              <a:rPr lang="en-US" dirty="0">
                <a:solidFill>
                  <a:schemeClr val="bg1"/>
                </a:solidFill>
              </a:rPr>
              <a:t>, </a:t>
            </a:r>
            <a:r>
              <a:rPr lang="en-US" b="1" dirty="0" err="1">
                <a:solidFill>
                  <a:schemeClr val="bg1"/>
                </a:solidFill>
              </a:rPr>
              <a:t>CreditScore</a:t>
            </a:r>
            <a:r>
              <a:rPr lang="en-US" dirty="0">
                <a:solidFill>
                  <a:schemeClr val="bg1"/>
                </a:solidFill>
              </a:rPr>
              <a:t>, </a:t>
            </a:r>
            <a:r>
              <a:rPr lang="en-US" b="1" dirty="0">
                <a:solidFill>
                  <a:schemeClr val="bg1"/>
                </a:solidFill>
              </a:rPr>
              <a:t>Tenure</a:t>
            </a:r>
            <a:r>
              <a:rPr lang="en-US" dirty="0">
                <a:solidFill>
                  <a:schemeClr val="bg1"/>
                </a:solidFill>
              </a:rPr>
              <a:t>, and </a:t>
            </a:r>
            <a:r>
              <a:rPr lang="en-US" b="1" dirty="0" err="1">
                <a:solidFill>
                  <a:schemeClr val="bg1"/>
                </a:solidFill>
              </a:rPr>
              <a:t>EstimatedSalary</a:t>
            </a:r>
            <a:r>
              <a:rPr lang="en-US" dirty="0">
                <a:solidFill>
                  <a:schemeClr val="bg1"/>
                </a:solidFill>
              </a:rPr>
              <a:t> were reviewed to ensure they fell within reasonable business ranges. No major inconsistencies were identified.</a:t>
            </a:r>
          </a:p>
          <a:p>
            <a:endParaRPr lang="en-US" dirty="0">
              <a:solidFill>
                <a:schemeClr val="bg1"/>
              </a:solidFill>
            </a:endParaRPr>
          </a:p>
          <a:p>
            <a:r>
              <a:rPr lang="en-US" dirty="0">
                <a:solidFill>
                  <a:schemeClr val="bg1"/>
                </a:solidFill>
              </a:rPr>
              <a:t>To improve the quality and readability of the analysis, binary variables were relabeled using meaningful categories (e.g., </a:t>
            </a:r>
            <a:r>
              <a:rPr lang="en-US" b="1" dirty="0">
                <a:solidFill>
                  <a:schemeClr val="bg1"/>
                </a:solidFill>
              </a:rPr>
              <a:t>Yes/No</a:t>
            </a:r>
            <a:r>
              <a:rPr lang="en-US" dirty="0">
                <a:solidFill>
                  <a:schemeClr val="bg1"/>
                </a:solidFill>
              </a:rPr>
              <a:t> instead of </a:t>
            </a:r>
            <a:r>
              <a:rPr lang="en-US" b="1" dirty="0">
                <a:solidFill>
                  <a:schemeClr val="bg1"/>
                </a:solidFill>
              </a:rPr>
              <a:t>1/0</a:t>
            </a:r>
            <a:r>
              <a:rPr lang="en-US" dirty="0">
                <a:solidFill>
                  <a:schemeClr val="bg1"/>
                </a:solidFill>
              </a:rPr>
              <a:t>) for clearer interpretation in visualizations. Numerical</a:t>
            </a:r>
            <a:r>
              <a:rPr lang="en-US" baseline="0" dirty="0">
                <a:solidFill>
                  <a:schemeClr val="bg1"/>
                </a:solidFill>
              </a:rPr>
              <a:t> variable such as </a:t>
            </a:r>
            <a:r>
              <a:rPr lang="en-US" b="1" dirty="0">
                <a:solidFill>
                  <a:schemeClr val="bg1"/>
                </a:solidFill>
                <a:effectLst/>
                <a:latin typeface="+mn-lt"/>
                <a:ea typeface="+mn-ea"/>
                <a:cs typeface="+mn-cs"/>
              </a:rPr>
              <a:t>Age</a:t>
            </a:r>
            <a:r>
              <a:rPr lang="en-US" dirty="0">
                <a:solidFill>
                  <a:schemeClr val="bg1"/>
                </a:solidFill>
                <a:effectLst/>
                <a:latin typeface="+mn-lt"/>
                <a:ea typeface="+mn-ea"/>
                <a:cs typeface="+mn-cs"/>
              </a:rPr>
              <a:t>, </a:t>
            </a:r>
            <a:r>
              <a:rPr lang="en-US" b="1" dirty="0">
                <a:solidFill>
                  <a:schemeClr val="bg1"/>
                </a:solidFill>
                <a:effectLst/>
                <a:latin typeface="+mn-lt"/>
                <a:ea typeface="+mn-ea"/>
                <a:cs typeface="+mn-cs"/>
              </a:rPr>
              <a:t>Balance</a:t>
            </a:r>
            <a:r>
              <a:rPr lang="en-US" baseline="0" dirty="0">
                <a:solidFill>
                  <a:schemeClr val="bg1"/>
                </a:solidFill>
              </a:rPr>
              <a:t> were also grouped.</a:t>
            </a:r>
            <a:r>
              <a:rPr lang="en-US" dirty="0">
                <a:solidFill>
                  <a:schemeClr val="bg1"/>
                </a:solidFill>
              </a:rPr>
              <a:t> No further transformations were required, as the dataset was already well structured for exploratory data analysis.</a:t>
            </a:r>
          </a:p>
          <a:p>
            <a:endParaRPr lang="en-US" dirty="0">
              <a:solidFill>
                <a:schemeClr val="bg1"/>
              </a:solidFill>
            </a:endParaRPr>
          </a:p>
          <a:p>
            <a:r>
              <a:rPr lang="en-US" dirty="0">
                <a:solidFill>
                  <a:schemeClr val="bg1"/>
                </a:solidFill>
              </a:rPr>
              <a:t>The dataset was found to be of high quality. No missing values or duplicate records were detected, variable formats were verified, and the cleaned dataset was considered suitable for customer churn analysis.</a:t>
            </a:r>
          </a:p>
        </p:txBody>
      </p:sp>
    </p:spTree>
    <p:extLst>
      <p:ext uri="{BB962C8B-B14F-4D97-AF65-F5344CB8AC3E}">
        <p14:creationId xmlns:p14="http://schemas.microsoft.com/office/powerpoint/2010/main" val="32153943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5" name="TextBox 10">
            <a:extLst>
              <a:ext uri="{FF2B5EF4-FFF2-40B4-BE49-F238E27FC236}">
                <a16:creationId xmlns:a16="http://schemas.microsoft.com/office/drawing/2014/main" id="{5B7142A6-25E3-60BB-2805-3229EFB86857}"/>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ANALYSIS</a:t>
            </a:r>
            <a:endParaRPr lang="en-US" sz="2800" dirty="0">
              <a:solidFill>
                <a:srgbClr val="E24825"/>
              </a:solidFill>
            </a:endParaRPr>
          </a:p>
        </p:txBody>
      </p:sp>
      <p:sp>
        <p:nvSpPr>
          <p:cNvPr id="8" name="TextBox 7">
            <a:extLst>
              <a:ext uri="{FF2B5EF4-FFF2-40B4-BE49-F238E27FC236}">
                <a16:creationId xmlns:a16="http://schemas.microsoft.com/office/drawing/2014/main" id="{FCED054F-C75D-1B89-A196-4021F1F9DC35}"/>
              </a:ext>
            </a:extLst>
          </p:cNvPr>
          <p:cNvSpPr txBox="1"/>
          <p:nvPr/>
        </p:nvSpPr>
        <p:spPr>
          <a:xfrm>
            <a:off x="95693" y="705569"/>
            <a:ext cx="11674549" cy="3785652"/>
          </a:xfrm>
          <a:prstGeom prst="rect">
            <a:avLst/>
          </a:prstGeom>
          <a:noFill/>
        </p:spPr>
        <p:txBody>
          <a:bodyPr wrap="square" rtlCol="0">
            <a:spAutoFit/>
          </a:bodyPr>
          <a:lstStyle/>
          <a:p>
            <a:r>
              <a:rPr lang="en-US" sz="2000" dirty="0">
                <a:solidFill>
                  <a:schemeClr val="bg1"/>
                </a:solidFill>
              </a:rPr>
              <a:t>Customers were segmented by </a:t>
            </a:r>
            <a:r>
              <a:rPr lang="en-US" sz="2000" b="1" dirty="0">
                <a:solidFill>
                  <a:schemeClr val="bg1"/>
                </a:solidFill>
              </a:rPr>
              <a:t>age, gender, geography, tenure, account balance, customer lifetime value, credit-card ownership, and active membership status</a:t>
            </a:r>
            <a:r>
              <a:rPr lang="en-US" sz="2000" dirty="0">
                <a:solidFill>
                  <a:schemeClr val="bg1"/>
                </a:solidFill>
              </a:rPr>
              <a:t> to examine how demographic, financial, and engagement characteristics influenced customer churn. </a:t>
            </a:r>
            <a:r>
              <a:rPr lang="en-US" sz="2000" b="1" dirty="0">
                <a:solidFill>
                  <a:schemeClr val="bg1"/>
                </a:solidFill>
              </a:rPr>
              <a:t>PivotTables, calculated fields, and charts</a:t>
            </a:r>
            <a:r>
              <a:rPr lang="en-US" sz="2000" dirty="0">
                <a:solidFill>
                  <a:schemeClr val="bg1"/>
                </a:solidFill>
              </a:rPr>
              <a:t> were used to calculate churn rates and compare customer </a:t>
            </a:r>
            <a:r>
              <a:rPr lang="en-US" sz="2000" dirty="0" err="1">
                <a:solidFill>
                  <a:schemeClr val="bg1"/>
                </a:solidFill>
              </a:rPr>
              <a:t>behaviour</a:t>
            </a:r>
            <a:r>
              <a:rPr lang="en-US" sz="2000" dirty="0">
                <a:solidFill>
                  <a:schemeClr val="bg1"/>
                </a:solidFill>
              </a:rPr>
              <a:t> across the different segments.</a:t>
            </a:r>
          </a:p>
          <a:p>
            <a:r>
              <a:rPr lang="en-US" sz="2000" dirty="0">
                <a:solidFill>
                  <a:schemeClr val="bg1"/>
                </a:solidFill>
              </a:rPr>
              <a:t>The analysis examined whether factors such as </a:t>
            </a:r>
            <a:r>
              <a:rPr lang="en-US" sz="2000" b="1" dirty="0">
                <a:solidFill>
                  <a:schemeClr val="bg1"/>
                </a:solidFill>
              </a:rPr>
              <a:t>customer age, location, relationship duration, and account balance</a:t>
            </a:r>
            <a:r>
              <a:rPr lang="en-US" sz="2000" dirty="0">
                <a:solidFill>
                  <a:schemeClr val="bg1"/>
                </a:solidFill>
              </a:rPr>
              <a:t> were associated with higher or lower churn. Service engagement was also assessed by comparing churn among </a:t>
            </a:r>
            <a:r>
              <a:rPr lang="en-US" sz="2000" b="1" dirty="0">
                <a:solidFill>
                  <a:schemeClr val="bg1"/>
                </a:solidFill>
              </a:rPr>
              <a:t>active and inactive members</a:t>
            </a:r>
            <a:r>
              <a:rPr lang="en-US" sz="2000" dirty="0">
                <a:solidFill>
                  <a:schemeClr val="bg1"/>
                </a:solidFill>
              </a:rPr>
              <a:t> and customers with or without credit cards. Geographic and customer lifetime value categories were </a:t>
            </a:r>
            <a:r>
              <a:rPr lang="en-US" sz="2000" dirty="0" err="1">
                <a:solidFill>
                  <a:schemeClr val="bg1"/>
                </a:solidFill>
              </a:rPr>
              <a:t>analysed</a:t>
            </a:r>
            <a:r>
              <a:rPr lang="en-US" sz="2000" dirty="0">
                <a:solidFill>
                  <a:schemeClr val="bg1"/>
                </a:solidFill>
              </a:rPr>
              <a:t> to identify areas and customer groups with elevated churn levels.</a:t>
            </a:r>
          </a:p>
          <a:p>
            <a:r>
              <a:rPr lang="en-US" sz="2000" dirty="0">
                <a:solidFill>
                  <a:schemeClr val="bg1"/>
                </a:solidFill>
              </a:rPr>
              <a:t>These comparisons helped identify </a:t>
            </a:r>
            <a:r>
              <a:rPr lang="en-US" sz="2000" b="1" dirty="0">
                <a:solidFill>
                  <a:schemeClr val="bg1"/>
                </a:solidFill>
              </a:rPr>
              <a:t>high-risk customer segments and key retention patterns</a:t>
            </a:r>
            <a:r>
              <a:rPr lang="en-US" sz="2000" dirty="0">
                <a:solidFill>
                  <a:schemeClr val="bg1"/>
                </a:solidFill>
              </a:rPr>
              <a:t>, providing insights that could support targeted retention campaigns, improved customer engagement, </a:t>
            </a:r>
            <a:r>
              <a:rPr lang="en-US" sz="2000" dirty="0" err="1">
                <a:solidFill>
                  <a:schemeClr val="bg1"/>
                </a:solidFill>
              </a:rPr>
              <a:t>personalised</a:t>
            </a:r>
            <a:r>
              <a:rPr lang="en-US" sz="2000" dirty="0">
                <a:solidFill>
                  <a:schemeClr val="bg1"/>
                </a:solidFill>
              </a:rPr>
              <a:t> offers, and strategies aimed at reducing customer attrition.</a:t>
            </a:r>
          </a:p>
        </p:txBody>
      </p:sp>
    </p:spTree>
    <p:extLst>
      <p:ext uri="{BB962C8B-B14F-4D97-AF65-F5344CB8AC3E}">
        <p14:creationId xmlns:p14="http://schemas.microsoft.com/office/powerpoint/2010/main" val="6305737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1ABE2BB6-2BF6-7838-4345-31D7CA8157BB}"/>
              </a:ext>
            </a:extLst>
          </p:cNvPr>
          <p:cNvGraphicFramePr>
            <a:graphicFrameLocks/>
          </p:cNvGraphicFramePr>
          <p:nvPr>
            <p:extLst>
              <p:ext uri="{D42A27DB-BD31-4B8C-83A1-F6EECF244321}">
                <p14:modId xmlns:p14="http://schemas.microsoft.com/office/powerpoint/2010/main" val="3273375918"/>
              </p:ext>
            </p:extLst>
          </p:nvPr>
        </p:nvGraphicFramePr>
        <p:xfrm>
          <a:off x="6259088" y="691116"/>
          <a:ext cx="5702539" cy="2737882"/>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0B61C31E-B5D0-ECBF-02DF-D826912E47B2}"/>
              </a:ext>
            </a:extLst>
          </p:cNvPr>
          <p:cNvGraphicFramePr>
            <a:graphicFrameLocks/>
          </p:cNvGraphicFramePr>
          <p:nvPr>
            <p:extLst>
              <p:ext uri="{D42A27DB-BD31-4B8C-83A1-F6EECF244321}">
                <p14:modId xmlns:p14="http://schemas.microsoft.com/office/powerpoint/2010/main" val="3432992178"/>
              </p:ext>
            </p:extLst>
          </p:nvPr>
        </p:nvGraphicFramePr>
        <p:xfrm>
          <a:off x="149394" y="691116"/>
          <a:ext cx="5946606" cy="2737883"/>
        </p:xfrm>
        <a:graphic>
          <a:graphicData uri="http://schemas.openxmlformats.org/drawingml/2006/chart">
            <c:chart xmlns:c="http://schemas.openxmlformats.org/drawingml/2006/chart" xmlns:r="http://schemas.openxmlformats.org/officeDocument/2006/relationships" r:id="rId3"/>
          </a:graphicData>
        </a:graphic>
      </p:graphicFrame>
      <p:sp>
        <p:nvSpPr>
          <p:cNvPr id="10" name="TextBox 4">
            <a:extLst>
              <a:ext uri="{FF2B5EF4-FFF2-40B4-BE49-F238E27FC236}">
                <a16:creationId xmlns:a16="http://schemas.microsoft.com/office/drawing/2014/main" id="{07719F12-92CC-E302-6BED-493609A8CA61}"/>
              </a:ext>
            </a:extLst>
          </p:cNvPr>
          <p:cNvSpPr txBox="1"/>
          <p:nvPr/>
        </p:nvSpPr>
        <p:spPr>
          <a:xfrm>
            <a:off x="149393" y="3589729"/>
            <a:ext cx="10515063" cy="283233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1600" b="1" dirty="0"/>
          </a:p>
          <a:p>
            <a:r>
              <a:rPr lang="en-US" sz="1600" dirty="0"/>
              <a:t>Customer was </a:t>
            </a:r>
            <a:r>
              <a:rPr lang="en-US" sz="1600" dirty="0" err="1"/>
              <a:t>analysed</a:t>
            </a:r>
            <a:r>
              <a:rPr lang="en-US" sz="1600" dirty="0"/>
              <a:t> across </a:t>
            </a:r>
            <a:r>
              <a:rPr lang="en-US" sz="1600" b="1" dirty="0"/>
              <a:t>age groups</a:t>
            </a:r>
            <a:r>
              <a:rPr lang="en-US" sz="1600" dirty="0"/>
              <a:t> and </a:t>
            </a:r>
            <a:r>
              <a:rPr lang="en-US" sz="1600" b="1" dirty="0"/>
              <a:t>gender</a:t>
            </a:r>
            <a:r>
              <a:rPr lang="en-US" sz="1600" dirty="0"/>
              <a:t> to identify demographic segments with elevated churn risk. The results showed that male customers formed the largest proportion of the customer base, while both males and females experienced customer churn. Analysis by age group indicated that customers aged </a:t>
            </a:r>
            <a:r>
              <a:rPr lang="en-US" sz="1600" b="1" dirty="0"/>
              <a:t>41–50 years</a:t>
            </a:r>
            <a:r>
              <a:rPr lang="en-US" sz="1600" dirty="0"/>
              <a:t> exhibited the highest churn, whereas customers aged </a:t>
            </a:r>
            <a:r>
              <a:rPr lang="en-US" sz="1600" b="1" dirty="0"/>
              <a:t>18–30 years</a:t>
            </a:r>
            <a:r>
              <a:rPr lang="en-US" sz="1600" dirty="0"/>
              <a:t> and </a:t>
            </a:r>
            <a:r>
              <a:rPr lang="en-US" sz="1600" b="1" dirty="0"/>
              <a:t>61 years and above</a:t>
            </a:r>
            <a:r>
              <a:rPr lang="en-US" sz="1600" dirty="0"/>
              <a:t> showed comparatively lower churn levels.</a:t>
            </a:r>
          </a:p>
          <a:p>
            <a:endParaRPr lang="en-US" sz="1600" dirty="0"/>
          </a:p>
          <a:p>
            <a:r>
              <a:rPr lang="en-US" sz="1600" dirty="0"/>
              <a:t>The higher churn among customers aged </a:t>
            </a:r>
            <a:r>
              <a:rPr lang="en-US" sz="1600" b="1" dirty="0"/>
              <a:t>41–50 years</a:t>
            </a:r>
            <a:r>
              <a:rPr lang="en-US" sz="1600" dirty="0"/>
              <a:t> may be linked to changing financial needs, increased competition, or expectations for better products and customer service. These findings suggest that customers aged </a:t>
            </a:r>
            <a:r>
              <a:rPr lang="en-US" sz="1600" b="1" dirty="0"/>
              <a:t>41–50 years</a:t>
            </a:r>
            <a:r>
              <a:rPr lang="en-US" sz="1600" dirty="0"/>
              <a:t> should be </a:t>
            </a:r>
            <a:r>
              <a:rPr lang="en-US" sz="1600" dirty="0" err="1"/>
              <a:t>prioritised</a:t>
            </a:r>
            <a:r>
              <a:rPr lang="en-US" sz="1600" dirty="0"/>
              <a:t> through targeted retention strategies, personalized financial products, and improved customer engagement to reduce churn.</a:t>
            </a:r>
          </a:p>
          <a:p>
            <a:endParaRPr lang="en-US" sz="1600" dirty="0"/>
          </a:p>
        </p:txBody>
      </p:sp>
      <p:sp>
        <p:nvSpPr>
          <p:cNvPr id="14" name="TextBox 10">
            <a:extLst>
              <a:ext uri="{FF2B5EF4-FFF2-40B4-BE49-F238E27FC236}">
                <a16:creationId xmlns:a16="http://schemas.microsoft.com/office/drawing/2014/main" id="{1C779A4F-2E8D-2109-A680-7CAAE8C0413E}"/>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8488374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2" name="TextBox 3">
            <a:extLst>
              <a:ext uri="{FF2B5EF4-FFF2-40B4-BE49-F238E27FC236}">
                <a16:creationId xmlns:a16="http://schemas.microsoft.com/office/drawing/2014/main" id="{9C04C21A-D11C-9A40-CB80-D5FE60E00275}"/>
              </a:ext>
            </a:extLst>
          </p:cNvPr>
          <p:cNvSpPr txBox="1"/>
          <p:nvPr/>
        </p:nvSpPr>
        <p:spPr>
          <a:xfrm>
            <a:off x="217939" y="3822761"/>
            <a:ext cx="10552841" cy="2227166"/>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1600" dirty="0"/>
              <a:t>Customer was analyzed based on </a:t>
            </a:r>
            <a:r>
              <a:rPr lang="en-US" sz="1600" b="1" dirty="0"/>
              <a:t>relationship tenure</a:t>
            </a:r>
            <a:r>
              <a:rPr lang="en-US" sz="1600" dirty="0"/>
              <a:t> and </a:t>
            </a:r>
            <a:r>
              <a:rPr lang="en-US" sz="1600" b="1" dirty="0"/>
              <a:t>account balance</a:t>
            </a:r>
            <a:r>
              <a:rPr lang="en-US" sz="1600" dirty="0"/>
              <a:t> to evaluate their influence on customer retention. The analysis showed that customers were generally retained across all tenure levels, with only minor variations in churn, suggesting that relationship duration alone had a limited effect on customer attrition. In contrast, customers with </a:t>
            </a:r>
            <a:r>
              <a:rPr lang="en-US" sz="1600" b="1" dirty="0"/>
              <a:t>medium and low account balances</a:t>
            </a:r>
            <a:r>
              <a:rPr lang="en-US" sz="1600" dirty="0"/>
              <a:t> experienced higher levels of churn than those with </a:t>
            </a:r>
            <a:r>
              <a:rPr lang="en-US" sz="1600" b="1" dirty="0"/>
              <a:t>high account balances</a:t>
            </a:r>
            <a:r>
              <a:rPr lang="en-US" sz="1600" dirty="0"/>
              <a:t>, indicating that customers with larger account balances were more likely to remain with the bank.</a:t>
            </a:r>
          </a:p>
          <a:p>
            <a:endParaRPr lang="en-US" sz="1600" dirty="0"/>
          </a:p>
          <a:p>
            <a:r>
              <a:rPr lang="en-US" sz="1600" dirty="0"/>
              <a:t>These findings suggest that higher account balances are associated with improved retention, while customers with lower balances may benefit from targeted engagement strategies, personalized financial products, and loyalty programs to strengthen customer relationships and reduce churn</a:t>
            </a:r>
          </a:p>
        </p:txBody>
      </p:sp>
      <p:graphicFrame>
        <p:nvGraphicFramePr>
          <p:cNvPr id="4" name="Chart 3">
            <a:extLst>
              <a:ext uri="{FF2B5EF4-FFF2-40B4-BE49-F238E27FC236}">
                <a16:creationId xmlns:a16="http://schemas.microsoft.com/office/drawing/2014/main" id="{3AB058F8-F31E-D6D0-168F-40E458CD7B23}"/>
              </a:ext>
            </a:extLst>
          </p:cNvPr>
          <p:cNvGraphicFramePr>
            <a:graphicFrameLocks/>
          </p:cNvGraphicFramePr>
          <p:nvPr>
            <p:extLst>
              <p:ext uri="{D42A27DB-BD31-4B8C-83A1-F6EECF244321}">
                <p14:modId xmlns:p14="http://schemas.microsoft.com/office/powerpoint/2010/main" val="1917724897"/>
              </p:ext>
            </p:extLst>
          </p:nvPr>
        </p:nvGraphicFramePr>
        <p:xfrm>
          <a:off x="5380075" y="833162"/>
          <a:ext cx="6517758" cy="274320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90538D85-E612-42C3-9709-E7691C021D60}"/>
              </a:ext>
            </a:extLst>
          </p:cNvPr>
          <p:cNvGraphicFramePr>
            <a:graphicFrameLocks/>
          </p:cNvGraphicFramePr>
          <p:nvPr>
            <p:extLst>
              <p:ext uri="{D42A27DB-BD31-4B8C-83A1-F6EECF244321}">
                <p14:modId xmlns:p14="http://schemas.microsoft.com/office/powerpoint/2010/main" val="4233079088"/>
              </p:ext>
            </p:extLst>
          </p:nvPr>
        </p:nvGraphicFramePr>
        <p:xfrm>
          <a:off x="217940" y="833162"/>
          <a:ext cx="4928217"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481A4AC8-8D29-73BF-2E73-392AAFA945D5}"/>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38434165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graphicFrame>
        <p:nvGraphicFramePr>
          <p:cNvPr id="3" name="Chart 2">
            <a:extLst>
              <a:ext uri="{FF2B5EF4-FFF2-40B4-BE49-F238E27FC236}">
                <a16:creationId xmlns:a16="http://schemas.microsoft.com/office/drawing/2014/main" id="{0C9C0F64-22BA-718C-F8B5-83261D95C001}"/>
              </a:ext>
            </a:extLst>
          </p:cNvPr>
          <p:cNvGraphicFramePr>
            <a:graphicFrameLocks/>
          </p:cNvGraphicFramePr>
          <p:nvPr>
            <p:extLst>
              <p:ext uri="{D42A27DB-BD31-4B8C-83A1-F6EECF244321}">
                <p14:modId xmlns:p14="http://schemas.microsoft.com/office/powerpoint/2010/main" val="4028396981"/>
              </p:ext>
            </p:extLst>
          </p:nvPr>
        </p:nvGraphicFramePr>
        <p:xfrm>
          <a:off x="191924" y="4207202"/>
          <a:ext cx="5652808" cy="2353085"/>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5" name="Chart 4">
            <a:extLst>
              <a:ext uri="{FF2B5EF4-FFF2-40B4-BE49-F238E27FC236}">
                <a16:creationId xmlns:a16="http://schemas.microsoft.com/office/drawing/2014/main" id="{C267D932-2D93-E94F-FC08-FFFA10381B0D}"/>
              </a:ext>
            </a:extLst>
          </p:cNvPr>
          <p:cNvGraphicFramePr>
            <a:graphicFrameLocks/>
          </p:cNvGraphicFramePr>
          <p:nvPr>
            <p:extLst>
              <p:ext uri="{D42A27DB-BD31-4B8C-83A1-F6EECF244321}">
                <p14:modId xmlns:p14="http://schemas.microsoft.com/office/powerpoint/2010/main" val="2546952093"/>
              </p:ext>
            </p:extLst>
          </p:nvPr>
        </p:nvGraphicFramePr>
        <p:xfrm>
          <a:off x="191925" y="691452"/>
          <a:ext cx="5652807" cy="3317358"/>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Box 3">
            <a:extLst>
              <a:ext uri="{FF2B5EF4-FFF2-40B4-BE49-F238E27FC236}">
                <a16:creationId xmlns:a16="http://schemas.microsoft.com/office/drawing/2014/main" id="{B04A9D86-AAF9-CB45-AD8B-414F456844F5}"/>
              </a:ext>
            </a:extLst>
          </p:cNvPr>
          <p:cNvSpPr txBox="1"/>
          <p:nvPr/>
        </p:nvSpPr>
        <p:spPr>
          <a:xfrm>
            <a:off x="6096000" y="691451"/>
            <a:ext cx="5904075" cy="5868835"/>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2000" dirty="0"/>
          </a:p>
          <a:p>
            <a:r>
              <a:rPr lang="en-US" sz="2000" dirty="0"/>
              <a:t>Customer was compared across </a:t>
            </a:r>
            <a:r>
              <a:rPr lang="en-US" sz="2000" b="1" dirty="0"/>
              <a:t>geographic locations</a:t>
            </a:r>
            <a:r>
              <a:rPr lang="en-US" sz="2000" dirty="0"/>
              <a:t> and </a:t>
            </a:r>
            <a:r>
              <a:rPr lang="en-US" sz="2000" b="1" dirty="0"/>
              <a:t>customer lifetime value categories</a:t>
            </a:r>
            <a:r>
              <a:rPr lang="en-US" sz="2000" dirty="0"/>
              <a:t> to identify segments with higher churn risk. The analysis showed that </a:t>
            </a:r>
            <a:r>
              <a:rPr lang="en-US" sz="2000" b="1" dirty="0"/>
              <a:t>Lagos</a:t>
            </a:r>
            <a:r>
              <a:rPr lang="en-US" sz="2000" dirty="0"/>
              <a:t> recorded the highest number of churned customers, while the other locations displayed relatively similar churn patterns. Across customer lifetime value categories, </a:t>
            </a:r>
            <a:r>
              <a:rPr lang="en-US" sz="2000" b="1" dirty="0"/>
              <a:t>Long-Term</a:t>
            </a:r>
            <a:r>
              <a:rPr lang="en-US" sz="2000" dirty="0"/>
              <a:t> customers had the highest retention, whereas </a:t>
            </a:r>
            <a:r>
              <a:rPr lang="en-US" sz="2000" b="1" dirty="0"/>
              <a:t>New</a:t>
            </a:r>
            <a:r>
              <a:rPr lang="en-US" sz="2000" dirty="0"/>
              <a:t> customers showed a comparatively higher tendency to churn. </a:t>
            </a:r>
          </a:p>
          <a:p>
            <a:endParaRPr lang="en-US" sz="2000" dirty="0"/>
          </a:p>
          <a:p>
            <a:r>
              <a:rPr lang="en-US" sz="2000" dirty="0"/>
              <a:t>These findings suggest that </a:t>
            </a:r>
            <a:r>
              <a:rPr lang="en-US" sz="2000" b="1" dirty="0"/>
              <a:t>Lagos</a:t>
            </a:r>
            <a:r>
              <a:rPr lang="en-US" sz="2000" dirty="0"/>
              <a:t> and </a:t>
            </a:r>
            <a:r>
              <a:rPr lang="en-US" sz="2000" b="1" dirty="0"/>
              <a:t>New customers</a:t>
            </a:r>
            <a:r>
              <a:rPr lang="en-US" sz="2000" dirty="0"/>
              <a:t> should be prioritized for targeted retention strategies, such as personalized customer engagement, loyalty programs, and improved customer support, to enhance retention and reduce customer attrition.</a:t>
            </a:r>
          </a:p>
        </p:txBody>
      </p:sp>
      <p:sp>
        <p:nvSpPr>
          <p:cNvPr id="10" name="TextBox 10">
            <a:extLst>
              <a:ext uri="{FF2B5EF4-FFF2-40B4-BE49-F238E27FC236}">
                <a16:creationId xmlns:a16="http://schemas.microsoft.com/office/drawing/2014/main" id="{EE2A288E-3386-7A14-6741-B89A0E19E9E9}"/>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42814484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8" name="TextBox 3">
            <a:extLst>
              <a:ext uri="{FF2B5EF4-FFF2-40B4-BE49-F238E27FC236}">
                <a16:creationId xmlns:a16="http://schemas.microsoft.com/office/drawing/2014/main" id="{D9415986-44E9-59FD-CAB4-8F340C8C87D7}"/>
              </a:ext>
            </a:extLst>
          </p:cNvPr>
          <p:cNvSpPr txBox="1"/>
          <p:nvPr/>
        </p:nvSpPr>
        <p:spPr>
          <a:xfrm>
            <a:off x="318608" y="3225354"/>
            <a:ext cx="11554784" cy="3494423"/>
          </a:xfrm>
          <a:prstGeom prst="rect">
            <a:avLst/>
          </a:prstGeom>
          <a:solidFill>
            <a:schemeClr val="lt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endParaRPr lang="en-US" sz="2000" dirty="0"/>
          </a:p>
          <a:p>
            <a:r>
              <a:rPr lang="en-US" sz="2000" dirty="0"/>
              <a:t>Customer was analyzed based on </a:t>
            </a:r>
            <a:r>
              <a:rPr lang="en-US" sz="2000" b="1" dirty="0"/>
              <a:t>credit card ownership</a:t>
            </a:r>
            <a:r>
              <a:rPr lang="en-US" sz="2000" dirty="0"/>
              <a:t> and </a:t>
            </a:r>
            <a:r>
              <a:rPr lang="en-US" sz="2000" b="1" dirty="0"/>
              <a:t>active membership status</a:t>
            </a:r>
            <a:r>
              <a:rPr lang="en-US" sz="2000" dirty="0"/>
              <a:t> to determine whether these service related factors influenced customer retention. The analysis showed that customers with a </a:t>
            </a:r>
            <a:r>
              <a:rPr lang="en-US" sz="2000" b="1" dirty="0"/>
              <a:t>credit card</a:t>
            </a:r>
            <a:r>
              <a:rPr lang="en-US" sz="2000" dirty="0"/>
              <a:t> represented the largest customer group and generally experienced higher retention than those without a credit card, although credit card ownership alone did not appear to substantially reduce churn. In contrast, </a:t>
            </a:r>
            <a:r>
              <a:rPr lang="en-US" sz="2000" b="1" dirty="0"/>
              <a:t>active members</a:t>
            </a:r>
            <a:r>
              <a:rPr lang="en-US" sz="2000" dirty="0"/>
              <a:t> exhibited noticeably lower churn than inactive members, indicating that customer engagement is strongly associated with improved retention.</a:t>
            </a:r>
          </a:p>
          <a:p>
            <a:endParaRPr lang="en-US" sz="2000" dirty="0"/>
          </a:p>
          <a:p>
            <a:r>
              <a:rPr lang="en-US" sz="2000" dirty="0"/>
              <a:t>These findings suggest that encouraging customers to actively use banking services through personalized communication, loyalty programs, and targeted engagement initiatives may be more effective in reducing churn than simply increasing product ownership.</a:t>
            </a:r>
          </a:p>
        </p:txBody>
      </p:sp>
      <p:graphicFrame>
        <p:nvGraphicFramePr>
          <p:cNvPr id="2" name="Chart 1">
            <a:extLst>
              <a:ext uri="{FF2B5EF4-FFF2-40B4-BE49-F238E27FC236}">
                <a16:creationId xmlns:a16="http://schemas.microsoft.com/office/drawing/2014/main" id="{91041342-4B4C-A212-C0B2-34C65E288453}"/>
              </a:ext>
            </a:extLst>
          </p:cNvPr>
          <p:cNvGraphicFramePr>
            <a:graphicFrameLocks/>
          </p:cNvGraphicFramePr>
          <p:nvPr>
            <p:extLst>
              <p:ext uri="{D42A27DB-BD31-4B8C-83A1-F6EECF244321}">
                <p14:modId xmlns:p14="http://schemas.microsoft.com/office/powerpoint/2010/main" val="1174374135"/>
              </p:ext>
            </p:extLst>
          </p:nvPr>
        </p:nvGraphicFramePr>
        <p:xfrm>
          <a:off x="318607" y="627322"/>
          <a:ext cx="5465505" cy="2371058"/>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9" name="Chart 8">
            <a:extLst>
              <a:ext uri="{FF2B5EF4-FFF2-40B4-BE49-F238E27FC236}">
                <a16:creationId xmlns:a16="http://schemas.microsoft.com/office/drawing/2014/main" id="{BAD7C896-BCF5-FA89-1F76-13F17056623F}"/>
              </a:ext>
            </a:extLst>
          </p:cNvPr>
          <p:cNvGraphicFramePr>
            <a:graphicFrameLocks/>
          </p:cNvGraphicFramePr>
          <p:nvPr>
            <p:extLst>
              <p:ext uri="{D42A27DB-BD31-4B8C-83A1-F6EECF244321}">
                <p14:modId xmlns:p14="http://schemas.microsoft.com/office/powerpoint/2010/main" val="2103160107"/>
              </p:ext>
            </p:extLst>
          </p:nvPr>
        </p:nvGraphicFramePr>
        <p:xfrm>
          <a:off x="6096000" y="627322"/>
          <a:ext cx="5777392" cy="2371059"/>
        </p:xfrm>
        <a:graphic>
          <a:graphicData uri="http://schemas.openxmlformats.org/drawingml/2006/chart">
            <c:chart xmlns:c="http://schemas.openxmlformats.org/drawingml/2006/chart" xmlns:r="http://schemas.openxmlformats.org/officeDocument/2006/relationships" r:id="rId3"/>
          </a:graphicData>
        </a:graphic>
      </p:graphicFrame>
      <p:sp>
        <p:nvSpPr>
          <p:cNvPr id="11" name="TextBox 10">
            <a:extLst>
              <a:ext uri="{FF2B5EF4-FFF2-40B4-BE49-F238E27FC236}">
                <a16:creationId xmlns:a16="http://schemas.microsoft.com/office/drawing/2014/main" id="{F82651EA-08BD-F881-24F2-E792190E2353}"/>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KEY FINDINGS &amp; VISUALIZATIONS</a:t>
            </a:r>
            <a:endParaRPr lang="en-US" sz="2800" dirty="0">
              <a:solidFill>
                <a:srgbClr val="E24825"/>
              </a:solidFill>
            </a:endParaRPr>
          </a:p>
        </p:txBody>
      </p:sp>
    </p:spTree>
    <p:extLst>
      <p:ext uri="{BB962C8B-B14F-4D97-AF65-F5344CB8AC3E}">
        <p14:creationId xmlns:p14="http://schemas.microsoft.com/office/powerpoint/2010/main" val="135796609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087221BA-562C-9E24-2B55-69FC7C552DAE}"/>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dirty="0">
                <a:solidFill>
                  <a:srgbClr val="E24825"/>
                </a:solidFill>
              </a:rPr>
              <a:t>RETENTION RISK MONITORING DASHBOARD</a:t>
            </a:r>
          </a:p>
        </p:txBody>
      </p:sp>
      <p:graphicFrame>
        <p:nvGraphicFramePr>
          <p:cNvPr id="6" name="Chart 5">
            <a:extLst>
              <a:ext uri="{FF2B5EF4-FFF2-40B4-BE49-F238E27FC236}">
                <a16:creationId xmlns:a16="http://schemas.microsoft.com/office/drawing/2014/main" id="{721369DA-56D7-4B81-BDD7-F138D331CE06}"/>
              </a:ext>
            </a:extLst>
          </p:cNvPr>
          <p:cNvGraphicFramePr>
            <a:graphicFrameLocks/>
          </p:cNvGraphicFramePr>
          <p:nvPr>
            <p:extLst>
              <p:ext uri="{D42A27DB-BD31-4B8C-83A1-F6EECF244321}">
                <p14:modId xmlns:p14="http://schemas.microsoft.com/office/powerpoint/2010/main" val="3344249977"/>
              </p:ext>
            </p:extLst>
          </p:nvPr>
        </p:nvGraphicFramePr>
        <p:xfrm>
          <a:off x="968101" y="1732167"/>
          <a:ext cx="5294475" cy="1890060"/>
        </p:xfrm>
        <a:graphic>
          <a:graphicData uri="http://schemas.openxmlformats.org/drawingml/2006/chart">
            <c:chart xmlns:c="http://schemas.openxmlformats.org/drawingml/2006/chart" xmlns:r="http://schemas.openxmlformats.org/officeDocument/2006/relationships" r:id="rId2"/>
          </a:graphicData>
        </a:graphic>
      </p:graphicFrame>
      <p:graphicFrame>
        <p:nvGraphicFramePr>
          <p:cNvPr id="7" name="Chart 6">
            <a:extLst>
              <a:ext uri="{FF2B5EF4-FFF2-40B4-BE49-F238E27FC236}">
                <a16:creationId xmlns:a16="http://schemas.microsoft.com/office/drawing/2014/main" id="{9A8CC8A9-B74C-4DCF-B46C-7B752F4C2779}"/>
              </a:ext>
            </a:extLst>
          </p:cNvPr>
          <p:cNvGraphicFramePr>
            <a:graphicFrameLocks/>
          </p:cNvGraphicFramePr>
          <p:nvPr>
            <p:extLst>
              <p:ext uri="{D42A27DB-BD31-4B8C-83A1-F6EECF244321}">
                <p14:modId xmlns:p14="http://schemas.microsoft.com/office/powerpoint/2010/main" val="3161780822"/>
              </p:ext>
            </p:extLst>
          </p:nvPr>
        </p:nvGraphicFramePr>
        <p:xfrm>
          <a:off x="6544594" y="1751225"/>
          <a:ext cx="4783114" cy="18900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8" name="Chart 7">
            <a:extLst>
              <a:ext uri="{FF2B5EF4-FFF2-40B4-BE49-F238E27FC236}">
                <a16:creationId xmlns:a16="http://schemas.microsoft.com/office/drawing/2014/main" id="{43308713-85C1-4A18-86F6-551529D395AF}"/>
              </a:ext>
            </a:extLst>
          </p:cNvPr>
          <p:cNvGraphicFramePr>
            <a:graphicFrameLocks/>
          </p:cNvGraphicFramePr>
          <p:nvPr>
            <p:extLst>
              <p:ext uri="{D42A27DB-BD31-4B8C-83A1-F6EECF244321}">
                <p14:modId xmlns:p14="http://schemas.microsoft.com/office/powerpoint/2010/main" val="3728650053"/>
              </p:ext>
            </p:extLst>
          </p:nvPr>
        </p:nvGraphicFramePr>
        <p:xfrm>
          <a:off x="4167679" y="4008810"/>
          <a:ext cx="4115084" cy="189006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9" name="Chart 8">
            <a:extLst>
              <a:ext uri="{FF2B5EF4-FFF2-40B4-BE49-F238E27FC236}">
                <a16:creationId xmlns:a16="http://schemas.microsoft.com/office/drawing/2014/main" id="{ACA757F0-2D66-4889-A20A-2F63B46811E0}"/>
              </a:ext>
            </a:extLst>
          </p:cNvPr>
          <p:cNvGraphicFramePr>
            <a:graphicFrameLocks/>
          </p:cNvGraphicFramePr>
          <p:nvPr>
            <p:extLst>
              <p:ext uri="{D42A27DB-BD31-4B8C-83A1-F6EECF244321}">
                <p14:modId xmlns:p14="http://schemas.microsoft.com/office/powerpoint/2010/main" val="2006213021"/>
              </p:ext>
            </p:extLst>
          </p:nvPr>
        </p:nvGraphicFramePr>
        <p:xfrm>
          <a:off x="968102" y="4008810"/>
          <a:ext cx="2975057" cy="191451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0" name="Chart 9">
            <a:extLst>
              <a:ext uri="{FF2B5EF4-FFF2-40B4-BE49-F238E27FC236}">
                <a16:creationId xmlns:a16="http://schemas.microsoft.com/office/drawing/2014/main" id="{8136D350-D350-4A5B-979B-1498A9EF8482}"/>
              </a:ext>
            </a:extLst>
          </p:cNvPr>
          <p:cNvGraphicFramePr>
            <a:graphicFrameLocks/>
          </p:cNvGraphicFramePr>
          <p:nvPr>
            <p:extLst>
              <p:ext uri="{D42A27DB-BD31-4B8C-83A1-F6EECF244321}">
                <p14:modId xmlns:p14="http://schemas.microsoft.com/office/powerpoint/2010/main" val="908789640"/>
              </p:ext>
            </p:extLst>
          </p:nvPr>
        </p:nvGraphicFramePr>
        <p:xfrm>
          <a:off x="8507283" y="4013623"/>
          <a:ext cx="2820425" cy="1909700"/>
        </p:xfrm>
        <a:graphic>
          <a:graphicData uri="http://schemas.openxmlformats.org/drawingml/2006/chart">
            <c:chart xmlns:c="http://schemas.openxmlformats.org/drawingml/2006/chart" xmlns:r="http://schemas.openxmlformats.org/officeDocument/2006/relationships" r:id="rId6"/>
          </a:graphicData>
        </a:graphic>
      </p:graphicFrame>
      <p:graphicFrame>
        <p:nvGraphicFramePr>
          <p:cNvPr id="11" name="Table 10">
            <a:extLst>
              <a:ext uri="{FF2B5EF4-FFF2-40B4-BE49-F238E27FC236}">
                <a16:creationId xmlns:a16="http://schemas.microsoft.com/office/drawing/2014/main" id="{4553B404-E582-E822-005D-399C0DD6F11C}"/>
              </a:ext>
            </a:extLst>
          </p:cNvPr>
          <p:cNvGraphicFramePr>
            <a:graphicFrameLocks noGrp="1"/>
          </p:cNvGraphicFramePr>
          <p:nvPr>
            <p:extLst>
              <p:ext uri="{D42A27DB-BD31-4B8C-83A1-F6EECF244321}">
                <p14:modId xmlns:p14="http://schemas.microsoft.com/office/powerpoint/2010/main" val="178631081"/>
              </p:ext>
            </p:extLst>
          </p:nvPr>
        </p:nvGraphicFramePr>
        <p:xfrm>
          <a:off x="1659538" y="726683"/>
          <a:ext cx="1955800" cy="546100"/>
        </p:xfrm>
        <a:graphic>
          <a:graphicData uri="http://schemas.openxmlformats.org/drawingml/2006/table">
            <a:tbl>
              <a:tblPr>
                <a:tableStyleId>{5C22544A-7EE6-4342-B048-85BDC9FD1C3A}</a:tableStyleId>
              </a:tblPr>
              <a:tblGrid>
                <a:gridCol w="1955800">
                  <a:extLst>
                    <a:ext uri="{9D8B030D-6E8A-4147-A177-3AD203B41FA5}">
                      <a16:colId xmlns:a16="http://schemas.microsoft.com/office/drawing/2014/main" val="3866575699"/>
                    </a:ext>
                  </a:extLst>
                </a:gridCol>
              </a:tblGrid>
              <a:tr h="234950">
                <a:tc>
                  <a:txBody>
                    <a:bodyPr/>
                    <a:lstStyle/>
                    <a:p>
                      <a:pPr algn="ctr" fontAlgn="b">
                        <a:buNone/>
                      </a:pPr>
                      <a:r>
                        <a:rPr lang="en-US" sz="1400" u="none" strike="noStrike">
                          <a:effectLst/>
                        </a:rPr>
                        <a:t>Total Customers</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157189824"/>
                  </a:ext>
                </a:extLst>
              </a:tr>
              <a:tr h="0">
                <a:tc>
                  <a:txBody>
                    <a:bodyPr/>
                    <a:lstStyle/>
                    <a:p>
                      <a:pPr algn="ctr" fontAlgn="ctr">
                        <a:buNone/>
                      </a:pPr>
                      <a:r>
                        <a:rPr lang="en-US" sz="2000" u="none" strike="noStrike" dirty="0">
                          <a:effectLst/>
                        </a:rPr>
                        <a:t>10000</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62432626"/>
                  </a:ext>
                </a:extLst>
              </a:tr>
            </a:tbl>
          </a:graphicData>
        </a:graphic>
      </p:graphicFrame>
      <p:graphicFrame>
        <p:nvGraphicFramePr>
          <p:cNvPr id="12" name="Table 11">
            <a:extLst>
              <a:ext uri="{FF2B5EF4-FFF2-40B4-BE49-F238E27FC236}">
                <a16:creationId xmlns:a16="http://schemas.microsoft.com/office/drawing/2014/main" id="{1E7CB1E4-7804-7FE2-FEFC-0C5A5E1ABB2F}"/>
              </a:ext>
            </a:extLst>
          </p:cNvPr>
          <p:cNvGraphicFramePr>
            <a:graphicFrameLocks noGrp="1"/>
          </p:cNvGraphicFramePr>
          <p:nvPr>
            <p:extLst>
              <p:ext uri="{D42A27DB-BD31-4B8C-83A1-F6EECF244321}">
                <p14:modId xmlns:p14="http://schemas.microsoft.com/office/powerpoint/2010/main" val="1214693457"/>
              </p:ext>
            </p:extLst>
          </p:nvPr>
        </p:nvGraphicFramePr>
        <p:xfrm>
          <a:off x="4255976" y="745906"/>
          <a:ext cx="2006600" cy="546100"/>
        </p:xfrm>
        <a:graphic>
          <a:graphicData uri="http://schemas.openxmlformats.org/drawingml/2006/table">
            <a:tbl>
              <a:tblPr>
                <a:tableStyleId>{5C22544A-7EE6-4342-B048-85BDC9FD1C3A}</a:tableStyleId>
              </a:tblPr>
              <a:tblGrid>
                <a:gridCol w="2006600">
                  <a:extLst>
                    <a:ext uri="{9D8B030D-6E8A-4147-A177-3AD203B41FA5}">
                      <a16:colId xmlns:a16="http://schemas.microsoft.com/office/drawing/2014/main" val="671194335"/>
                    </a:ext>
                  </a:extLst>
                </a:gridCol>
              </a:tblGrid>
              <a:tr h="234950">
                <a:tc>
                  <a:txBody>
                    <a:bodyPr/>
                    <a:lstStyle/>
                    <a:p>
                      <a:pPr algn="ctr" fontAlgn="b">
                        <a:buNone/>
                      </a:pPr>
                      <a:r>
                        <a:rPr lang="en-US" sz="1400" u="none" strike="noStrike">
                          <a:effectLst/>
                        </a:rPr>
                        <a:t>Total Chunned Customers</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1714180375"/>
                  </a:ext>
                </a:extLst>
              </a:tr>
              <a:tr h="0">
                <a:tc>
                  <a:txBody>
                    <a:bodyPr/>
                    <a:lstStyle/>
                    <a:p>
                      <a:pPr algn="ctr" fontAlgn="ctr">
                        <a:buNone/>
                      </a:pPr>
                      <a:r>
                        <a:rPr lang="en-US" sz="2000" u="none" strike="noStrike" dirty="0">
                          <a:effectLst/>
                        </a:rPr>
                        <a:t>2037</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4203757258"/>
                  </a:ext>
                </a:extLst>
              </a:tr>
            </a:tbl>
          </a:graphicData>
        </a:graphic>
      </p:graphicFrame>
      <p:graphicFrame>
        <p:nvGraphicFramePr>
          <p:cNvPr id="13" name="Table 12">
            <a:extLst>
              <a:ext uri="{FF2B5EF4-FFF2-40B4-BE49-F238E27FC236}">
                <a16:creationId xmlns:a16="http://schemas.microsoft.com/office/drawing/2014/main" id="{155A7F7F-0D8A-0F3C-D395-322BACAE34FD}"/>
              </a:ext>
            </a:extLst>
          </p:cNvPr>
          <p:cNvGraphicFramePr>
            <a:graphicFrameLocks noGrp="1"/>
          </p:cNvGraphicFramePr>
          <p:nvPr>
            <p:extLst>
              <p:ext uri="{D42A27DB-BD31-4B8C-83A1-F6EECF244321}">
                <p14:modId xmlns:p14="http://schemas.microsoft.com/office/powerpoint/2010/main" val="340323023"/>
              </p:ext>
            </p:extLst>
          </p:nvPr>
        </p:nvGraphicFramePr>
        <p:xfrm>
          <a:off x="6903214" y="749575"/>
          <a:ext cx="1460500" cy="546100"/>
        </p:xfrm>
        <a:graphic>
          <a:graphicData uri="http://schemas.openxmlformats.org/drawingml/2006/table">
            <a:tbl>
              <a:tblPr>
                <a:tableStyleId>{5C22544A-7EE6-4342-B048-85BDC9FD1C3A}</a:tableStyleId>
              </a:tblPr>
              <a:tblGrid>
                <a:gridCol w="1460500">
                  <a:extLst>
                    <a:ext uri="{9D8B030D-6E8A-4147-A177-3AD203B41FA5}">
                      <a16:colId xmlns:a16="http://schemas.microsoft.com/office/drawing/2014/main" val="523116394"/>
                    </a:ext>
                  </a:extLst>
                </a:gridCol>
              </a:tblGrid>
              <a:tr h="234950">
                <a:tc>
                  <a:txBody>
                    <a:bodyPr/>
                    <a:lstStyle/>
                    <a:p>
                      <a:pPr algn="ctr" fontAlgn="b">
                        <a:buNone/>
                      </a:pPr>
                      <a:r>
                        <a:rPr lang="en-US" sz="1400" u="none" strike="noStrike" dirty="0">
                          <a:effectLst/>
                        </a:rPr>
                        <a:t>Churn Rate (%)</a:t>
                      </a:r>
                      <a:endParaRPr lang="en-US" sz="1400" b="0" i="0" u="none" strike="noStrike" dirty="0">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488736318"/>
                  </a:ext>
                </a:extLst>
              </a:tr>
              <a:tr h="0">
                <a:tc>
                  <a:txBody>
                    <a:bodyPr/>
                    <a:lstStyle/>
                    <a:p>
                      <a:pPr algn="ctr" fontAlgn="ctr">
                        <a:buNone/>
                      </a:pPr>
                      <a:r>
                        <a:rPr lang="en-US" sz="2000" u="none" strike="noStrike" dirty="0">
                          <a:effectLst/>
                        </a:rPr>
                        <a:t>20.37</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4142967592"/>
                  </a:ext>
                </a:extLst>
              </a:tr>
            </a:tbl>
          </a:graphicData>
        </a:graphic>
      </p:graphicFrame>
      <p:graphicFrame>
        <p:nvGraphicFramePr>
          <p:cNvPr id="14" name="Table 13">
            <a:extLst>
              <a:ext uri="{FF2B5EF4-FFF2-40B4-BE49-F238E27FC236}">
                <a16:creationId xmlns:a16="http://schemas.microsoft.com/office/drawing/2014/main" id="{F9A236A8-B319-F42C-F4F1-5B328CE39C40}"/>
              </a:ext>
            </a:extLst>
          </p:cNvPr>
          <p:cNvGraphicFramePr>
            <a:graphicFrameLocks noGrp="1"/>
          </p:cNvGraphicFramePr>
          <p:nvPr>
            <p:extLst>
              <p:ext uri="{D42A27DB-BD31-4B8C-83A1-F6EECF244321}">
                <p14:modId xmlns:p14="http://schemas.microsoft.com/office/powerpoint/2010/main" val="3744303085"/>
              </p:ext>
            </p:extLst>
          </p:nvPr>
        </p:nvGraphicFramePr>
        <p:xfrm>
          <a:off x="8936151" y="729234"/>
          <a:ext cx="1562100" cy="546100"/>
        </p:xfrm>
        <a:graphic>
          <a:graphicData uri="http://schemas.openxmlformats.org/drawingml/2006/table">
            <a:tbl>
              <a:tblPr>
                <a:tableStyleId>{5C22544A-7EE6-4342-B048-85BDC9FD1C3A}</a:tableStyleId>
              </a:tblPr>
              <a:tblGrid>
                <a:gridCol w="1562100">
                  <a:extLst>
                    <a:ext uri="{9D8B030D-6E8A-4147-A177-3AD203B41FA5}">
                      <a16:colId xmlns:a16="http://schemas.microsoft.com/office/drawing/2014/main" val="1896066831"/>
                    </a:ext>
                  </a:extLst>
                </a:gridCol>
              </a:tblGrid>
              <a:tr h="234950">
                <a:tc>
                  <a:txBody>
                    <a:bodyPr/>
                    <a:lstStyle/>
                    <a:p>
                      <a:pPr algn="ctr" fontAlgn="b">
                        <a:buNone/>
                      </a:pPr>
                      <a:r>
                        <a:rPr lang="en-US" sz="1400" u="none" strike="noStrike">
                          <a:effectLst/>
                        </a:rPr>
                        <a:t>Retention Rate (%)</a:t>
                      </a:r>
                      <a:endParaRPr lang="en-US" sz="1400" b="0" i="0" u="none" strike="noStrike">
                        <a:solidFill>
                          <a:srgbClr val="000000"/>
                        </a:solidFill>
                        <a:effectLst/>
                        <a:latin typeface="Calibri" panose="020F0502020204030204" pitchFamily="34" charset="0"/>
                      </a:endParaRPr>
                    </a:p>
                  </a:txBody>
                  <a:tcPr marL="6350" marR="6350" marT="6350" marB="0" anchor="b">
                    <a:solidFill>
                      <a:schemeClr val="bg1"/>
                    </a:solidFill>
                  </a:tcPr>
                </a:tc>
                <a:extLst>
                  <a:ext uri="{0D108BD9-81ED-4DB2-BD59-A6C34878D82A}">
                    <a16:rowId xmlns:a16="http://schemas.microsoft.com/office/drawing/2014/main" val="40030591"/>
                  </a:ext>
                </a:extLst>
              </a:tr>
              <a:tr h="0">
                <a:tc>
                  <a:txBody>
                    <a:bodyPr/>
                    <a:lstStyle/>
                    <a:p>
                      <a:pPr algn="ctr" fontAlgn="ctr">
                        <a:buNone/>
                      </a:pPr>
                      <a:r>
                        <a:rPr lang="en-US" sz="2000" u="none" strike="noStrike" dirty="0">
                          <a:effectLst/>
                        </a:rPr>
                        <a:t>79.63</a:t>
                      </a:r>
                      <a:endParaRPr lang="en-US" sz="2000" b="0" i="0" u="none" strike="noStrike" dirty="0">
                        <a:solidFill>
                          <a:srgbClr val="000000"/>
                        </a:solidFill>
                        <a:effectLst/>
                        <a:latin typeface="Calibri" panose="020F0502020204030204" pitchFamily="34" charset="0"/>
                      </a:endParaRPr>
                    </a:p>
                  </a:txBody>
                  <a:tcPr marL="6350" marR="6350" marT="6350" marB="0" anchor="ctr">
                    <a:solidFill>
                      <a:schemeClr val="bg1"/>
                    </a:solidFill>
                  </a:tcPr>
                </a:tc>
                <a:extLst>
                  <a:ext uri="{0D108BD9-81ED-4DB2-BD59-A6C34878D82A}">
                    <a16:rowId xmlns:a16="http://schemas.microsoft.com/office/drawing/2014/main" val="1912189370"/>
                  </a:ext>
                </a:extLst>
              </a:tr>
            </a:tbl>
          </a:graphicData>
        </a:graphic>
      </p:graphicFrame>
    </p:spTree>
    <p:extLst>
      <p:ext uri="{BB962C8B-B14F-4D97-AF65-F5344CB8AC3E}">
        <p14:creationId xmlns:p14="http://schemas.microsoft.com/office/powerpoint/2010/main" val="292849577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10">
            <a:extLst>
              <a:ext uri="{FF2B5EF4-FFF2-40B4-BE49-F238E27FC236}">
                <a16:creationId xmlns:a16="http://schemas.microsoft.com/office/drawing/2014/main" id="{C512A0DA-5D69-DC4A-0383-82E961778CFA}"/>
              </a:ext>
            </a:extLst>
          </p:cNvPr>
          <p:cNvSpPr txBox="1"/>
          <p:nvPr/>
        </p:nvSpPr>
        <p:spPr>
          <a:xfrm>
            <a:off x="0" y="0"/>
            <a:ext cx="12192000" cy="493059"/>
          </a:xfrm>
          <a:prstGeom prst="rect">
            <a:avLst/>
          </a:prstGeom>
          <a:solidFill>
            <a:schemeClr val="bg1"/>
          </a:solid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algn="ctr"/>
            <a:r>
              <a:rPr lang="en-US" sz="2800" b="1">
                <a:solidFill>
                  <a:srgbClr val="E24825"/>
                </a:solidFill>
              </a:rPr>
              <a:t>INSIGHTS </a:t>
            </a:r>
            <a:r>
              <a:rPr lang="en-US" sz="2800" b="1" dirty="0">
                <a:solidFill>
                  <a:srgbClr val="E24825"/>
                </a:solidFill>
              </a:rPr>
              <a:t>&amp;RECOMMENDATIONS</a:t>
            </a:r>
          </a:p>
        </p:txBody>
      </p:sp>
      <p:sp>
        <p:nvSpPr>
          <p:cNvPr id="6" name="TextBox 1">
            <a:extLst>
              <a:ext uri="{FF2B5EF4-FFF2-40B4-BE49-F238E27FC236}">
                <a16:creationId xmlns:a16="http://schemas.microsoft.com/office/drawing/2014/main" id="{7E92AC9C-E7CC-2F37-AC1D-8F0959203780}"/>
              </a:ext>
            </a:extLst>
          </p:cNvPr>
          <p:cNvSpPr txBox="1"/>
          <p:nvPr/>
        </p:nvSpPr>
        <p:spPr>
          <a:xfrm>
            <a:off x="202018" y="720172"/>
            <a:ext cx="11759609" cy="5146158"/>
          </a:xfrm>
          <a:prstGeom prst="rect">
            <a:avLst/>
          </a:prstGeom>
          <a:noFill/>
          <a:ln w="9525" cmpd="sng">
            <a:solidFill>
              <a:schemeClr val="lt1">
                <a:shade val="50000"/>
              </a:schemeClr>
            </a:solid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2000" b="1" dirty="0">
                <a:solidFill>
                  <a:schemeClr val="bg1"/>
                </a:solidFill>
              </a:rPr>
              <a:t>Insights</a:t>
            </a:r>
          </a:p>
          <a:p>
            <a:r>
              <a:rPr lang="en-US" sz="2000" dirty="0">
                <a:solidFill>
                  <a:schemeClr val="bg1"/>
                </a:solidFill>
              </a:rPr>
              <a:t>The analysis revealed that customer was influenced by several demographic, geographic, and behavioral factors. Customers aged </a:t>
            </a:r>
            <a:r>
              <a:rPr lang="en-US" sz="2000" b="1" dirty="0">
                <a:solidFill>
                  <a:schemeClr val="bg1"/>
                </a:solidFill>
              </a:rPr>
              <a:t>41–50 years</a:t>
            </a:r>
            <a:r>
              <a:rPr lang="en-US" sz="2000" dirty="0">
                <a:solidFill>
                  <a:schemeClr val="bg1"/>
                </a:solidFill>
              </a:rPr>
              <a:t> experienced the highest churn, while </a:t>
            </a:r>
            <a:r>
              <a:rPr lang="en-US" sz="2000" b="1" dirty="0">
                <a:solidFill>
                  <a:schemeClr val="bg1"/>
                </a:solidFill>
              </a:rPr>
              <a:t>Lagos</a:t>
            </a:r>
            <a:r>
              <a:rPr lang="en-US" sz="2000" dirty="0">
                <a:solidFill>
                  <a:schemeClr val="bg1"/>
                </a:solidFill>
              </a:rPr>
              <a:t> recorded the largest number of customers who exited the bank. </a:t>
            </a:r>
            <a:r>
              <a:rPr lang="en-US" sz="2000" b="1" dirty="0">
                <a:solidFill>
                  <a:schemeClr val="bg1"/>
                </a:solidFill>
              </a:rPr>
              <a:t>New customers</a:t>
            </a:r>
            <a:r>
              <a:rPr lang="en-US" sz="2000" dirty="0">
                <a:solidFill>
                  <a:schemeClr val="bg1"/>
                </a:solidFill>
              </a:rPr>
              <a:t> were more likely to churn than long-term customers, whereas customers with longer relationships demonstrated stronger loyalty and retention. Customers with </a:t>
            </a:r>
            <a:r>
              <a:rPr lang="en-US" sz="2000" b="1" dirty="0">
                <a:solidFill>
                  <a:schemeClr val="bg1"/>
                </a:solidFill>
              </a:rPr>
              <a:t>higher account balances</a:t>
            </a:r>
            <a:r>
              <a:rPr lang="en-US" sz="2000" dirty="0">
                <a:solidFill>
                  <a:schemeClr val="bg1"/>
                </a:solidFill>
              </a:rPr>
              <a:t> were more likely to remain with the bank, while those with lower balances exhibited higher churn. Furthermore, </a:t>
            </a:r>
            <a:r>
              <a:rPr lang="en-US" sz="2000" b="1" dirty="0">
                <a:solidFill>
                  <a:schemeClr val="bg1"/>
                </a:solidFill>
              </a:rPr>
              <a:t>active members</a:t>
            </a:r>
            <a:r>
              <a:rPr lang="en-US" sz="2000" dirty="0">
                <a:solidFill>
                  <a:schemeClr val="bg1"/>
                </a:solidFill>
              </a:rPr>
              <a:t> experienced significantly lower churn than inactive members, indicating that customer engagement plays a more important role in retention than credit card ownership alone.</a:t>
            </a:r>
          </a:p>
          <a:p>
            <a:endParaRPr lang="en-US" sz="2000" dirty="0">
              <a:solidFill>
                <a:schemeClr val="bg1"/>
              </a:solidFill>
            </a:endParaRPr>
          </a:p>
          <a:p>
            <a:r>
              <a:rPr lang="en-US" sz="2000" b="1" dirty="0">
                <a:solidFill>
                  <a:schemeClr val="bg1"/>
                </a:solidFill>
              </a:rPr>
              <a:t>Recommendations</a:t>
            </a:r>
          </a:p>
          <a:p>
            <a:r>
              <a:rPr lang="en-US" sz="2000" dirty="0">
                <a:solidFill>
                  <a:schemeClr val="bg1"/>
                </a:solidFill>
              </a:rPr>
              <a:t>To reduce customer attrition, the bank should focus on high-risk customer segments by implementing targeted retention strategies for customers aged </a:t>
            </a:r>
            <a:r>
              <a:rPr lang="en-US" sz="2000" b="1" dirty="0">
                <a:solidFill>
                  <a:schemeClr val="bg1"/>
                </a:solidFill>
              </a:rPr>
              <a:t>41–50 years</a:t>
            </a:r>
            <a:r>
              <a:rPr lang="en-US" sz="2000" dirty="0">
                <a:solidFill>
                  <a:schemeClr val="bg1"/>
                </a:solidFill>
              </a:rPr>
              <a:t>, </a:t>
            </a:r>
            <a:r>
              <a:rPr lang="en-US" sz="2000" b="1" dirty="0">
                <a:solidFill>
                  <a:schemeClr val="bg1"/>
                </a:solidFill>
              </a:rPr>
              <a:t>new customers</a:t>
            </a:r>
            <a:r>
              <a:rPr lang="en-US" sz="2000" dirty="0">
                <a:solidFill>
                  <a:schemeClr val="bg1"/>
                </a:solidFill>
              </a:rPr>
              <a:t>, and those located in </a:t>
            </a:r>
            <a:r>
              <a:rPr lang="en-US" sz="2000" b="1" dirty="0">
                <a:solidFill>
                  <a:schemeClr val="bg1"/>
                </a:solidFill>
              </a:rPr>
              <a:t>Lagos</a:t>
            </a:r>
            <a:r>
              <a:rPr lang="en-US" sz="2000" dirty="0">
                <a:solidFill>
                  <a:schemeClr val="bg1"/>
                </a:solidFill>
              </a:rPr>
              <a:t>. Personalized financial products, proactive customer support, and loyalty programs should be introduced to strengthen customer relationships and improve satisfaction. The bank should also encourage greater customer engagement through digital banking services, personalized communication, and reward schemes to increase active membership. Additionally, regular monitoring of customer behavior using churn analytics will enable the bank to identify customers at risk of leaving and implement timely interventions to improve customer loyalty and retention.</a:t>
            </a:r>
          </a:p>
        </p:txBody>
      </p:sp>
    </p:spTree>
    <p:extLst>
      <p:ext uri="{BB962C8B-B14F-4D97-AF65-F5344CB8AC3E}">
        <p14:creationId xmlns:p14="http://schemas.microsoft.com/office/powerpoint/2010/main" val="6679625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24825"/>
        </a:solidFill>
        <a:effectLst/>
      </p:bgPr>
    </p:bg>
    <p:spTree>
      <p:nvGrpSpPr>
        <p:cNvPr id="1" name=""/>
        <p:cNvGrpSpPr/>
        <p:nvPr/>
      </p:nvGrpSpPr>
      <p:grpSpPr>
        <a:xfrm>
          <a:off x="0" y="0"/>
          <a:ext cx="0" cy="0"/>
          <a:chOff x="0" y="0"/>
          <a:chExt cx="0" cy="0"/>
        </a:xfrm>
      </p:grpSpPr>
      <p:sp>
        <p:nvSpPr>
          <p:cNvPr id="3" name="TextBox 1">
            <a:extLst>
              <a:ext uri="{FF2B5EF4-FFF2-40B4-BE49-F238E27FC236}">
                <a16:creationId xmlns:a16="http://schemas.microsoft.com/office/drawing/2014/main" id="{30F43853-A87C-9315-6A17-CAE8EDDD6A3E}"/>
              </a:ext>
            </a:extLst>
          </p:cNvPr>
          <p:cNvSpPr txBox="1"/>
          <p:nvPr/>
        </p:nvSpPr>
        <p:spPr>
          <a:xfrm>
            <a:off x="4192772" y="3012909"/>
            <a:ext cx="4146698" cy="832181"/>
          </a:xfrm>
          <a:prstGeom prst="rect">
            <a:avLst/>
          </a:prstGeom>
          <a:noFill/>
          <a:ln w="9525" cmpd="sng">
            <a:noFill/>
          </a:ln>
        </p:spPr>
        <p:style>
          <a:lnRef idx="0">
            <a:scrgbClr r="0" g="0" b="0"/>
          </a:lnRef>
          <a:fillRef idx="0">
            <a:scrgbClr r="0" g="0" b="0"/>
          </a:fillRef>
          <a:effectRef idx="0">
            <a:scrgbClr r="0" g="0" b="0"/>
          </a:effectRef>
          <a:fontRef idx="minor">
            <a:schemeClr val="dk1"/>
          </a:fontRef>
        </p:style>
        <p:txBody>
          <a:bodyPr wrap="square"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r>
              <a:rPr lang="en-US" sz="4400" b="1" dirty="0">
                <a:solidFill>
                  <a:schemeClr val="bg1"/>
                </a:solidFill>
              </a:rPr>
              <a:t>THANK YOU</a:t>
            </a:r>
            <a:endParaRPr lang="en-US" sz="4400" dirty="0">
              <a:solidFill>
                <a:schemeClr val="bg1"/>
              </a:solidFill>
            </a:endParaRPr>
          </a:p>
        </p:txBody>
      </p:sp>
    </p:spTree>
    <p:extLst>
      <p:ext uri="{BB962C8B-B14F-4D97-AF65-F5344CB8AC3E}">
        <p14:creationId xmlns:p14="http://schemas.microsoft.com/office/powerpoint/2010/main" val="4056769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101</TotalTime>
  <Words>1423</Words>
  <Application>Microsoft Office PowerPoint</Application>
  <PresentationFormat>Widescreen</PresentationFormat>
  <Paragraphs>83</Paragraphs>
  <Slides>12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Akinnitire Akintunde</dc:creator>
  <cp:lastModifiedBy>Akinnitire Akintunde</cp:lastModifiedBy>
  <cp:revision>36</cp:revision>
  <dcterms:created xsi:type="dcterms:W3CDTF">2026-07-21T10:45:55Z</dcterms:created>
  <dcterms:modified xsi:type="dcterms:W3CDTF">2026-08-12T09:15:34Z</dcterms:modified>
</cp:coreProperties>
</file>