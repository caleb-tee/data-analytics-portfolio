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3" r:id="rId6"/>
    <p:sldId id="264" r:id="rId7"/>
    <p:sldId id="265" r:id="rId8"/>
    <p:sldId id="266" r:id="rId9"/>
    <p:sldId id="260" r:id="rId10"/>
    <p:sldId id="261" r:id="rId11"/>
    <p:sldId id="26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08"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OneDrive\Desktop\data%20sets%20skillboost\Nigerian_Road_Traffic_Crashes_2020_2024.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OneDrive\Desktop\data%20sets%20skillboost\Nigerian_Road_Traffic_Crashes_2020_2024.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OneDrive\Desktop\data%20sets%20skillboost\Nigerian_Road_Traffic_Crashes_2020_2024.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OneDrive\Desktop\data%20sets%20skillboost\Nigerian_Road_Traffic_Crashes_2020_2024.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OneDrive\Desktop\data%20sets%20skillboost\Nigerian_Road_Traffic_Crashes_2020_2024.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OneDrive\Desktop\data%20sets%20skillboost\Nigerian_Road_Traffic_Crashes_2020_2024.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USER\OneDrive\Desktop\data%20sets%20skillboost\Nigerian_Road_Traffic_Crashes_2020_2024.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USER\OneDrive\Desktop\data%20sets%20skillboost\Nigerian_Road_Traffic_Crashes_2020_2024.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USER\OneDrive\Desktop\data%20sets%20skillboost\Nigerian_Road_Traffic_Crashes_2020_2024.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USER\OneDrive\Desktop\data%20sets%20skillboost\Nigerian_Road_Traffic_Crashes_2020_2024.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USER\OneDrive\Desktop\data%20sets%20skillboost\Nigerian_Road_Traffic_Crashes_2020_2024.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USER\OneDrive\Desktop\data%20sets%20skillboost\Nigerian_Road_Traffic_Crashes_2020_2024.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USER\OneDrive\Desktop\data%20sets%20skillboost\Nigerian_Road_Traffic_Crashes_2020_2024.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USER\OneDrive\Desktop\data%20sets%20skillboost\Nigerian_Road_Traffic_Crashes_2020_2024.xlsx" TargetMode="External"/><Relationship Id="rId2" Type="http://schemas.microsoft.com/office/2011/relationships/chartColorStyle" Target="colors14.xml"/><Relationship Id="rId1" Type="http://schemas.microsoft.com/office/2011/relationships/chartStyle" Target="style1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[Nigerian_Road_Traffic_Crashes_2020_2024.xlsx]Crash Rates by State and Quarte!PivotTable3</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Quarterly Trend in Road Traffic Crashes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'Crash Rates by State and Quarte'!$F$3</c:f>
              <c:strCache>
                <c:ptCount val="1"/>
                <c:pt idx="0">
                  <c:v>Total</c:v>
                </c:pt>
              </c:strCache>
            </c:strRef>
          </c:tx>
          <c:spPr>
            <a:ln w="28575" cap="rnd">
              <a:solidFill>
                <a:schemeClr val="dk1">
                  <a:tint val="88500"/>
                </a:schemeClr>
              </a:solidFill>
              <a:round/>
            </a:ln>
            <a:effectLst/>
          </c:spPr>
          <c:marker>
            <c:symbol val="none"/>
          </c:marker>
          <c:cat>
            <c:strRef>
              <c:f>'Crash Rates by State and Quarte'!$E$4:$E$18</c:f>
              <c:strCache>
                <c:ptCount val="14"/>
                <c:pt idx="0">
                  <c:v>Q1 2021</c:v>
                </c:pt>
                <c:pt idx="1">
                  <c:v>Q1 2022</c:v>
                </c:pt>
                <c:pt idx="2">
                  <c:v>Q1 2023</c:v>
                </c:pt>
                <c:pt idx="3">
                  <c:v>Q1 2024</c:v>
                </c:pt>
                <c:pt idx="4">
                  <c:v>Q2 2021</c:v>
                </c:pt>
                <c:pt idx="5">
                  <c:v>Q2 2022</c:v>
                </c:pt>
                <c:pt idx="6">
                  <c:v>Q2 2023</c:v>
                </c:pt>
                <c:pt idx="7">
                  <c:v>Q3 2021</c:v>
                </c:pt>
                <c:pt idx="8">
                  <c:v>Q3 2022</c:v>
                </c:pt>
                <c:pt idx="9">
                  <c:v>Q3 2023</c:v>
                </c:pt>
                <c:pt idx="10">
                  <c:v>Q4 2020</c:v>
                </c:pt>
                <c:pt idx="11">
                  <c:v>Q4 2021</c:v>
                </c:pt>
                <c:pt idx="12">
                  <c:v>Q4 2022</c:v>
                </c:pt>
                <c:pt idx="13">
                  <c:v>Q4 2023</c:v>
                </c:pt>
              </c:strCache>
            </c:strRef>
          </c:cat>
          <c:val>
            <c:numRef>
              <c:f>'Crash Rates by State and Quarte'!$F$4:$F$18</c:f>
              <c:numCache>
                <c:formatCode>General</c:formatCode>
                <c:ptCount val="14"/>
                <c:pt idx="0">
                  <c:v>3301</c:v>
                </c:pt>
                <c:pt idx="1">
                  <c:v>3345</c:v>
                </c:pt>
                <c:pt idx="2">
                  <c:v>2733</c:v>
                </c:pt>
                <c:pt idx="3">
                  <c:v>2662</c:v>
                </c:pt>
                <c:pt idx="4">
                  <c:v>3185</c:v>
                </c:pt>
                <c:pt idx="5">
                  <c:v>3282</c:v>
                </c:pt>
                <c:pt idx="6">
                  <c:v>2967</c:v>
                </c:pt>
                <c:pt idx="7">
                  <c:v>3134</c:v>
                </c:pt>
                <c:pt idx="8">
                  <c:v>3412</c:v>
                </c:pt>
                <c:pt idx="9">
                  <c:v>2187</c:v>
                </c:pt>
                <c:pt idx="10">
                  <c:v>3313</c:v>
                </c:pt>
                <c:pt idx="11">
                  <c:v>3407</c:v>
                </c:pt>
                <c:pt idx="12">
                  <c:v>3617</c:v>
                </c:pt>
                <c:pt idx="13">
                  <c:v>2717</c:v>
                </c:pt>
              </c:numCache>
            </c:numRef>
          </c:val>
          <c:smooth val="0"/>
          <c:extLst>
            <c:ext xmlns:c16="http://schemas.microsoft.com/office/drawing/2014/chart" uri="{C3380CC4-5D6E-409C-BE32-E72D297353CC}">
              <c16:uniqueId val="{00000000-79B7-4458-8187-8D2A7CA34B37}"/>
            </c:ext>
          </c:extLst>
        </c:ser>
        <c:dLbls>
          <c:showLegendKey val="0"/>
          <c:showVal val="0"/>
          <c:showCatName val="0"/>
          <c:showSerName val="0"/>
          <c:showPercent val="0"/>
          <c:showBubbleSize val="0"/>
        </c:dLbls>
        <c:smooth val="0"/>
        <c:axId val="576995256"/>
        <c:axId val="576992016"/>
      </c:lineChart>
      <c:catAx>
        <c:axId val="576995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6992016"/>
        <c:crosses val="autoZero"/>
        <c:auto val="1"/>
        <c:lblAlgn val="ctr"/>
        <c:lblOffset val="100"/>
        <c:noMultiLvlLbl val="0"/>
      </c:catAx>
      <c:valAx>
        <c:axId val="5769920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69952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[Nigerian_Road_Traffic_Crashes_2020_2024.xlsx]Trends in Total Crashes and Fat!PivotTable4</c:name>
    <c:fmtId val="2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Trends in Total Crashes and Fatalities Over 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'Trends in Total Crashes and Fat'!$C$3</c:f>
              <c:strCache>
                <c:ptCount val="1"/>
                <c:pt idx="0">
                  <c:v>Total Crash</c:v>
                </c:pt>
              </c:strCache>
            </c:strRef>
          </c:tx>
          <c:spPr>
            <a:ln w="28575" cap="rnd">
              <a:solidFill>
                <a:schemeClr val="dk1">
                  <a:tint val="88500"/>
                </a:schemeClr>
              </a:solidFill>
              <a:round/>
            </a:ln>
            <a:effectLst/>
          </c:spPr>
          <c:marker>
            <c:symbol val="none"/>
          </c:marker>
          <c:cat>
            <c:strRef>
              <c:f>'Trends in Total Crashes and Fat'!$B$4:$B$17</c:f>
              <c:strCache>
                <c:ptCount val="13"/>
                <c:pt idx="0">
                  <c:v>Q1 2021</c:v>
                </c:pt>
                <c:pt idx="1">
                  <c:v>Q1 2022</c:v>
                </c:pt>
                <c:pt idx="2">
                  <c:v>Q1 2023</c:v>
                </c:pt>
                <c:pt idx="3">
                  <c:v>Q1 2024</c:v>
                </c:pt>
                <c:pt idx="4">
                  <c:v>Q2 2021</c:v>
                </c:pt>
                <c:pt idx="5">
                  <c:v>Q2 2022</c:v>
                </c:pt>
                <c:pt idx="6">
                  <c:v>Q2 2023</c:v>
                </c:pt>
                <c:pt idx="7">
                  <c:v>Q3 2021</c:v>
                </c:pt>
                <c:pt idx="8">
                  <c:v>Q3 2023</c:v>
                </c:pt>
                <c:pt idx="9">
                  <c:v>Q4 2020</c:v>
                </c:pt>
                <c:pt idx="10">
                  <c:v>Q4 2021</c:v>
                </c:pt>
                <c:pt idx="11">
                  <c:v>Q4 2022</c:v>
                </c:pt>
                <c:pt idx="12">
                  <c:v>Q4 2023</c:v>
                </c:pt>
              </c:strCache>
            </c:strRef>
          </c:cat>
          <c:val>
            <c:numRef>
              <c:f>'Trends in Total Crashes and Fat'!$C$4:$C$17</c:f>
              <c:numCache>
                <c:formatCode>General</c:formatCode>
                <c:ptCount val="13"/>
                <c:pt idx="0">
                  <c:v>3301</c:v>
                </c:pt>
                <c:pt idx="1">
                  <c:v>3345</c:v>
                </c:pt>
                <c:pt idx="2">
                  <c:v>2733</c:v>
                </c:pt>
                <c:pt idx="3">
                  <c:v>2662</c:v>
                </c:pt>
                <c:pt idx="4">
                  <c:v>3185</c:v>
                </c:pt>
                <c:pt idx="5">
                  <c:v>3282</c:v>
                </c:pt>
                <c:pt idx="6">
                  <c:v>2967</c:v>
                </c:pt>
                <c:pt idx="7">
                  <c:v>3134</c:v>
                </c:pt>
                <c:pt idx="8">
                  <c:v>2187</c:v>
                </c:pt>
                <c:pt idx="9">
                  <c:v>3313</c:v>
                </c:pt>
                <c:pt idx="10">
                  <c:v>3407</c:v>
                </c:pt>
                <c:pt idx="11">
                  <c:v>3617</c:v>
                </c:pt>
                <c:pt idx="12">
                  <c:v>2717</c:v>
                </c:pt>
              </c:numCache>
            </c:numRef>
          </c:val>
          <c:smooth val="0"/>
          <c:extLst>
            <c:ext xmlns:c16="http://schemas.microsoft.com/office/drawing/2014/chart" uri="{C3380CC4-5D6E-409C-BE32-E72D297353CC}">
              <c16:uniqueId val="{00000000-07F8-42BD-AFE9-180210C5BC5C}"/>
            </c:ext>
          </c:extLst>
        </c:ser>
        <c:ser>
          <c:idx val="1"/>
          <c:order val="1"/>
          <c:tx>
            <c:strRef>
              <c:f>'Trends in Total Crashes and Fat'!$D$3</c:f>
              <c:strCache>
                <c:ptCount val="1"/>
                <c:pt idx="0">
                  <c:v>Fatalities</c:v>
                </c:pt>
              </c:strCache>
            </c:strRef>
          </c:tx>
          <c:spPr>
            <a:ln w="28575" cap="rnd">
              <a:solidFill>
                <a:schemeClr val="dk1">
                  <a:tint val="55000"/>
                </a:schemeClr>
              </a:solidFill>
              <a:round/>
            </a:ln>
            <a:effectLst/>
          </c:spPr>
          <c:marker>
            <c:symbol val="none"/>
          </c:marker>
          <c:cat>
            <c:strRef>
              <c:f>'Trends in Total Crashes and Fat'!$B$4:$B$17</c:f>
              <c:strCache>
                <c:ptCount val="13"/>
                <c:pt idx="0">
                  <c:v>Q1 2021</c:v>
                </c:pt>
                <c:pt idx="1">
                  <c:v>Q1 2022</c:v>
                </c:pt>
                <c:pt idx="2">
                  <c:v>Q1 2023</c:v>
                </c:pt>
                <c:pt idx="3">
                  <c:v>Q1 2024</c:v>
                </c:pt>
                <c:pt idx="4">
                  <c:v>Q2 2021</c:v>
                </c:pt>
                <c:pt idx="5">
                  <c:v>Q2 2022</c:v>
                </c:pt>
                <c:pt idx="6">
                  <c:v>Q2 2023</c:v>
                </c:pt>
                <c:pt idx="7">
                  <c:v>Q3 2021</c:v>
                </c:pt>
                <c:pt idx="8">
                  <c:v>Q3 2023</c:v>
                </c:pt>
                <c:pt idx="9">
                  <c:v>Q4 2020</c:v>
                </c:pt>
                <c:pt idx="10">
                  <c:v>Q4 2021</c:v>
                </c:pt>
                <c:pt idx="11">
                  <c:v>Q4 2022</c:v>
                </c:pt>
                <c:pt idx="12">
                  <c:v>Q4 2023</c:v>
                </c:pt>
              </c:strCache>
            </c:strRef>
          </c:cat>
          <c:val>
            <c:numRef>
              <c:f>'Trends in Total Crashes and Fat'!$D$4:$D$17</c:f>
              <c:numCache>
                <c:formatCode>General</c:formatCode>
                <c:ptCount val="13"/>
                <c:pt idx="0">
                  <c:v>1668</c:v>
                </c:pt>
                <c:pt idx="1">
                  <c:v>1834</c:v>
                </c:pt>
                <c:pt idx="2">
                  <c:v>1441</c:v>
                </c:pt>
                <c:pt idx="3">
                  <c:v>1471</c:v>
                </c:pt>
                <c:pt idx="4">
                  <c:v>1453</c:v>
                </c:pt>
                <c:pt idx="5">
                  <c:v>1538</c:v>
                </c:pt>
                <c:pt idx="6">
                  <c:v>1409</c:v>
                </c:pt>
                <c:pt idx="7">
                  <c:v>1432</c:v>
                </c:pt>
                <c:pt idx="8">
                  <c:v>908</c:v>
                </c:pt>
                <c:pt idx="9">
                  <c:v>1818</c:v>
                </c:pt>
                <c:pt idx="10">
                  <c:v>1652</c:v>
                </c:pt>
                <c:pt idx="11">
                  <c:v>1608</c:v>
                </c:pt>
                <c:pt idx="12">
                  <c:v>1323</c:v>
                </c:pt>
              </c:numCache>
            </c:numRef>
          </c:val>
          <c:smooth val="0"/>
          <c:extLst>
            <c:ext xmlns:c16="http://schemas.microsoft.com/office/drawing/2014/chart" uri="{C3380CC4-5D6E-409C-BE32-E72D297353CC}">
              <c16:uniqueId val="{00000001-07F8-42BD-AFE9-180210C5BC5C}"/>
            </c:ext>
          </c:extLst>
        </c:ser>
        <c:dLbls>
          <c:showLegendKey val="0"/>
          <c:showVal val="0"/>
          <c:showCatName val="0"/>
          <c:showSerName val="0"/>
          <c:showPercent val="0"/>
          <c:showBubbleSize val="0"/>
        </c:dLbls>
        <c:smooth val="0"/>
        <c:axId val="486318832"/>
        <c:axId val="486319184"/>
      </c:lineChart>
      <c:catAx>
        <c:axId val="486318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6319184"/>
        <c:crosses val="autoZero"/>
        <c:auto val="1"/>
        <c:lblAlgn val="ctr"/>
        <c:lblOffset val="100"/>
        <c:noMultiLvlLbl val="0"/>
      </c:catAx>
      <c:valAx>
        <c:axId val="4863191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631883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[Nigerian_Road_Traffic_Crashes_2020_2024.xlsx]Vehicles Involved and Crash Out!PivotTable1</c:name>
    <c:fmtId val="1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Distribution of Injuries, Fatalities and Total Crashes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'Vehicles Involved and Crash Out'!$C$3</c:f>
              <c:strCache>
                <c:ptCount val="1"/>
                <c:pt idx="0">
                  <c:v> Num_Injured</c:v>
                </c:pt>
              </c:strCache>
            </c:strRef>
          </c:tx>
          <c:spPr>
            <a:solidFill>
              <a:schemeClr val="dk1">
                <a:tint val="88500"/>
              </a:schemeClr>
            </a:solidFill>
            <a:ln>
              <a:noFill/>
            </a:ln>
            <a:effectLst/>
          </c:spPr>
          <c:invertIfNegative val="0"/>
          <c:cat>
            <c:strRef>
              <c:f>'Vehicles Involved and Crash Out'!$B$4:$B$12</c:f>
              <c:strCache>
                <c:ptCount val="8"/>
                <c:pt idx="0">
                  <c:v>0-99</c:v>
                </c:pt>
                <c:pt idx="1">
                  <c:v>100-199</c:v>
                </c:pt>
                <c:pt idx="2">
                  <c:v>200-299</c:v>
                </c:pt>
                <c:pt idx="3">
                  <c:v>300-399</c:v>
                </c:pt>
                <c:pt idx="4">
                  <c:v>400-499</c:v>
                </c:pt>
                <c:pt idx="5">
                  <c:v>500-599</c:v>
                </c:pt>
                <c:pt idx="6">
                  <c:v>600-699</c:v>
                </c:pt>
                <c:pt idx="7">
                  <c:v>800-899</c:v>
                </c:pt>
              </c:strCache>
            </c:strRef>
          </c:cat>
          <c:val>
            <c:numRef>
              <c:f>'Vehicles Involved and Crash Out'!$C$4:$C$12</c:f>
              <c:numCache>
                <c:formatCode>General</c:formatCode>
                <c:ptCount val="8"/>
                <c:pt idx="0">
                  <c:v>44916</c:v>
                </c:pt>
                <c:pt idx="1">
                  <c:v>45613</c:v>
                </c:pt>
                <c:pt idx="2">
                  <c:v>16698</c:v>
                </c:pt>
                <c:pt idx="3">
                  <c:v>11484</c:v>
                </c:pt>
                <c:pt idx="4">
                  <c:v>4159</c:v>
                </c:pt>
                <c:pt idx="5">
                  <c:v>1881</c:v>
                </c:pt>
                <c:pt idx="6">
                  <c:v>667</c:v>
                </c:pt>
                <c:pt idx="7">
                  <c:v>1819</c:v>
                </c:pt>
              </c:numCache>
            </c:numRef>
          </c:val>
          <c:extLst>
            <c:ext xmlns:c16="http://schemas.microsoft.com/office/drawing/2014/chart" uri="{C3380CC4-5D6E-409C-BE32-E72D297353CC}">
              <c16:uniqueId val="{00000000-4034-41E9-97EF-A233B6E4F4DC}"/>
            </c:ext>
          </c:extLst>
        </c:ser>
        <c:ser>
          <c:idx val="1"/>
          <c:order val="1"/>
          <c:tx>
            <c:strRef>
              <c:f>'Vehicles Involved and Crash Out'!$D$3</c:f>
              <c:strCache>
                <c:ptCount val="1"/>
                <c:pt idx="0">
                  <c:v> Total_Crashes</c:v>
                </c:pt>
              </c:strCache>
            </c:strRef>
          </c:tx>
          <c:spPr>
            <a:solidFill>
              <a:schemeClr val="dk1">
                <a:tint val="55000"/>
              </a:schemeClr>
            </a:solidFill>
            <a:ln>
              <a:noFill/>
            </a:ln>
            <a:effectLst/>
          </c:spPr>
          <c:invertIfNegative val="0"/>
          <c:cat>
            <c:strRef>
              <c:f>'Vehicles Involved and Crash Out'!$B$4:$B$12</c:f>
              <c:strCache>
                <c:ptCount val="8"/>
                <c:pt idx="0">
                  <c:v>0-99</c:v>
                </c:pt>
                <c:pt idx="1">
                  <c:v>100-199</c:v>
                </c:pt>
                <c:pt idx="2">
                  <c:v>200-299</c:v>
                </c:pt>
                <c:pt idx="3">
                  <c:v>300-399</c:v>
                </c:pt>
                <c:pt idx="4">
                  <c:v>400-499</c:v>
                </c:pt>
                <c:pt idx="5">
                  <c:v>500-599</c:v>
                </c:pt>
                <c:pt idx="6">
                  <c:v>600-699</c:v>
                </c:pt>
                <c:pt idx="7">
                  <c:v>800-899</c:v>
                </c:pt>
              </c:strCache>
            </c:strRef>
          </c:cat>
          <c:val>
            <c:numRef>
              <c:f>'Vehicles Involved and Crash Out'!$D$4:$D$12</c:f>
              <c:numCache>
                <c:formatCode>General</c:formatCode>
                <c:ptCount val="8"/>
                <c:pt idx="0">
                  <c:v>14342</c:v>
                </c:pt>
                <c:pt idx="1">
                  <c:v>14460</c:v>
                </c:pt>
                <c:pt idx="2">
                  <c:v>5421</c:v>
                </c:pt>
                <c:pt idx="3">
                  <c:v>4600</c:v>
                </c:pt>
                <c:pt idx="4">
                  <c:v>2085</c:v>
                </c:pt>
                <c:pt idx="5">
                  <c:v>952</c:v>
                </c:pt>
                <c:pt idx="6">
                  <c:v>382</c:v>
                </c:pt>
                <c:pt idx="7">
                  <c:v>1020</c:v>
                </c:pt>
              </c:numCache>
            </c:numRef>
          </c:val>
          <c:extLst>
            <c:ext xmlns:c16="http://schemas.microsoft.com/office/drawing/2014/chart" uri="{C3380CC4-5D6E-409C-BE32-E72D297353CC}">
              <c16:uniqueId val="{00000001-4034-41E9-97EF-A233B6E4F4DC}"/>
            </c:ext>
          </c:extLst>
        </c:ser>
        <c:ser>
          <c:idx val="2"/>
          <c:order val="2"/>
          <c:tx>
            <c:strRef>
              <c:f>'Vehicles Involved and Crash Out'!$E$3</c:f>
              <c:strCache>
                <c:ptCount val="1"/>
                <c:pt idx="0">
                  <c:v> Num_Killed</c:v>
                </c:pt>
              </c:strCache>
            </c:strRef>
          </c:tx>
          <c:spPr>
            <a:solidFill>
              <a:schemeClr val="dk1">
                <a:tint val="75000"/>
              </a:schemeClr>
            </a:solidFill>
            <a:ln>
              <a:noFill/>
            </a:ln>
            <a:effectLst/>
          </c:spPr>
          <c:invertIfNegative val="0"/>
          <c:cat>
            <c:strRef>
              <c:f>'Vehicles Involved and Crash Out'!$B$4:$B$12</c:f>
              <c:strCache>
                <c:ptCount val="8"/>
                <c:pt idx="0">
                  <c:v>0-99</c:v>
                </c:pt>
                <c:pt idx="1">
                  <c:v>100-199</c:v>
                </c:pt>
                <c:pt idx="2">
                  <c:v>200-299</c:v>
                </c:pt>
                <c:pt idx="3">
                  <c:v>300-399</c:v>
                </c:pt>
                <c:pt idx="4">
                  <c:v>400-499</c:v>
                </c:pt>
                <c:pt idx="5">
                  <c:v>500-599</c:v>
                </c:pt>
                <c:pt idx="6">
                  <c:v>600-699</c:v>
                </c:pt>
                <c:pt idx="7">
                  <c:v>800-899</c:v>
                </c:pt>
              </c:strCache>
            </c:strRef>
          </c:cat>
          <c:val>
            <c:numRef>
              <c:f>'Vehicles Involved and Crash Out'!$E$4:$E$12</c:f>
              <c:numCache>
                <c:formatCode>General</c:formatCode>
                <c:ptCount val="8"/>
                <c:pt idx="0">
                  <c:v>7488</c:v>
                </c:pt>
                <c:pt idx="1">
                  <c:v>8146</c:v>
                </c:pt>
                <c:pt idx="2">
                  <c:v>2592</c:v>
                </c:pt>
                <c:pt idx="3">
                  <c:v>1692</c:v>
                </c:pt>
                <c:pt idx="4">
                  <c:v>531</c:v>
                </c:pt>
                <c:pt idx="5">
                  <c:v>244</c:v>
                </c:pt>
                <c:pt idx="6">
                  <c:v>100</c:v>
                </c:pt>
                <c:pt idx="7">
                  <c:v>238</c:v>
                </c:pt>
              </c:numCache>
            </c:numRef>
          </c:val>
          <c:extLst>
            <c:ext xmlns:c16="http://schemas.microsoft.com/office/drawing/2014/chart" uri="{C3380CC4-5D6E-409C-BE32-E72D297353CC}">
              <c16:uniqueId val="{00000002-4034-41E9-97EF-A233B6E4F4DC}"/>
            </c:ext>
          </c:extLst>
        </c:ser>
        <c:dLbls>
          <c:showLegendKey val="0"/>
          <c:showVal val="0"/>
          <c:showCatName val="0"/>
          <c:showSerName val="0"/>
          <c:showPercent val="0"/>
          <c:showBubbleSize val="0"/>
        </c:dLbls>
        <c:gapWidth val="219"/>
        <c:overlap val="-27"/>
        <c:axId val="360791848"/>
        <c:axId val="360792208"/>
      </c:barChart>
      <c:catAx>
        <c:axId val="36079184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baseline="0"/>
                  <a:t>Number of Vehicles Involved</a:t>
                </a:r>
                <a:endParaRPr lang="en-US"/>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0792208"/>
        <c:crosses val="autoZero"/>
        <c:auto val="1"/>
        <c:lblAlgn val="ctr"/>
        <c:lblOffset val="100"/>
        <c:noMultiLvlLbl val="0"/>
      </c:catAx>
      <c:valAx>
        <c:axId val="3607922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07918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[Nigerian_Road_Traffic_Crashes_2020_2024.xlsx]Leading Causes of Crashes Acros!PivotTable3</c:name>
    <c:fmtId val="1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Leading Causes of Crashes Across States </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strRef>
              <c:f>'Leading Causes of Crashes Acros'!$C$16</c:f>
              <c:strCache>
                <c:ptCount val="1"/>
                <c:pt idx="0">
                  <c:v> SPV</c:v>
                </c:pt>
              </c:strCache>
            </c:strRef>
          </c:tx>
          <c:spPr>
            <a:solidFill>
              <a:schemeClr val="dk1">
                <a:tint val="88500"/>
              </a:schemeClr>
            </a:solidFill>
            <a:ln>
              <a:noFill/>
            </a:ln>
            <a:effectLst/>
          </c:spPr>
          <c:invertIfNegative val="0"/>
          <c:cat>
            <c:strRef>
              <c:f>'Leading Causes of Crashes Acros'!$B$17:$B$55</c:f>
              <c:strCache>
                <c:ptCount val="38"/>
                <c:pt idx="0">
                  <c:v>Abia</c:v>
                </c:pt>
                <c:pt idx="1">
                  <c:v>Adamawa</c:v>
                </c:pt>
                <c:pt idx="2">
                  <c:v>Akwa Ibom</c:v>
                </c:pt>
                <c:pt idx="3">
                  <c:v>Anambra</c:v>
                </c:pt>
                <c:pt idx="4">
                  <c:v>Bauchi</c:v>
                </c:pt>
                <c:pt idx="5">
                  <c:v>Bayelsa</c:v>
                </c:pt>
                <c:pt idx="6">
                  <c:v>Benue</c:v>
                </c:pt>
                <c:pt idx="7">
                  <c:v>Borno</c:v>
                </c:pt>
                <c:pt idx="8">
                  <c:v>Cross River</c:v>
                </c:pt>
                <c:pt idx="9">
                  <c:v>Delta</c:v>
                </c:pt>
                <c:pt idx="10">
                  <c:v>Ebonyi</c:v>
                </c:pt>
                <c:pt idx="11">
                  <c:v>Edo</c:v>
                </c:pt>
                <c:pt idx="12">
                  <c:v>Ekiti</c:v>
                </c:pt>
                <c:pt idx="13">
                  <c:v>Enugu</c:v>
                </c:pt>
                <c:pt idx="14">
                  <c:v>FCT</c:v>
                </c:pt>
                <c:pt idx="15">
                  <c:v>Gombe</c:v>
                </c:pt>
                <c:pt idx="16">
                  <c:v>Imo</c:v>
                </c:pt>
                <c:pt idx="17">
                  <c:v>Jigawa</c:v>
                </c:pt>
                <c:pt idx="18">
                  <c:v>Kaduna</c:v>
                </c:pt>
                <c:pt idx="19">
                  <c:v>Kano</c:v>
                </c:pt>
                <c:pt idx="20">
                  <c:v>Katsina</c:v>
                </c:pt>
                <c:pt idx="21">
                  <c:v>Kebbi</c:v>
                </c:pt>
                <c:pt idx="22">
                  <c:v>Kogi</c:v>
                </c:pt>
                <c:pt idx="23">
                  <c:v>Kwara</c:v>
                </c:pt>
                <c:pt idx="24">
                  <c:v>Lagos</c:v>
                </c:pt>
                <c:pt idx="25">
                  <c:v>Nasarawa</c:v>
                </c:pt>
                <c:pt idx="26">
                  <c:v>Niger</c:v>
                </c:pt>
                <c:pt idx="27">
                  <c:v>Ogun</c:v>
                </c:pt>
                <c:pt idx="28">
                  <c:v>Ondo</c:v>
                </c:pt>
                <c:pt idx="29">
                  <c:v>Osun</c:v>
                </c:pt>
                <c:pt idx="30">
                  <c:v>Oyo</c:v>
                </c:pt>
                <c:pt idx="31">
                  <c:v>Plateau</c:v>
                </c:pt>
                <c:pt idx="32">
                  <c:v>Rivers</c:v>
                </c:pt>
                <c:pt idx="33">
                  <c:v>Sokoto</c:v>
                </c:pt>
                <c:pt idx="34">
                  <c:v>Taraba</c:v>
                </c:pt>
                <c:pt idx="35">
                  <c:v>Yobe</c:v>
                </c:pt>
                <c:pt idx="36">
                  <c:v>Zamfara</c:v>
                </c:pt>
                <c:pt idx="37">
                  <c:v>(blank)</c:v>
                </c:pt>
              </c:strCache>
            </c:strRef>
          </c:cat>
          <c:val>
            <c:numRef>
              <c:f>'Leading Causes of Crashes Acros'!$C$17:$C$55</c:f>
              <c:numCache>
                <c:formatCode>General</c:formatCode>
                <c:ptCount val="38"/>
                <c:pt idx="0">
                  <c:v>93</c:v>
                </c:pt>
                <c:pt idx="1">
                  <c:v>367</c:v>
                </c:pt>
                <c:pt idx="2">
                  <c:v>94</c:v>
                </c:pt>
                <c:pt idx="3">
                  <c:v>226</c:v>
                </c:pt>
                <c:pt idx="4">
                  <c:v>595</c:v>
                </c:pt>
                <c:pt idx="5">
                  <c:v>47</c:v>
                </c:pt>
                <c:pt idx="6">
                  <c:v>444</c:v>
                </c:pt>
                <c:pt idx="7">
                  <c:v>111</c:v>
                </c:pt>
                <c:pt idx="8">
                  <c:v>171</c:v>
                </c:pt>
                <c:pt idx="9">
                  <c:v>304</c:v>
                </c:pt>
                <c:pt idx="10">
                  <c:v>170</c:v>
                </c:pt>
                <c:pt idx="11">
                  <c:v>400</c:v>
                </c:pt>
                <c:pt idx="12">
                  <c:v>267</c:v>
                </c:pt>
                <c:pt idx="13">
                  <c:v>196</c:v>
                </c:pt>
                <c:pt idx="14">
                  <c:v>2101</c:v>
                </c:pt>
                <c:pt idx="15">
                  <c:v>373</c:v>
                </c:pt>
                <c:pt idx="16">
                  <c:v>104</c:v>
                </c:pt>
                <c:pt idx="17">
                  <c:v>1076</c:v>
                </c:pt>
                <c:pt idx="18">
                  <c:v>1238</c:v>
                </c:pt>
                <c:pt idx="19">
                  <c:v>552</c:v>
                </c:pt>
                <c:pt idx="20">
                  <c:v>344</c:v>
                </c:pt>
                <c:pt idx="21">
                  <c:v>273</c:v>
                </c:pt>
                <c:pt idx="22">
                  <c:v>687</c:v>
                </c:pt>
                <c:pt idx="23">
                  <c:v>633</c:v>
                </c:pt>
                <c:pt idx="24">
                  <c:v>645</c:v>
                </c:pt>
                <c:pt idx="25">
                  <c:v>1047</c:v>
                </c:pt>
                <c:pt idx="26">
                  <c:v>1012</c:v>
                </c:pt>
                <c:pt idx="27">
                  <c:v>2455</c:v>
                </c:pt>
                <c:pt idx="28">
                  <c:v>756</c:v>
                </c:pt>
                <c:pt idx="29">
                  <c:v>619</c:v>
                </c:pt>
                <c:pt idx="30">
                  <c:v>963</c:v>
                </c:pt>
                <c:pt idx="31">
                  <c:v>281</c:v>
                </c:pt>
                <c:pt idx="32">
                  <c:v>122</c:v>
                </c:pt>
                <c:pt idx="33">
                  <c:v>243</c:v>
                </c:pt>
                <c:pt idx="34">
                  <c:v>189</c:v>
                </c:pt>
                <c:pt idx="35">
                  <c:v>252</c:v>
                </c:pt>
                <c:pt idx="36">
                  <c:v>184</c:v>
                </c:pt>
              </c:numCache>
            </c:numRef>
          </c:val>
          <c:extLst>
            <c:ext xmlns:c16="http://schemas.microsoft.com/office/drawing/2014/chart" uri="{C3380CC4-5D6E-409C-BE32-E72D297353CC}">
              <c16:uniqueId val="{00000000-6CE4-4989-9157-D960CA06A567}"/>
            </c:ext>
          </c:extLst>
        </c:ser>
        <c:ser>
          <c:idx val="1"/>
          <c:order val="1"/>
          <c:tx>
            <c:strRef>
              <c:f>'Leading Causes of Crashes Acros'!$D$16</c:f>
              <c:strCache>
                <c:ptCount val="1"/>
                <c:pt idx="0">
                  <c:v> Other_Factors</c:v>
                </c:pt>
              </c:strCache>
            </c:strRef>
          </c:tx>
          <c:spPr>
            <a:solidFill>
              <a:schemeClr val="dk1">
                <a:tint val="55000"/>
              </a:schemeClr>
            </a:solidFill>
            <a:ln>
              <a:noFill/>
            </a:ln>
            <a:effectLst/>
          </c:spPr>
          <c:invertIfNegative val="0"/>
          <c:cat>
            <c:strRef>
              <c:f>'Leading Causes of Crashes Acros'!$B$17:$B$55</c:f>
              <c:strCache>
                <c:ptCount val="38"/>
                <c:pt idx="0">
                  <c:v>Abia</c:v>
                </c:pt>
                <c:pt idx="1">
                  <c:v>Adamawa</c:v>
                </c:pt>
                <c:pt idx="2">
                  <c:v>Akwa Ibom</c:v>
                </c:pt>
                <c:pt idx="3">
                  <c:v>Anambra</c:v>
                </c:pt>
                <c:pt idx="4">
                  <c:v>Bauchi</c:v>
                </c:pt>
                <c:pt idx="5">
                  <c:v>Bayelsa</c:v>
                </c:pt>
                <c:pt idx="6">
                  <c:v>Benue</c:v>
                </c:pt>
                <c:pt idx="7">
                  <c:v>Borno</c:v>
                </c:pt>
                <c:pt idx="8">
                  <c:v>Cross River</c:v>
                </c:pt>
                <c:pt idx="9">
                  <c:v>Delta</c:v>
                </c:pt>
                <c:pt idx="10">
                  <c:v>Ebonyi</c:v>
                </c:pt>
                <c:pt idx="11">
                  <c:v>Edo</c:v>
                </c:pt>
                <c:pt idx="12">
                  <c:v>Ekiti</c:v>
                </c:pt>
                <c:pt idx="13">
                  <c:v>Enugu</c:v>
                </c:pt>
                <c:pt idx="14">
                  <c:v>FCT</c:v>
                </c:pt>
                <c:pt idx="15">
                  <c:v>Gombe</c:v>
                </c:pt>
                <c:pt idx="16">
                  <c:v>Imo</c:v>
                </c:pt>
                <c:pt idx="17">
                  <c:v>Jigawa</c:v>
                </c:pt>
                <c:pt idx="18">
                  <c:v>Kaduna</c:v>
                </c:pt>
                <c:pt idx="19">
                  <c:v>Kano</c:v>
                </c:pt>
                <c:pt idx="20">
                  <c:v>Katsina</c:v>
                </c:pt>
                <c:pt idx="21">
                  <c:v>Kebbi</c:v>
                </c:pt>
                <c:pt idx="22">
                  <c:v>Kogi</c:v>
                </c:pt>
                <c:pt idx="23">
                  <c:v>Kwara</c:v>
                </c:pt>
                <c:pt idx="24">
                  <c:v>Lagos</c:v>
                </c:pt>
                <c:pt idx="25">
                  <c:v>Nasarawa</c:v>
                </c:pt>
                <c:pt idx="26">
                  <c:v>Niger</c:v>
                </c:pt>
                <c:pt idx="27">
                  <c:v>Ogun</c:v>
                </c:pt>
                <c:pt idx="28">
                  <c:v>Ondo</c:v>
                </c:pt>
                <c:pt idx="29">
                  <c:v>Osun</c:v>
                </c:pt>
                <c:pt idx="30">
                  <c:v>Oyo</c:v>
                </c:pt>
                <c:pt idx="31">
                  <c:v>Plateau</c:v>
                </c:pt>
                <c:pt idx="32">
                  <c:v>Rivers</c:v>
                </c:pt>
                <c:pt idx="33">
                  <c:v>Sokoto</c:v>
                </c:pt>
                <c:pt idx="34">
                  <c:v>Taraba</c:v>
                </c:pt>
                <c:pt idx="35">
                  <c:v>Yobe</c:v>
                </c:pt>
                <c:pt idx="36">
                  <c:v>Zamfara</c:v>
                </c:pt>
                <c:pt idx="37">
                  <c:v>(blank)</c:v>
                </c:pt>
              </c:strCache>
            </c:strRef>
          </c:cat>
          <c:val>
            <c:numRef>
              <c:f>'Leading Causes of Crashes Acros'!$D$17:$D$55</c:f>
              <c:numCache>
                <c:formatCode>General</c:formatCode>
                <c:ptCount val="38"/>
                <c:pt idx="0">
                  <c:v>196</c:v>
                </c:pt>
                <c:pt idx="1">
                  <c:v>326</c:v>
                </c:pt>
                <c:pt idx="2">
                  <c:v>73</c:v>
                </c:pt>
                <c:pt idx="3">
                  <c:v>470</c:v>
                </c:pt>
                <c:pt idx="4">
                  <c:v>780</c:v>
                </c:pt>
                <c:pt idx="5">
                  <c:v>33</c:v>
                </c:pt>
                <c:pt idx="6">
                  <c:v>180</c:v>
                </c:pt>
                <c:pt idx="7">
                  <c:v>228</c:v>
                </c:pt>
                <c:pt idx="8">
                  <c:v>155</c:v>
                </c:pt>
                <c:pt idx="9">
                  <c:v>424</c:v>
                </c:pt>
                <c:pt idx="10">
                  <c:v>216</c:v>
                </c:pt>
                <c:pt idx="11">
                  <c:v>451</c:v>
                </c:pt>
                <c:pt idx="12">
                  <c:v>156</c:v>
                </c:pt>
                <c:pt idx="13">
                  <c:v>506</c:v>
                </c:pt>
                <c:pt idx="14">
                  <c:v>2790</c:v>
                </c:pt>
                <c:pt idx="15">
                  <c:v>613</c:v>
                </c:pt>
                <c:pt idx="16">
                  <c:v>180</c:v>
                </c:pt>
                <c:pt idx="17">
                  <c:v>570</c:v>
                </c:pt>
                <c:pt idx="18">
                  <c:v>1047</c:v>
                </c:pt>
                <c:pt idx="19">
                  <c:v>402</c:v>
                </c:pt>
                <c:pt idx="20">
                  <c:v>147</c:v>
                </c:pt>
                <c:pt idx="21">
                  <c:v>92</c:v>
                </c:pt>
                <c:pt idx="22">
                  <c:v>984</c:v>
                </c:pt>
                <c:pt idx="23">
                  <c:v>686</c:v>
                </c:pt>
                <c:pt idx="24">
                  <c:v>722</c:v>
                </c:pt>
                <c:pt idx="25">
                  <c:v>1767</c:v>
                </c:pt>
                <c:pt idx="26">
                  <c:v>545</c:v>
                </c:pt>
                <c:pt idx="27">
                  <c:v>1257</c:v>
                </c:pt>
                <c:pt idx="28">
                  <c:v>568</c:v>
                </c:pt>
                <c:pt idx="29">
                  <c:v>580</c:v>
                </c:pt>
                <c:pt idx="30">
                  <c:v>806</c:v>
                </c:pt>
                <c:pt idx="31">
                  <c:v>584</c:v>
                </c:pt>
                <c:pt idx="32">
                  <c:v>166</c:v>
                </c:pt>
                <c:pt idx="33">
                  <c:v>133</c:v>
                </c:pt>
                <c:pt idx="34">
                  <c:v>591</c:v>
                </c:pt>
                <c:pt idx="35">
                  <c:v>340</c:v>
                </c:pt>
                <c:pt idx="36">
                  <c:v>150</c:v>
                </c:pt>
              </c:numCache>
            </c:numRef>
          </c:val>
          <c:extLst>
            <c:ext xmlns:c16="http://schemas.microsoft.com/office/drawing/2014/chart" uri="{C3380CC4-5D6E-409C-BE32-E72D297353CC}">
              <c16:uniqueId val="{00000001-6CE4-4989-9157-D960CA06A567}"/>
            </c:ext>
          </c:extLst>
        </c:ser>
        <c:ser>
          <c:idx val="2"/>
          <c:order val="2"/>
          <c:tx>
            <c:strRef>
              <c:f>'Leading Causes of Crashes Acros'!$E$16</c:f>
              <c:strCache>
                <c:ptCount val="1"/>
                <c:pt idx="0">
                  <c:v> FTQ</c:v>
                </c:pt>
              </c:strCache>
            </c:strRef>
          </c:tx>
          <c:spPr>
            <a:solidFill>
              <a:schemeClr val="dk1">
                <a:tint val="75000"/>
              </a:schemeClr>
            </a:solidFill>
            <a:ln>
              <a:noFill/>
            </a:ln>
            <a:effectLst/>
          </c:spPr>
          <c:invertIfNegative val="0"/>
          <c:cat>
            <c:strRef>
              <c:f>'Leading Causes of Crashes Acros'!$B$17:$B$55</c:f>
              <c:strCache>
                <c:ptCount val="38"/>
                <c:pt idx="0">
                  <c:v>Abia</c:v>
                </c:pt>
                <c:pt idx="1">
                  <c:v>Adamawa</c:v>
                </c:pt>
                <c:pt idx="2">
                  <c:v>Akwa Ibom</c:v>
                </c:pt>
                <c:pt idx="3">
                  <c:v>Anambra</c:v>
                </c:pt>
                <c:pt idx="4">
                  <c:v>Bauchi</c:v>
                </c:pt>
                <c:pt idx="5">
                  <c:v>Bayelsa</c:v>
                </c:pt>
                <c:pt idx="6">
                  <c:v>Benue</c:v>
                </c:pt>
                <c:pt idx="7">
                  <c:v>Borno</c:v>
                </c:pt>
                <c:pt idx="8">
                  <c:v>Cross River</c:v>
                </c:pt>
                <c:pt idx="9">
                  <c:v>Delta</c:v>
                </c:pt>
                <c:pt idx="10">
                  <c:v>Ebonyi</c:v>
                </c:pt>
                <c:pt idx="11">
                  <c:v>Edo</c:v>
                </c:pt>
                <c:pt idx="12">
                  <c:v>Ekiti</c:v>
                </c:pt>
                <c:pt idx="13">
                  <c:v>Enugu</c:v>
                </c:pt>
                <c:pt idx="14">
                  <c:v>FCT</c:v>
                </c:pt>
                <c:pt idx="15">
                  <c:v>Gombe</c:v>
                </c:pt>
                <c:pt idx="16">
                  <c:v>Imo</c:v>
                </c:pt>
                <c:pt idx="17">
                  <c:v>Jigawa</c:v>
                </c:pt>
                <c:pt idx="18">
                  <c:v>Kaduna</c:v>
                </c:pt>
                <c:pt idx="19">
                  <c:v>Kano</c:v>
                </c:pt>
                <c:pt idx="20">
                  <c:v>Katsina</c:v>
                </c:pt>
                <c:pt idx="21">
                  <c:v>Kebbi</c:v>
                </c:pt>
                <c:pt idx="22">
                  <c:v>Kogi</c:v>
                </c:pt>
                <c:pt idx="23">
                  <c:v>Kwara</c:v>
                </c:pt>
                <c:pt idx="24">
                  <c:v>Lagos</c:v>
                </c:pt>
                <c:pt idx="25">
                  <c:v>Nasarawa</c:v>
                </c:pt>
                <c:pt idx="26">
                  <c:v>Niger</c:v>
                </c:pt>
                <c:pt idx="27">
                  <c:v>Ogun</c:v>
                </c:pt>
                <c:pt idx="28">
                  <c:v>Ondo</c:v>
                </c:pt>
                <c:pt idx="29">
                  <c:v>Osun</c:v>
                </c:pt>
                <c:pt idx="30">
                  <c:v>Oyo</c:v>
                </c:pt>
                <c:pt idx="31">
                  <c:v>Plateau</c:v>
                </c:pt>
                <c:pt idx="32">
                  <c:v>Rivers</c:v>
                </c:pt>
                <c:pt idx="33">
                  <c:v>Sokoto</c:v>
                </c:pt>
                <c:pt idx="34">
                  <c:v>Taraba</c:v>
                </c:pt>
                <c:pt idx="35">
                  <c:v>Yobe</c:v>
                </c:pt>
                <c:pt idx="36">
                  <c:v>Zamfara</c:v>
                </c:pt>
                <c:pt idx="37">
                  <c:v>(blank)</c:v>
                </c:pt>
              </c:strCache>
            </c:strRef>
          </c:cat>
          <c:val>
            <c:numRef>
              <c:f>'Leading Causes of Crashes Acros'!$E$17:$E$55</c:f>
              <c:numCache>
                <c:formatCode>General</c:formatCode>
                <c:ptCount val="38"/>
                <c:pt idx="0">
                  <c:v>75</c:v>
                </c:pt>
                <c:pt idx="1">
                  <c:v>274</c:v>
                </c:pt>
                <c:pt idx="2">
                  <c:v>73</c:v>
                </c:pt>
                <c:pt idx="3">
                  <c:v>97</c:v>
                </c:pt>
                <c:pt idx="4">
                  <c:v>447</c:v>
                </c:pt>
                <c:pt idx="5">
                  <c:v>97</c:v>
                </c:pt>
                <c:pt idx="6">
                  <c:v>226</c:v>
                </c:pt>
                <c:pt idx="7">
                  <c:v>53</c:v>
                </c:pt>
                <c:pt idx="8">
                  <c:v>131</c:v>
                </c:pt>
                <c:pt idx="9">
                  <c:v>159</c:v>
                </c:pt>
                <c:pt idx="10">
                  <c:v>100</c:v>
                </c:pt>
                <c:pt idx="11">
                  <c:v>310</c:v>
                </c:pt>
                <c:pt idx="12">
                  <c:v>159</c:v>
                </c:pt>
                <c:pt idx="13">
                  <c:v>132</c:v>
                </c:pt>
                <c:pt idx="14">
                  <c:v>1636</c:v>
                </c:pt>
                <c:pt idx="15">
                  <c:v>197</c:v>
                </c:pt>
                <c:pt idx="16">
                  <c:v>44</c:v>
                </c:pt>
                <c:pt idx="17">
                  <c:v>706</c:v>
                </c:pt>
                <c:pt idx="18">
                  <c:v>623</c:v>
                </c:pt>
                <c:pt idx="19">
                  <c:v>299</c:v>
                </c:pt>
                <c:pt idx="20">
                  <c:v>106</c:v>
                </c:pt>
                <c:pt idx="21">
                  <c:v>223</c:v>
                </c:pt>
                <c:pt idx="22">
                  <c:v>542</c:v>
                </c:pt>
                <c:pt idx="23">
                  <c:v>403</c:v>
                </c:pt>
                <c:pt idx="24">
                  <c:v>419</c:v>
                </c:pt>
                <c:pt idx="25">
                  <c:v>664</c:v>
                </c:pt>
                <c:pt idx="26">
                  <c:v>740</c:v>
                </c:pt>
                <c:pt idx="27">
                  <c:v>1316</c:v>
                </c:pt>
                <c:pt idx="28">
                  <c:v>470</c:v>
                </c:pt>
                <c:pt idx="29">
                  <c:v>374</c:v>
                </c:pt>
                <c:pt idx="30">
                  <c:v>542</c:v>
                </c:pt>
                <c:pt idx="31">
                  <c:v>147</c:v>
                </c:pt>
                <c:pt idx="32">
                  <c:v>65</c:v>
                </c:pt>
                <c:pt idx="33">
                  <c:v>157</c:v>
                </c:pt>
                <c:pt idx="34">
                  <c:v>107</c:v>
                </c:pt>
                <c:pt idx="35">
                  <c:v>136</c:v>
                </c:pt>
                <c:pt idx="36">
                  <c:v>92</c:v>
                </c:pt>
              </c:numCache>
            </c:numRef>
          </c:val>
          <c:extLst>
            <c:ext xmlns:c16="http://schemas.microsoft.com/office/drawing/2014/chart" uri="{C3380CC4-5D6E-409C-BE32-E72D297353CC}">
              <c16:uniqueId val="{00000002-6CE4-4989-9157-D960CA06A567}"/>
            </c:ext>
          </c:extLst>
        </c:ser>
        <c:ser>
          <c:idx val="3"/>
          <c:order val="3"/>
          <c:tx>
            <c:strRef>
              <c:f>'Leading Causes of Crashes Acros'!$F$16</c:f>
              <c:strCache>
                <c:ptCount val="1"/>
                <c:pt idx="0">
                  <c:v> PWR</c:v>
                </c:pt>
              </c:strCache>
            </c:strRef>
          </c:tx>
          <c:spPr>
            <a:solidFill>
              <a:schemeClr val="dk1">
                <a:tint val="98500"/>
              </a:schemeClr>
            </a:solidFill>
            <a:ln>
              <a:noFill/>
            </a:ln>
            <a:effectLst/>
          </c:spPr>
          <c:invertIfNegative val="0"/>
          <c:cat>
            <c:strRef>
              <c:f>'Leading Causes of Crashes Acros'!$B$17:$B$55</c:f>
              <c:strCache>
                <c:ptCount val="38"/>
                <c:pt idx="0">
                  <c:v>Abia</c:v>
                </c:pt>
                <c:pt idx="1">
                  <c:v>Adamawa</c:v>
                </c:pt>
                <c:pt idx="2">
                  <c:v>Akwa Ibom</c:v>
                </c:pt>
                <c:pt idx="3">
                  <c:v>Anambra</c:v>
                </c:pt>
                <c:pt idx="4">
                  <c:v>Bauchi</c:v>
                </c:pt>
                <c:pt idx="5">
                  <c:v>Bayelsa</c:v>
                </c:pt>
                <c:pt idx="6">
                  <c:v>Benue</c:v>
                </c:pt>
                <c:pt idx="7">
                  <c:v>Borno</c:v>
                </c:pt>
                <c:pt idx="8">
                  <c:v>Cross River</c:v>
                </c:pt>
                <c:pt idx="9">
                  <c:v>Delta</c:v>
                </c:pt>
                <c:pt idx="10">
                  <c:v>Ebonyi</c:v>
                </c:pt>
                <c:pt idx="11">
                  <c:v>Edo</c:v>
                </c:pt>
                <c:pt idx="12">
                  <c:v>Ekiti</c:v>
                </c:pt>
                <c:pt idx="13">
                  <c:v>Enugu</c:v>
                </c:pt>
                <c:pt idx="14">
                  <c:v>FCT</c:v>
                </c:pt>
                <c:pt idx="15">
                  <c:v>Gombe</c:v>
                </c:pt>
                <c:pt idx="16">
                  <c:v>Imo</c:v>
                </c:pt>
                <c:pt idx="17">
                  <c:v>Jigawa</c:v>
                </c:pt>
                <c:pt idx="18">
                  <c:v>Kaduna</c:v>
                </c:pt>
                <c:pt idx="19">
                  <c:v>Kano</c:v>
                </c:pt>
                <c:pt idx="20">
                  <c:v>Katsina</c:v>
                </c:pt>
                <c:pt idx="21">
                  <c:v>Kebbi</c:v>
                </c:pt>
                <c:pt idx="22">
                  <c:v>Kogi</c:v>
                </c:pt>
                <c:pt idx="23">
                  <c:v>Kwara</c:v>
                </c:pt>
                <c:pt idx="24">
                  <c:v>Lagos</c:v>
                </c:pt>
                <c:pt idx="25">
                  <c:v>Nasarawa</c:v>
                </c:pt>
                <c:pt idx="26">
                  <c:v>Niger</c:v>
                </c:pt>
                <c:pt idx="27">
                  <c:v>Ogun</c:v>
                </c:pt>
                <c:pt idx="28">
                  <c:v>Ondo</c:v>
                </c:pt>
                <c:pt idx="29">
                  <c:v>Osun</c:v>
                </c:pt>
                <c:pt idx="30">
                  <c:v>Oyo</c:v>
                </c:pt>
                <c:pt idx="31">
                  <c:v>Plateau</c:v>
                </c:pt>
                <c:pt idx="32">
                  <c:v>Rivers</c:v>
                </c:pt>
                <c:pt idx="33">
                  <c:v>Sokoto</c:v>
                </c:pt>
                <c:pt idx="34">
                  <c:v>Taraba</c:v>
                </c:pt>
                <c:pt idx="35">
                  <c:v>Yobe</c:v>
                </c:pt>
                <c:pt idx="36">
                  <c:v>Zamfara</c:v>
                </c:pt>
                <c:pt idx="37">
                  <c:v>(blank)</c:v>
                </c:pt>
              </c:strCache>
            </c:strRef>
          </c:cat>
          <c:val>
            <c:numRef>
              <c:f>'Leading Causes of Crashes Acros'!$F$17:$F$55</c:f>
              <c:numCache>
                <c:formatCode>General</c:formatCode>
                <c:ptCount val="38"/>
                <c:pt idx="0">
                  <c:v>2</c:v>
                </c:pt>
                <c:pt idx="1">
                  <c:v>0</c:v>
                </c:pt>
                <c:pt idx="2">
                  <c:v>1</c:v>
                </c:pt>
                <c:pt idx="3">
                  <c:v>2</c:v>
                </c:pt>
                <c:pt idx="4">
                  <c:v>2</c:v>
                </c:pt>
                <c:pt idx="5">
                  <c:v>2</c:v>
                </c:pt>
                <c:pt idx="6">
                  <c:v>0</c:v>
                </c:pt>
                <c:pt idx="7">
                  <c:v>0</c:v>
                </c:pt>
                <c:pt idx="8">
                  <c:v>1</c:v>
                </c:pt>
                <c:pt idx="9">
                  <c:v>4</c:v>
                </c:pt>
                <c:pt idx="10">
                  <c:v>0</c:v>
                </c:pt>
                <c:pt idx="11">
                  <c:v>1</c:v>
                </c:pt>
                <c:pt idx="12">
                  <c:v>0</c:v>
                </c:pt>
                <c:pt idx="13">
                  <c:v>0</c:v>
                </c:pt>
                <c:pt idx="14">
                  <c:v>12</c:v>
                </c:pt>
                <c:pt idx="15">
                  <c:v>0</c:v>
                </c:pt>
                <c:pt idx="16">
                  <c:v>1</c:v>
                </c:pt>
                <c:pt idx="17">
                  <c:v>3</c:v>
                </c:pt>
                <c:pt idx="18">
                  <c:v>19</c:v>
                </c:pt>
                <c:pt idx="19">
                  <c:v>1</c:v>
                </c:pt>
                <c:pt idx="20">
                  <c:v>1</c:v>
                </c:pt>
                <c:pt idx="21">
                  <c:v>1</c:v>
                </c:pt>
                <c:pt idx="22">
                  <c:v>9</c:v>
                </c:pt>
                <c:pt idx="23">
                  <c:v>0</c:v>
                </c:pt>
                <c:pt idx="24">
                  <c:v>11</c:v>
                </c:pt>
                <c:pt idx="25">
                  <c:v>4</c:v>
                </c:pt>
                <c:pt idx="26">
                  <c:v>64</c:v>
                </c:pt>
                <c:pt idx="27">
                  <c:v>0</c:v>
                </c:pt>
                <c:pt idx="28">
                  <c:v>5</c:v>
                </c:pt>
                <c:pt idx="29">
                  <c:v>6</c:v>
                </c:pt>
                <c:pt idx="30">
                  <c:v>22</c:v>
                </c:pt>
                <c:pt idx="31">
                  <c:v>3</c:v>
                </c:pt>
                <c:pt idx="32">
                  <c:v>0</c:v>
                </c:pt>
                <c:pt idx="33">
                  <c:v>2</c:v>
                </c:pt>
                <c:pt idx="34">
                  <c:v>5</c:v>
                </c:pt>
                <c:pt idx="35">
                  <c:v>0</c:v>
                </c:pt>
                <c:pt idx="36">
                  <c:v>0</c:v>
                </c:pt>
              </c:numCache>
            </c:numRef>
          </c:val>
          <c:extLst>
            <c:ext xmlns:c16="http://schemas.microsoft.com/office/drawing/2014/chart" uri="{C3380CC4-5D6E-409C-BE32-E72D297353CC}">
              <c16:uniqueId val="{00000003-6CE4-4989-9157-D960CA06A567}"/>
            </c:ext>
          </c:extLst>
        </c:ser>
        <c:ser>
          <c:idx val="4"/>
          <c:order val="4"/>
          <c:tx>
            <c:strRef>
              <c:f>'Leading Causes of Crashes Acros'!$G$16</c:f>
              <c:strCache>
                <c:ptCount val="1"/>
                <c:pt idx="0">
                  <c:v> DAD</c:v>
                </c:pt>
              </c:strCache>
            </c:strRef>
          </c:tx>
          <c:spPr>
            <a:solidFill>
              <a:schemeClr val="dk1">
                <a:tint val="30000"/>
              </a:schemeClr>
            </a:solidFill>
            <a:ln>
              <a:noFill/>
            </a:ln>
            <a:effectLst/>
          </c:spPr>
          <c:invertIfNegative val="0"/>
          <c:cat>
            <c:strRef>
              <c:f>'Leading Causes of Crashes Acros'!$B$17:$B$55</c:f>
              <c:strCache>
                <c:ptCount val="38"/>
                <c:pt idx="0">
                  <c:v>Abia</c:v>
                </c:pt>
                <c:pt idx="1">
                  <c:v>Adamawa</c:v>
                </c:pt>
                <c:pt idx="2">
                  <c:v>Akwa Ibom</c:v>
                </c:pt>
                <c:pt idx="3">
                  <c:v>Anambra</c:v>
                </c:pt>
                <c:pt idx="4">
                  <c:v>Bauchi</c:v>
                </c:pt>
                <c:pt idx="5">
                  <c:v>Bayelsa</c:v>
                </c:pt>
                <c:pt idx="6">
                  <c:v>Benue</c:v>
                </c:pt>
                <c:pt idx="7">
                  <c:v>Borno</c:v>
                </c:pt>
                <c:pt idx="8">
                  <c:v>Cross River</c:v>
                </c:pt>
                <c:pt idx="9">
                  <c:v>Delta</c:v>
                </c:pt>
                <c:pt idx="10">
                  <c:v>Ebonyi</c:v>
                </c:pt>
                <c:pt idx="11">
                  <c:v>Edo</c:v>
                </c:pt>
                <c:pt idx="12">
                  <c:v>Ekiti</c:v>
                </c:pt>
                <c:pt idx="13">
                  <c:v>Enugu</c:v>
                </c:pt>
                <c:pt idx="14">
                  <c:v>FCT</c:v>
                </c:pt>
                <c:pt idx="15">
                  <c:v>Gombe</c:v>
                </c:pt>
                <c:pt idx="16">
                  <c:v>Imo</c:v>
                </c:pt>
                <c:pt idx="17">
                  <c:v>Jigawa</c:v>
                </c:pt>
                <c:pt idx="18">
                  <c:v>Kaduna</c:v>
                </c:pt>
                <c:pt idx="19">
                  <c:v>Kano</c:v>
                </c:pt>
                <c:pt idx="20">
                  <c:v>Katsina</c:v>
                </c:pt>
                <c:pt idx="21">
                  <c:v>Kebbi</c:v>
                </c:pt>
                <c:pt idx="22">
                  <c:v>Kogi</c:v>
                </c:pt>
                <c:pt idx="23">
                  <c:v>Kwara</c:v>
                </c:pt>
                <c:pt idx="24">
                  <c:v>Lagos</c:v>
                </c:pt>
                <c:pt idx="25">
                  <c:v>Nasarawa</c:v>
                </c:pt>
                <c:pt idx="26">
                  <c:v>Niger</c:v>
                </c:pt>
                <c:pt idx="27">
                  <c:v>Ogun</c:v>
                </c:pt>
                <c:pt idx="28">
                  <c:v>Ondo</c:v>
                </c:pt>
                <c:pt idx="29">
                  <c:v>Osun</c:v>
                </c:pt>
                <c:pt idx="30">
                  <c:v>Oyo</c:v>
                </c:pt>
                <c:pt idx="31">
                  <c:v>Plateau</c:v>
                </c:pt>
                <c:pt idx="32">
                  <c:v>Rivers</c:v>
                </c:pt>
                <c:pt idx="33">
                  <c:v>Sokoto</c:v>
                </c:pt>
                <c:pt idx="34">
                  <c:v>Taraba</c:v>
                </c:pt>
                <c:pt idx="35">
                  <c:v>Yobe</c:v>
                </c:pt>
                <c:pt idx="36">
                  <c:v>Zamfara</c:v>
                </c:pt>
                <c:pt idx="37">
                  <c:v>(blank)</c:v>
                </c:pt>
              </c:strCache>
            </c:strRef>
          </c:cat>
          <c:val>
            <c:numRef>
              <c:f>'Leading Causes of Crashes Acros'!$G$17:$G$55</c:f>
              <c:numCache>
                <c:formatCode>General</c:formatCode>
                <c:ptCount val="38"/>
                <c:pt idx="0">
                  <c:v>1</c:v>
                </c:pt>
                <c:pt idx="1">
                  <c:v>0</c:v>
                </c:pt>
                <c:pt idx="2">
                  <c:v>0</c:v>
                </c:pt>
                <c:pt idx="3">
                  <c:v>1</c:v>
                </c:pt>
                <c:pt idx="4">
                  <c:v>1</c:v>
                </c:pt>
                <c:pt idx="5">
                  <c:v>0</c:v>
                </c:pt>
                <c:pt idx="6">
                  <c:v>3</c:v>
                </c:pt>
                <c:pt idx="7">
                  <c:v>0</c:v>
                </c:pt>
                <c:pt idx="8">
                  <c:v>0</c:v>
                </c:pt>
                <c:pt idx="9">
                  <c:v>1</c:v>
                </c:pt>
                <c:pt idx="10">
                  <c:v>1</c:v>
                </c:pt>
                <c:pt idx="11">
                  <c:v>1</c:v>
                </c:pt>
                <c:pt idx="12">
                  <c:v>7</c:v>
                </c:pt>
                <c:pt idx="13">
                  <c:v>1</c:v>
                </c:pt>
                <c:pt idx="14">
                  <c:v>7</c:v>
                </c:pt>
                <c:pt idx="15">
                  <c:v>0</c:v>
                </c:pt>
                <c:pt idx="16">
                  <c:v>3</c:v>
                </c:pt>
                <c:pt idx="17">
                  <c:v>3</c:v>
                </c:pt>
                <c:pt idx="18">
                  <c:v>3</c:v>
                </c:pt>
                <c:pt idx="19">
                  <c:v>0</c:v>
                </c:pt>
                <c:pt idx="20">
                  <c:v>0</c:v>
                </c:pt>
                <c:pt idx="21">
                  <c:v>1</c:v>
                </c:pt>
                <c:pt idx="22">
                  <c:v>3</c:v>
                </c:pt>
                <c:pt idx="23">
                  <c:v>3</c:v>
                </c:pt>
                <c:pt idx="24">
                  <c:v>9</c:v>
                </c:pt>
                <c:pt idx="25">
                  <c:v>9</c:v>
                </c:pt>
                <c:pt idx="26">
                  <c:v>4</c:v>
                </c:pt>
                <c:pt idx="27">
                  <c:v>3</c:v>
                </c:pt>
                <c:pt idx="28">
                  <c:v>2</c:v>
                </c:pt>
                <c:pt idx="29">
                  <c:v>0</c:v>
                </c:pt>
                <c:pt idx="30">
                  <c:v>0</c:v>
                </c:pt>
                <c:pt idx="31">
                  <c:v>3</c:v>
                </c:pt>
                <c:pt idx="32">
                  <c:v>1</c:v>
                </c:pt>
                <c:pt idx="33">
                  <c:v>2</c:v>
                </c:pt>
                <c:pt idx="34">
                  <c:v>0</c:v>
                </c:pt>
                <c:pt idx="35">
                  <c:v>0</c:v>
                </c:pt>
                <c:pt idx="36">
                  <c:v>0</c:v>
                </c:pt>
              </c:numCache>
            </c:numRef>
          </c:val>
          <c:extLst>
            <c:ext xmlns:c16="http://schemas.microsoft.com/office/drawing/2014/chart" uri="{C3380CC4-5D6E-409C-BE32-E72D297353CC}">
              <c16:uniqueId val="{00000004-6CE4-4989-9157-D960CA06A567}"/>
            </c:ext>
          </c:extLst>
        </c:ser>
        <c:dLbls>
          <c:showLegendKey val="0"/>
          <c:showVal val="0"/>
          <c:showCatName val="0"/>
          <c:showSerName val="0"/>
          <c:showPercent val="0"/>
          <c:showBubbleSize val="0"/>
        </c:dLbls>
        <c:gapWidth val="150"/>
        <c:overlap val="100"/>
        <c:axId val="584938064"/>
        <c:axId val="584930864"/>
      </c:barChart>
      <c:catAx>
        <c:axId val="5849380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4930864"/>
        <c:crosses val="autoZero"/>
        <c:auto val="1"/>
        <c:lblAlgn val="ctr"/>
        <c:lblOffset val="100"/>
        <c:noMultiLvlLbl val="0"/>
      </c:catAx>
      <c:valAx>
        <c:axId val="58493086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493806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[Nigerian_Road_Traffic_Crashes_2020_2024.xlsx]Crashes by Region and Season!PivotTable4</c:name>
    <c:fmtId val="1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t>Weather-Related Crashes by Region</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'Crashes by Region and Season'!$C$3</c:f>
              <c:strCache>
                <c:ptCount val="1"/>
                <c:pt idx="0">
                  <c:v>Total</c:v>
                </c:pt>
              </c:strCache>
            </c:strRef>
          </c:tx>
          <c:spPr>
            <a:solidFill>
              <a:schemeClr val="dk1">
                <a:tint val="88500"/>
              </a:schemeClr>
            </a:solidFill>
            <a:ln>
              <a:noFill/>
            </a:ln>
            <a:effectLst/>
          </c:spPr>
          <c:invertIfNegative val="0"/>
          <c:cat>
            <c:strRef>
              <c:f>'Crashes by Region and Season'!$B$4:$B$41</c:f>
              <c:strCache>
                <c:ptCount val="37"/>
                <c:pt idx="0">
                  <c:v>Abia</c:v>
                </c:pt>
                <c:pt idx="1">
                  <c:v>Adamawa</c:v>
                </c:pt>
                <c:pt idx="2">
                  <c:v>Akwa Ibom</c:v>
                </c:pt>
                <c:pt idx="3">
                  <c:v>Anambra</c:v>
                </c:pt>
                <c:pt idx="4">
                  <c:v>Bauchi</c:v>
                </c:pt>
                <c:pt idx="5">
                  <c:v>Bayelsa</c:v>
                </c:pt>
                <c:pt idx="6">
                  <c:v>Benue</c:v>
                </c:pt>
                <c:pt idx="7">
                  <c:v>Borno</c:v>
                </c:pt>
                <c:pt idx="8">
                  <c:v>Cross River</c:v>
                </c:pt>
                <c:pt idx="9">
                  <c:v>Delta</c:v>
                </c:pt>
                <c:pt idx="10">
                  <c:v>Ebonyi</c:v>
                </c:pt>
                <c:pt idx="11">
                  <c:v>Edo</c:v>
                </c:pt>
                <c:pt idx="12">
                  <c:v>Ekiti</c:v>
                </c:pt>
                <c:pt idx="13">
                  <c:v>Enugu</c:v>
                </c:pt>
                <c:pt idx="14">
                  <c:v>FCT</c:v>
                </c:pt>
                <c:pt idx="15">
                  <c:v>Gombe</c:v>
                </c:pt>
                <c:pt idx="16">
                  <c:v>Imo</c:v>
                </c:pt>
                <c:pt idx="17">
                  <c:v>Jigawa</c:v>
                </c:pt>
                <c:pt idx="18">
                  <c:v>Kaduna</c:v>
                </c:pt>
                <c:pt idx="19">
                  <c:v>Kano</c:v>
                </c:pt>
                <c:pt idx="20">
                  <c:v>Katsina</c:v>
                </c:pt>
                <c:pt idx="21">
                  <c:v>Kebbi</c:v>
                </c:pt>
                <c:pt idx="22">
                  <c:v>Kogi</c:v>
                </c:pt>
                <c:pt idx="23">
                  <c:v>Kwara</c:v>
                </c:pt>
                <c:pt idx="24">
                  <c:v>Lagos</c:v>
                </c:pt>
                <c:pt idx="25">
                  <c:v>Nasarawa</c:v>
                </c:pt>
                <c:pt idx="26">
                  <c:v>Niger</c:v>
                </c:pt>
                <c:pt idx="27">
                  <c:v>Ogun</c:v>
                </c:pt>
                <c:pt idx="28">
                  <c:v>Ondo</c:v>
                </c:pt>
                <c:pt idx="29">
                  <c:v>Osun</c:v>
                </c:pt>
                <c:pt idx="30">
                  <c:v>Oyo</c:v>
                </c:pt>
                <c:pt idx="31">
                  <c:v>Plateau</c:v>
                </c:pt>
                <c:pt idx="32">
                  <c:v>Rivers</c:v>
                </c:pt>
                <c:pt idx="33">
                  <c:v>Sokoto</c:v>
                </c:pt>
                <c:pt idx="34">
                  <c:v>Taraba</c:v>
                </c:pt>
                <c:pt idx="35">
                  <c:v>Yobe</c:v>
                </c:pt>
                <c:pt idx="36">
                  <c:v>Zamfara</c:v>
                </c:pt>
              </c:strCache>
            </c:strRef>
          </c:cat>
          <c:val>
            <c:numRef>
              <c:f>'Crashes by Region and Season'!$C$4:$C$41</c:f>
              <c:numCache>
                <c:formatCode>General</c:formatCode>
                <c:ptCount val="37"/>
                <c:pt idx="0">
                  <c:v>2</c:v>
                </c:pt>
                <c:pt idx="1">
                  <c:v>0</c:v>
                </c:pt>
                <c:pt idx="2">
                  <c:v>1</c:v>
                </c:pt>
                <c:pt idx="3">
                  <c:v>2</c:v>
                </c:pt>
                <c:pt idx="4">
                  <c:v>2</c:v>
                </c:pt>
                <c:pt idx="5">
                  <c:v>2</c:v>
                </c:pt>
                <c:pt idx="6">
                  <c:v>0</c:v>
                </c:pt>
                <c:pt idx="7">
                  <c:v>0</c:v>
                </c:pt>
                <c:pt idx="8">
                  <c:v>1</c:v>
                </c:pt>
                <c:pt idx="9">
                  <c:v>4</c:v>
                </c:pt>
                <c:pt idx="10">
                  <c:v>0</c:v>
                </c:pt>
                <c:pt idx="11">
                  <c:v>1</c:v>
                </c:pt>
                <c:pt idx="12">
                  <c:v>0</c:v>
                </c:pt>
                <c:pt idx="13">
                  <c:v>0</c:v>
                </c:pt>
                <c:pt idx="14">
                  <c:v>12</c:v>
                </c:pt>
                <c:pt idx="15">
                  <c:v>0</c:v>
                </c:pt>
                <c:pt idx="16">
                  <c:v>1</c:v>
                </c:pt>
                <c:pt idx="17">
                  <c:v>3</c:v>
                </c:pt>
                <c:pt idx="18">
                  <c:v>19</c:v>
                </c:pt>
                <c:pt idx="19">
                  <c:v>1</c:v>
                </c:pt>
                <c:pt idx="20">
                  <c:v>1</c:v>
                </c:pt>
                <c:pt idx="21">
                  <c:v>1</c:v>
                </c:pt>
                <c:pt idx="22">
                  <c:v>9</c:v>
                </c:pt>
                <c:pt idx="23">
                  <c:v>0</c:v>
                </c:pt>
                <c:pt idx="24">
                  <c:v>11</c:v>
                </c:pt>
                <c:pt idx="25">
                  <c:v>4</c:v>
                </c:pt>
                <c:pt idx="26">
                  <c:v>64</c:v>
                </c:pt>
                <c:pt idx="27">
                  <c:v>0</c:v>
                </c:pt>
                <c:pt idx="28">
                  <c:v>5</c:v>
                </c:pt>
                <c:pt idx="29">
                  <c:v>6</c:v>
                </c:pt>
                <c:pt idx="30">
                  <c:v>22</c:v>
                </c:pt>
                <c:pt idx="31">
                  <c:v>3</c:v>
                </c:pt>
                <c:pt idx="32">
                  <c:v>0</c:v>
                </c:pt>
                <c:pt idx="33">
                  <c:v>2</c:v>
                </c:pt>
                <c:pt idx="34">
                  <c:v>5</c:v>
                </c:pt>
                <c:pt idx="35">
                  <c:v>0</c:v>
                </c:pt>
                <c:pt idx="36">
                  <c:v>0</c:v>
                </c:pt>
              </c:numCache>
            </c:numRef>
          </c:val>
          <c:extLst>
            <c:ext xmlns:c16="http://schemas.microsoft.com/office/drawing/2014/chart" uri="{C3380CC4-5D6E-409C-BE32-E72D297353CC}">
              <c16:uniqueId val="{00000000-350E-49AA-AC0B-798F90FE3556}"/>
            </c:ext>
          </c:extLst>
        </c:ser>
        <c:dLbls>
          <c:showLegendKey val="0"/>
          <c:showVal val="0"/>
          <c:showCatName val="0"/>
          <c:showSerName val="0"/>
          <c:showPercent val="0"/>
          <c:showBubbleSize val="0"/>
        </c:dLbls>
        <c:gapWidth val="182"/>
        <c:axId val="411718240"/>
        <c:axId val="411718600"/>
      </c:barChart>
      <c:catAx>
        <c:axId val="41171824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11718600"/>
        <c:crosses val="autoZero"/>
        <c:auto val="1"/>
        <c:lblAlgn val="ctr"/>
        <c:lblOffset val="100"/>
        <c:noMultiLvlLbl val="0"/>
      </c:catAx>
      <c:valAx>
        <c:axId val="4117186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11718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[Nigerian_Road_Traffic_Crashes_2020_2024.xlsx]Crashes by Region and Season!PivotTable5</c:name>
    <c:fmtId val="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PWR by Quarter</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'Crashes by Region and Season'!$F$3</c:f>
              <c:strCache>
                <c:ptCount val="1"/>
                <c:pt idx="0">
                  <c:v>Total</c:v>
                </c:pt>
              </c:strCache>
            </c:strRef>
          </c:tx>
          <c:spPr>
            <a:ln w="28575" cap="rnd">
              <a:solidFill>
                <a:schemeClr val="dk1">
                  <a:tint val="88500"/>
                </a:schemeClr>
              </a:solidFill>
              <a:round/>
            </a:ln>
            <a:effectLst/>
          </c:spPr>
          <c:marker>
            <c:symbol val="none"/>
          </c:marker>
          <c:cat>
            <c:strRef>
              <c:f>'Crashes by Region and Season'!$E$4:$E$18</c:f>
              <c:strCache>
                <c:ptCount val="14"/>
                <c:pt idx="0">
                  <c:v>Q1 2021</c:v>
                </c:pt>
                <c:pt idx="1">
                  <c:v>Q1 2022</c:v>
                </c:pt>
                <c:pt idx="2">
                  <c:v>Q1 2023</c:v>
                </c:pt>
                <c:pt idx="3">
                  <c:v>Q1 2024</c:v>
                </c:pt>
                <c:pt idx="4">
                  <c:v>Q2 2021</c:v>
                </c:pt>
                <c:pt idx="5">
                  <c:v>Q2 2022</c:v>
                </c:pt>
                <c:pt idx="6">
                  <c:v>Q2 2023</c:v>
                </c:pt>
                <c:pt idx="7">
                  <c:v>Q3 2021</c:v>
                </c:pt>
                <c:pt idx="8">
                  <c:v>Q3 2022</c:v>
                </c:pt>
                <c:pt idx="9">
                  <c:v>Q3 2023</c:v>
                </c:pt>
                <c:pt idx="10">
                  <c:v>Q4 2020</c:v>
                </c:pt>
                <c:pt idx="11">
                  <c:v>Q4 2021</c:v>
                </c:pt>
                <c:pt idx="12">
                  <c:v>Q4 2022</c:v>
                </c:pt>
                <c:pt idx="13">
                  <c:v>Q4 2023</c:v>
                </c:pt>
              </c:strCache>
            </c:strRef>
          </c:cat>
          <c:val>
            <c:numRef>
              <c:f>'Crashes by Region and Season'!$F$4:$F$18</c:f>
              <c:numCache>
                <c:formatCode>General</c:formatCode>
                <c:ptCount val="14"/>
                <c:pt idx="0">
                  <c:v>3</c:v>
                </c:pt>
                <c:pt idx="1">
                  <c:v>42</c:v>
                </c:pt>
                <c:pt idx="2">
                  <c:v>3</c:v>
                </c:pt>
                <c:pt idx="3">
                  <c:v>3</c:v>
                </c:pt>
                <c:pt idx="4">
                  <c:v>0</c:v>
                </c:pt>
                <c:pt idx="5">
                  <c:v>22</c:v>
                </c:pt>
                <c:pt idx="6">
                  <c:v>5</c:v>
                </c:pt>
                <c:pt idx="7">
                  <c:v>38</c:v>
                </c:pt>
                <c:pt idx="8">
                  <c:v>31</c:v>
                </c:pt>
                <c:pt idx="9">
                  <c:v>4</c:v>
                </c:pt>
                <c:pt idx="10">
                  <c:v>0</c:v>
                </c:pt>
                <c:pt idx="11">
                  <c:v>22</c:v>
                </c:pt>
                <c:pt idx="12">
                  <c:v>2</c:v>
                </c:pt>
                <c:pt idx="13">
                  <c:v>9</c:v>
                </c:pt>
              </c:numCache>
            </c:numRef>
          </c:val>
          <c:smooth val="0"/>
          <c:extLst>
            <c:ext xmlns:c16="http://schemas.microsoft.com/office/drawing/2014/chart" uri="{C3380CC4-5D6E-409C-BE32-E72D297353CC}">
              <c16:uniqueId val="{00000000-874A-4444-9B91-D9E95974628A}"/>
            </c:ext>
          </c:extLst>
        </c:ser>
        <c:dLbls>
          <c:showLegendKey val="0"/>
          <c:showVal val="0"/>
          <c:showCatName val="0"/>
          <c:showSerName val="0"/>
          <c:showPercent val="0"/>
          <c:showBubbleSize val="0"/>
        </c:dLbls>
        <c:smooth val="0"/>
        <c:axId val="585720088"/>
        <c:axId val="585720808"/>
      </c:lineChart>
      <c:catAx>
        <c:axId val="585720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5720808"/>
        <c:crosses val="autoZero"/>
        <c:auto val="1"/>
        <c:lblAlgn val="ctr"/>
        <c:lblOffset val="100"/>
        <c:noMultiLvlLbl val="0"/>
      </c:catAx>
      <c:valAx>
        <c:axId val="585720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57200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[Nigerian_Road_Traffic_Crashes_2020_2024.xlsx]Crash Rates by State and Quarte!PivotTable3</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Quarterly Trend in Road Traffic Crashes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'Crash Rates by State and Quarte'!$F$3</c:f>
              <c:strCache>
                <c:ptCount val="1"/>
                <c:pt idx="0">
                  <c:v>Total</c:v>
                </c:pt>
              </c:strCache>
            </c:strRef>
          </c:tx>
          <c:spPr>
            <a:ln w="28575" cap="rnd">
              <a:solidFill>
                <a:schemeClr val="dk1">
                  <a:tint val="88500"/>
                </a:schemeClr>
              </a:solidFill>
              <a:round/>
            </a:ln>
            <a:effectLst/>
          </c:spPr>
          <c:marker>
            <c:symbol val="none"/>
          </c:marker>
          <c:cat>
            <c:strRef>
              <c:f>'Crash Rates by State and Quarte'!$E$4:$E$18</c:f>
              <c:strCache>
                <c:ptCount val="14"/>
                <c:pt idx="0">
                  <c:v>Q1 2021</c:v>
                </c:pt>
                <c:pt idx="1">
                  <c:v>Q1 2022</c:v>
                </c:pt>
                <c:pt idx="2">
                  <c:v>Q1 2023</c:v>
                </c:pt>
                <c:pt idx="3">
                  <c:v>Q1 2024</c:v>
                </c:pt>
                <c:pt idx="4">
                  <c:v>Q2 2021</c:v>
                </c:pt>
                <c:pt idx="5">
                  <c:v>Q2 2022</c:v>
                </c:pt>
                <c:pt idx="6">
                  <c:v>Q2 2023</c:v>
                </c:pt>
                <c:pt idx="7">
                  <c:v>Q3 2021</c:v>
                </c:pt>
                <c:pt idx="8">
                  <c:v>Q3 2022</c:v>
                </c:pt>
                <c:pt idx="9">
                  <c:v>Q3 2023</c:v>
                </c:pt>
                <c:pt idx="10">
                  <c:v>Q4 2020</c:v>
                </c:pt>
                <c:pt idx="11">
                  <c:v>Q4 2021</c:v>
                </c:pt>
                <c:pt idx="12">
                  <c:v>Q4 2022</c:v>
                </c:pt>
                <c:pt idx="13">
                  <c:v>Q4 2023</c:v>
                </c:pt>
              </c:strCache>
            </c:strRef>
          </c:cat>
          <c:val>
            <c:numRef>
              <c:f>'Crash Rates by State and Quarte'!$F$4:$F$18</c:f>
              <c:numCache>
                <c:formatCode>General</c:formatCode>
                <c:ptCount val="14"/>
                <c:pt idx="0">
                  <c:v>3301</c:v>
                </c:pt>
                <c:pt idx="1">
                  <c:v>3345</c:v>
                </c:pt>
                <c:pt idx="2">
                  <c:v>2733</c:v>
                </c:pt>
                <c:pt idx="3">
                  <c:v>2662</c:v>
                </c:pt>
                <c:pt idx="4">
                  <c:v>3185</c:v>
                </c:pt>
                <c:pt idx="5">
                  <c:v>3282</c:v>
                </c:pt>
                <c:pt idx="6">
                  <c:v>2967</c:v>
                </c:pt>
                <c:pt idx="7">
                  <c:v>3134</c:v>
                </c:pt>
                <c:pt idx="8">
                  <c:v>3412</c:v>
                </c:pt>
                <c:pt idx="9">
                  <c:v>2187</c:v>
                </c:pt>
                <c:pt idx="10">
                  <c:v>3313</c:v>
                </c:pt>
                <c:pt idx="11">
                  <c:v>3407</c:v>
                </c:pt>
                <c:pt idx="12">
                  <c:v>3617</c:v>
                </c:pt>
                <c:pt idx="13">
                  <c:v>2717</c:v>
                </c:pt>
              </c:numCache>
            </c:numRef>
          </c:val>
          <c:smooth val="0"/>
          <c:extLst>
            <c:ext xmlns:c16="http://schemas.microsoft.com/office/drawing/2014/chart" uri="{C3380CC4-5D6E-409C-BE32-E72D297353CC}">
              <c16:uniqueId val="{00000000-E98E-4A58-A401-EBD28C0ACF69}"/>
            </c:ext>
          </c:extLst>
        </c:ser>
        <c:dLbls>
          <c:showLegendKey val="0"/>
          <c:showVal val="0"/>
          <c:showCatName val="0"/>
          <c:showSerName val="0"/>
          <c:showPercent val="0"/>
          <c:showBubbleSize val="0"/>
        </c:dLbls>
        <c:smooth val="0"/>
        <c:axId val="576995256"/>
        <c:axId val="576992016"/>
      </c:lineChart>
      <c:catAx>
        <c:axId val="576995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6992016"/>
        <c:crosses val="autoZero"/>
        <c:auto val="1"/>
        <c:lblAlgn val="ctr"/>
        <c:lblOffset val="100"/>
        <c:noMultiLvlLbl val="0"/>
      </c:catAx>
      <c:valAx>
        <c:axId val="5769920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69952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[Nigerian_Road_Traffic_Crashes_2020_2024.xlsx]Vehicles Involved and Crash Out!PivotTable1</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Distribution of Injuries, Fatalities and Total Crashes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'Vehicles Involved and Crash Out'!$C$3</c:f>
              <c:strCache>
                <c:ptCount val="1"/>
                <c:pt idx="0">
                  <c:v> Num_Injured</c:v>
                </c:pt>
              </c:strCache>
            </c:strRef>
          </c:tx>
          <c:spPr>
            <a:solidFill>
              <a:schemeClr val="dk1">
                <a:tint val="88500"/>
              </a:schemeClr>
            </a:solidFill>
            <a:ln>
              <a:noFill/>
            </a:ln>
            <a:effectLst/>
          </c:spPr>
          <c:invertIfNegative val="0"/>
          <c:cat>
            <c:strRef>
              <c:f>'Vehicles Involved and Crash Out'!$B$4:$B$12</c:f>
              <c:strCache>
                <c:ptCount val="8"/>
                <c:pt idx="0">
                  <c:v>0-99</c:v>
                </c:pt>
                <c:pt idx="1">
                  <c:v>100-199</c:v>
                </c:pt>
                <c:pt idx="2">
                  <c:v>200-299</c:v>
                </c:pt>
                <c:pt idx="3">
                  <c:v>300-399</c:v>
                </c:pt>
                <c:pt idx="4">
                  <c:v>400-499</c:v>
                </c:pt>
                <c:pt idx="5">
                  <c:v>500-599</c:v>
                </c:pt>
                <c:pt idx="6">
                  <c:v>600-699</c:v>
                </c:pt>
                <c:pt idx="7">
                  <c:v>800-899</c:v>
                </c:pt>
              </c:strCache>
            </c:strRef>
          </c:cat>
          <c:val>
            <c:numRef>
              <c:f>'Vehicles Involved and Crash Out'!$C$4:$C$12</c:f>
              <c:numCache>
                <c:formatCode>General</c:formatCode>
                <c:ptCount val="8"/>
                <c:pt idx="0">
                  <c:v>44916</c:v>
                </c:pt>
                <c:pt idx="1">
                  <c:v>45613</c:v>
                </c:pt>
                <c:pt idx="2">
                  <c:v>16698</c:v>
                </c:pt>
                <c:pt idx="3">
                  <c:v>11484</c:v>
                </c:pt>
                <c:pt idx="4">
                  <c:v>4159</c:v>
                </c:pt>
                <c:pt idx="5">
                  <c:v>1881</c:v>
                </c:pt>
                <c:pt idx="6">
                  <c:v>667</c:v>
                </c:pt>
                <c:pt idx="7">
                  <c:v>1819</c:v>
                </c:pt>
              </c:numCache>
            </c:numRef>
          </c:val>
          <c:extLst>
            <c:ext xmlns:c16="http://schemas.microsoft.com/office/drawing/2014/chart" uri="{C3380CC4-5D6E-409C-BE32-E72D297353CC}">
              <c16:uniqueId val="{00000000-C510-43EE-A8CA-46EA366C3F71}"/>
            </c:ext>
          </c:extLst>
        </c:ser>
        <c:ser>
          <c:idx val="1"/>
          <c:order val="1"/>
          <c:tx>
            <c:strRef>
              <c:f>'Vehicles Involved and Crash Out'!$D$3</c:f>
              <c:strCache>
                <c:ptCount val="1"/>
                <c:pt idx="0">
                  <c:v> Total_Crashes</c:v>
                </c:pt>
              </c:strCache>
            </c:strRef>
          </c:tx>
          <c:spPr>
            <a:solidFill>
              <a:schemeClr val="dk1">
                <a:tint val="55000"/>
              </a:schemeClr>
            </a:solidFill>
            <a:ln>
              <a:noFill/>
            </a:ln>
            <a:effectLst/>
          </c:spPr>
          <c:invertIfNegative val="0"/>
          <c:cat>
            <c:strRef>
              <c:f>'Vehicles Involved and Crash Out'!$B$4:$B$12</c:f>
              <c:strCache>
                <c:ptCount val="8"/>
                <c:pt idx="0">
                  <c:v>0-99</c:v>
                </c:pt>
                <c:pt idx="1">
                  <c:v>100-199</c:v>
                </c:pt>
                <c:pt idx="2">
                  <c:v>200-299</c:v>
                </c:pt>
                <c:pt idx="3">
                  <c:v>300-399</c:v>
                </c:pt>
                <c:pt idx="4">
                  <c:v>400-499</c:v>
                </c:pt>
                <c:pt idx="5">
                  <c:v>500-599</c:v>
                </c:pt>
                <c:pt idx="6">
                  <c:v>600-699</c:v>
                </c:pt>
                <c:pt idx="7">
                  <c:v>800-899</c:v>
                </c:pt>
              </c:strCache>
            </c:strRef>
          </c:cat>
          <c:val>
            <c:numRef>
              <c:f>'Vehicles Involved and Crash Out'!$D$4:$D$12</c:f>
              <c:numCache>
                <c:formatCode>General</c:formatCode>
                <c:ptCount val="8"/>
                <c:pt idx="0">
                  <c:v>14342</c:v>
                </c:pt>
                <c:pt idx="1">
                  <c:v>14460</c:v>
                </c:pt>
                <c:pt idx="2">
                  <c:v>5421</c:v>
                </c:pt>
                <c:pt idx="3">
                  <c:v>4600</c:v>
                </c:pt>
                <c:pt idx="4">
                  <c:v>2085</c:v>
                </c:pt>
                <c:pt idx="5">
                  <c:v>952</c:v>
                </c:pt>
                <c:pt idx="6">
                  <c:v>382</c:v>
                </c:pt>
                <c:pt idx="7">
                  <c:v>1020</c:v>
                </c:pt>
              </c:numCache>
            </c:numRef>
          </c:val>
          <c:extLst>
            <c:ext xmlns:c16="http://schemas.microsoft.com/office/drawing/2014/chart" uri="{C3380CC4-5D6E-409C-BE32-E72D297353CC}">
              <c16:uniqueId val="{00000001-C510-43EE-A8CA-46EA366C3F71}"/>
            </c:ext>
          </c:extLst>
        </c:ser>
        <c:ser>
          <c:idx val="2"/>
          <c:order val="2"/>
          <c:tx>
            <c:strRef>
              <c:f>'Vehicles Involved and Crash Out'!$E$3</c:f>
              <c:strCache>
                <c:ptCount val="1"/>
                <c:pt idx="0">
                  <c:v> Num_Killed</c:v>
                </c:pt>
              </c:strCache>
            </c:strRef>
          </c:tx>
          <c:spPr>
            <a:solidFill>
              <a:schemeClr val="dk1">
                <a:tint val="75000"/>
              </a:schemeClr>
            </a:solidFill>
            <a:ln>
              <a:noFill/>
            </a:ln>
            <a:effectLst/>
          </c:spPr>
          <c:invertIfNegative val="0"/>
          <c:cat>
            <c:strRef>
              <c:f>'Vehicles Involved and Crash Out'!$B$4:$B$12</c:f>
              <c:strCache>
                <c:ptCount val="8"/>
                <c:pt idx="0">
                  <c:v>0-99</c:v>
                </c:pt>
                <c:pt idx="1">
                  <c:v>100-199</c:v>
                </c:pt>
                <c:pt idx="2">
                  <c:v>200-299</c:v>
                </c:pt>
                <c:pt idx="3">
                  <c:v>300-399</c:v>
                </c:pt>
                <c:pt idx="4">
                  <c:v>400-499</c:v>
                </c:pt>
                <c:pt idx="5">
                  <c:v>500-599</c:v>
                </c:pt>
                <c:pt idx="6">
                  <c:v>600-699</c:v>
                </c:pt>
                <c:pt idx="7">
                  <c:v>800-899</c:v>
                </c:pt>
              </c:strCache>
            </c:strRef>
          </c:cat>
          <c:val>
            <c:numRef>
              <c:f>'Vehicles Involved and Crash Out'!$E$4:$E$12</c:f>
              <c:numCache>
                <c:formatCode>General</c:formatCode>
                <c:ptCount val="8"/>
                <c:pt idx="0">
                  <c:v>7488</c:v>
                </c:pt>
                <c:pt idx="1">
                  <c:v>8146</c:v>
                </c:pt>
                <c:pt idx="2">
                  <c:v>2592</c:v>
                </c:pt>
                <c:pt idx="3">
                  <c:v>1692</c:v>
                </c:pt>
                <c:pt idx="4">
                  <c:v>531</c:v>
                </c:pt>
                <c:pt idx="5">
                  <c:v>244</c:v>
                </c:pt>
                <c:pt idx="6">
                  <c:v>100</c:v>
                </c:pt>
                <c:pt idx="7">
                  <c:v>238</c:v>
                </c:pt>
              </c:numCache>
            </c:numRef>
          </c:val>
          <c:extLst>
            <c:ext xmlns:c16="http://schemas.microsoft.com/office/drawing/2014/chart" uri="{C3380CC4-5D6E-409C-BE32-E72D297353CC}">
              <c16:uniqueId val="{00000002-C510-43EE-A8CA-46EA366C3F71}"/>
            </c:ext>
          </c:extLst>
        </c:ser>
        <c:dLbls>
          <c:showLegendKey val="0"/>
          <c:showVal val="0"/>
          <c:showCatName val="0"/>
          <c:showSerName val="0"/>
          <c:showPercent val="0"/>
          <c:showBubbleSize val="0"/>
        </c:dLbls>
        <c:gapWidth val="219"/>
        <c:overlap val="-27"/>
        <c:axId val="360791848"/>
        <c:axId val="360792208"/>
      </c:barChart>
      <c:catAx>
        <c:axId val="36079184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baseline="0"/>
                  <a:t>Number of Vehicles Involved</a:t>
                </a:r>
                <a:endParaRPr lang="en-US"/>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0792208"/>
        <c:crosses val="autoZero"/>
        <c:auto val="1"/>
        <c:lblAlgn val="ctr"/>
        <c:lblOffset val="100"/>
        <c:noMultiLvlLbl val="0"/>
      </c:catAx>
      <c:valAx>
        <c:axId val="3607922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07918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[Nigerian_Road_Traffic_Crashes_2020_2024.xlsx]Leading Causes of Crashes Acros!PivotTable2</c:name>
    <c:fmtId val="1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Leading Causes of Crashes (Top 10 States)</a:t>
            </a:r>
            <a:endParaRPr lang="en-US"/>
          </a:p>
        </c:rich>
      </c:tx>
      <c:layout>
        <c:manualLayout>
          <c:xMode val="edge"/>
          <c:yMode val="edge"/>
          <c:x val="0.14742795331581088"/>
          <c:y val="2.6990247382264788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strRef>
              <c:f>'Leading Causes of Crashes Acros'!$C$3</c:f>
              <c:strCache>
                <c:ptCount val="1"/>
                <c:pt idx="0">
                  <c:v> SPV</c:v>
                </c:pt>
              </c:strCache>
            </c:strRef>
          </c:tx>
          <c:spPr>
            <a:solidFill>
              <a:schemeClr val="dk1">
                <a:tint val="88500"/>
              </a:schemeClr>
            </a:solidFill>
            <a:ln>
              <a:noFill/>
            </a:ln>
            <a:effectLst/>
          </c:spPr>
          <c:invertIfNegative val="0"/>
          <c:cat>
            <c:strRef>
              <c:f>'Leading Causes of Crashes Acros'!$B$4:$B$14</c:f>
              <c:strCache>
                <c:ptCount val="10"/>
                <c:pt idx="0">
                  <c:v>FCT</c:v>
                </c:pt>
                <c:pt idx="1">
                  <c:v>Jigawa</c:v>
                </c:pt>
                <c:pt idx="2">
                  <c:v>Kaduna</c:v>
                </c:pt>
                <c:pt idx="3">
                  <c:v>Kogi</c:v>
                </c:pt>
                <c:pt idx="4">
                  <c:v>Lagos</c:v>
                </c:pt>
                <c:pt idx="5">
                  <c:v>Nasarawa</c:v>
                </c:pt>
                <c:pt idx="6">
                  <c:v>Niger</c:v>
                </c:pt>
                <c:pt idx="7">
                  <c:v>Ogun</c:v>
                </c:pt>
                <c:pt idx="8">
                  <c:v>Ondo</c:v>
                </c:pt>
                <c:pt idx="9">
                  <c:v>Oyo</c:v>
                </c:pt>
              </c:strCache>
            </c:strRef>
          </c:cat>
          <c:val>
            <c:numRef>
              <c:f>'Leading Causes of Crashes Acros'!$C$4:$C$14</c:f>
              <c:numCache>
                <c:formatCode>General</c:formatCode>
                <c:ptCount val="10"/>
                <c:pt idx="0">
                  <c:v>2101</c:v>
                </c:pt>
                <c:pt idx="1">
                  <c:v>1076</c:v>
                </c:pt>
                <c:pt idx="2">
                  <c:v>1238</c:v>
                </c:pt>
                <c:pt idx="3">
                  <c:v>687</c:v>
                </c:pt>
                <c:pt idx="4">
                  <c:v>645</c:v>
                </c:pt>
                <c:pt idx="5">
                  <c:v>1047</c:v>
                </c:pt>
                <c:pt idx="6">
                  <c:v>1012</c:v>
                </c:pt>
                <c:pt idx="7">
                  <c:v>2455</c:v>
                </c:pt>
                <c:pt idx="8">
                  <c:v>756</c:v>
                </c:pt>
                <c:pt idx="9">
                  <c:v>963</c:v>
                </c:pt>
              </c:numCache>
            </c:numRef>
          </c:val>
          <c:extLst>
            <c:ext xmlns:c16="http://schemas.microsoft.com/office/drawing/2014/chart" uri="{C3380CC4-5D6E-409C-BE32-E72D297353CC}">
              <c16:uniqueId val="{00000000-60DC-4ADE-AE9A-257F5A7E3F97}"/>
            </c:ext>
          </c:extLst>
        </c:ser>
        <c:ser>
          <c:idx val="1"/>
          <c:order val="1"/>
          <c:tx>
            <c:strRef>
              <c:f>'Leading Causes of Crashes Acros'!$D$3</c:f>
              <c:strCache>
                <c:ptCount val="1"/>
                <c:pt idx="0">
                  <c:v> Other_Factors</c:v>
                </c:pt>
              </c:strCache>
            </c:strRef>
          </c:tx>
          <c:spPr>
            <a:solidFill>
              <a:schemeClr val="dk1">
                <a:tint val="55000"/>
              </a:schemeClr>
            </a:solidFill>
            <a:ln>
              <a:noFill/>
            </a:ln>
            <a:effectLst/>
          </c:spPr>
          <c:invertIfNegative val="0"/>
          <c:cat>
            <c:strRef>
              <c:f>'Leading Causes of Crashes Acros'!$B$4:$B$14</c:f>
              <c:strCache>
                <c:ptCount val="10"/>
                <c:pt idx="0">
                  <c:v>FCT</c:v>
                </c:pt>
                <c:pt idx="1">
                  <c:v>Jigawa</c:v>
                </c:pt>
                <c:pt idx="2">
                  <c:v>Kaduna</c:v>
                </c:pt>
                <c:pt idx="3">
                  <c:v>Kogi</c:v>
                </c:pt>
                <c:pt idx="4">
                  <c:v>Lagos</c:v>
                </c:pt>
                <c:pt idx="5">
                  <c:v>Nasarawa</c:v>
                </c:pt>
                <c:pt idx="6">
                  <c:v>Niger</c:v>
                </c:pt>
                <c:pt idx="7">
                  <c:v>Ogun</c:v>
                </c:pt>
                <c:pt idx="8">
                  <c:v>Ondo</c:v>
                </c:pt>
                <c:pt idx="9">
                  <c:v>Oyo</c:v>
                </c:pt>
              </c:strCache>
            </c:strRef>
          </c:cat>
          <c:val>
            <c:numRef>
              <c:f>'Leading Causes of Crashes Acros'!$D$4:$D$14</c:f>
              <c:numCache>
                <c:formatCode>General</c:formatCode>
                <c:ptCount val="10"/>
                <c:pt idx="0">
                  <c:v>2790</c:v>
                </c:pt>
                <c:pt idx="1">
                  <c:v>570</c:v>
                </c:pt>
                <c:pt idx="2">
                  <c:v>1047</c:v>
                </c:pt>
                <c:pt idx="3">
                  <c:v>984</c:v>
                </c:pt>
                <c:pt idx="4">
                  <c:v>722</c:v>
                </c:pt>
                <c:pt idx="5">
                  <c:v>1767</c:v>
                </c:pt>
                <c:pt idx="6">
                  <c:v>545</c:v>
                </c:pt>
                <c:pt idx="7">
                  <c:v>1257</c:v>
                </c:pt>
                <c:pt idx="8">
                  <c:v>568</c:v>
                </c:pt>
                <c:pt idx="9">
                  <c:v>806</c:v>
                </c:pt>
              </c:numCache>
            </c:numRef>
          </c:val>
          <c:extLst>
            <c:ext xmlns:c16="http://schemas.microsoft.com/office/drawing/2014/chart" uri="{C3380CC4-5D6E-409C-BE32-E72D297353CC}">
              <c16:uniqueId val="{00000001-60DC-4ADE-AE9A-257F5A7E3F97}"/>
            </c:ext>
          </c:extLst>
        </c:ser>
        <c:ser>
          <c:idx val="2"/>
          <c:order val="2"/>
          <c:tx>
            <c:strRef>
              <c:f>'Leading Causes of Crashes Acros'!$E$3</c:f>
              <c:strCache>
                <c:ptCount val="1"/>
                <c:pt idx="0">
                  <c:v> FTQ</c:v>
                </c:pt>
              </c:strCache>
            </c:strRef>
          </c:tx>
          <c:spPr>
            <a:solidFill>
              <a:schemeClr val="dk1">
                <a:tint val="75000"/>
              </a:schemeClr>
            </a:solidFill>
            <a:ln>
              <a:noFill/>
            </a:ln>
            <a:effectLst/>
          </c:spPr>
          <c:invertIfNegative val="0"/>
          <c:cat>
            <c:strRef>
              <c:f>'Leading Causes of Crashes Acros'!$B$4:$B$14</c:f>
              <c:strCache>
                <c:ptCount val="10"/>
                <c:pt idx="0">
                  <c:v>FCT</c:v>
                </c:pt>
                <c:pt idx="1">
                  <c:v>Jigawa</c:v>
                </c:pt>
                <c:pt idx="2">
                  <c:v>Kaduna</c:v>
                </c:pt>
                <c:pt idx="3">
                  <c:v>Kogi</c:v>
                </c:pt>
                <c:pt idx="4">
                  <c:v>Lagos</c:v>
                </c:pt>
                <c:pt idx="5">
                  <c:v>Nasarawa</c:v>
                </c:pt>
                <c:pt idx="6">
                  <c:v>Niger</c:v>
                </c:pt>
                <c:pt idx="7">
                  <c:v>Ogun</c:v>
                </c:pt>
                <c:pt idx="8">
                  <c:v>Ondo</c:v>
                </c:pt>
                <c:pt idx="9">
                  <c:v>Oyo</c:v>
                </c:pt>
              </c:strCache>
            </c:strRef>
          </c:cat>
          <c:val>
            <c:numRef>
              <c:f>'Leading Causes of Crashes Acros'!$E$4:$E$14</c:f>
              <c:numCache>
                <c:formatCode>General</c:formatCode>
                <c:ptCount val="10"/>
                <c:pt idx="0">
                  <c:v>1636</c:v>
                </c:pt>
                <c:pt idx="1">
                  <c:v>706</c:v>
                </c:pt>
                <c:pt idx="2">
                  <c:v>623</c:v>
                </c:pt>
                <c:pt idx="3">
                  <c:v>542</c:v>
                </c:pt>
                <c:pt idx="4">
                  <c:v>419</c:v>
                </c:pt>
                <c:pt idx="5">
                  <c:v>664</c:v>
                </c:pt>
                <c:pt idx="6">
                  <c:v>740</c:v>
                </c:pt>
                <c:pt idx="7">
                  <c:v>1316</c:v>
                </c:pt>
                <c:pt idx="8">
                  <c:v>470</c:v>
                </c:pt>
                <c:pt idx="9">
                  <c:v>542</c:v>
                </c:pt>
              </c:numCache>
            </c:numRef>
          </c:val>
          <c:extLst>
            <c:ext xmlns:c16="http://schemas.microsoft.com/office/drawing/2014/chart" uri="{C3380CC4-5D6E-409C-BE32-E72D297353CC}">
              <c16:uniqueId val="{00000002-60DC-4ADE-AE9A-257F5A7E3F97}"/>
            </c:ext>
          </c:extLst>
        </c:ser>
        <c:ser>
          <c:idx val="3"/>
          <c:order val="3"/>
          <c:tx>
            <c:strRef>
              <c:f>'Leading Causes of Crashes Acros'!$F$3</c:f>
              <c:strCache>
                <c:ptCount val="1"/>
                <c:pt idx="0">
                  <c:v> PWR</c:v>
                </c:pt>
              </c:strCache>
            </c:strRef>
          </c:tx>
          <c:spPr>
            <a:solidFill>
              <a:schemeClr val="dk1">
                <a:tint val="98500"/>
              </a:schemeClr>
            </a:solidFill>
            <a:ln>
              <a:noFill/>
            </a:ln>
            <a:effectLst/>
          </c:spPr>
          <c:invertIfNegative val="0"/>
          <c:cat>
            <c:strRef>
              <c:f>'Leading Causes of Crashes Acros'!$B$4:$B$14</c:f>
              <c:strCache>
                <c:ptCount val="10"/>
                <c:pt idx="0">
                  <c:v>FCT</c:v>
                </c:pt>
                <c:pt idx="1">
                  <c:v>Jigawa</c:v>
                </c:pt>
                <c:pt idx="2">
                  <c:v>Kaduna</c:v>
                </c:pt>
                <c:pt idx="3">
                  <c:v>Kogi</c:v>
                </c:pt>
                <c:pt idx="4">
                  <c:v>Lagos</c:v>
                </c:pt>
                <c:pt idx="5">
                  <c:v>Nasarawa</c:v>
                </c:pt>
                <c:pt idx="6">
                  <c:v>Niger</c:v>
                </c:pt>
                <c:pt idx="7">
                  <c:v>Ogun</c:v>
                </c:pt>
                <c:pt idx="8">
                  <c:v>Ondo</c:v>
                </c:pt>
                <c:pt idx="9">
                  <c:v>Oyo</c:v>
                </c:pt>
              </c:strCache>
            </c:strRef>
          </c:cat>
          <c:val>
            <c:numRef>
              <c:f>'Leading Causes of Crashes Acros'!$F$4:$F$14</c:f>
              <c:numCache>
                <c:formatCode>General</c:formatCode>
                <c:ptCount val="10"/>
                <c:pt idx="0">
                  <c:v>12</c:v>
                </c:pt>
                <c:pt idx="1">
                  <c:v>3</c:v>
                </c:pt>
                <c:pt idx="2">
                  <c:v>19</c:v>
                </c:pt>
                <c:pt idx="3">
                  <c:v>9</c:v>
                </c:pt>
                <c:pt idx="4">
                  <c:v>11</c:v>
                </c:pt>
                <c:pt idx="5">
                  <c:v>4</c:v>
                </c:pt>
                <c:pt idx="6">
                  <c:v>64</c:v>
                </c:pt>
                <c:pt idx="7">
                  <c:v>0</c:v>
                </c:pt>
                <c:pt idx="8">
                  <c:v>5</c:v>
                </c:pt>
                <c:pt idx="9">
                  <c:v>22</c:v>
                </c:pt>
              </c:numCache>
            </c:numRef>
          </c:val>
          <c:extLst>
            <c:ext xmlns:c16="http://schemas.microsoft.com/office/drawing/2014/chart" uri="{C3380CC4-5D6E-409C-BE32-E72D297353CC}">
              <c16:uniqueId val="{00000003-60DC-4ADE-AE9A-257F5A7E3F97}"/>
            </c:ext>
          </c:extLst>
        </c:ser>
        <c:ser>
          <c:idx val="4"/>
          <c:order val="4"/>
          <c:tx>
            <c:strRef>
              <c:f>'Leading Causes of Crashes Acros'!$G$3</c:f>
              <c:strCache>
                <c:ptCount val="1"/>
                <c:pt idx="0">
                  <c:v> DAD</c:v>
                </c:pt>
              </c:strCache>
            </c:strRef>
          </c:tx>
          <c:spPr>
            <a:solidFill>
              <a:schemeClr val="dk1">
                <a:tint val="30000"/>
              </a:schemeClr>
            </a:solidFill>
            <a:ln>
              <a:noFill/>
            </a:ln>
            <a:effectLst/>
          </c:spPr>
          <c:invertIfNegative val="0"/>
          <c:cat>
            <c:strRef>
              <c:f>'Leading Causes of Crashes Acros'!$B$4:$B$14</c:f>
              <c:strCache>
                <c:ptCount val="10"/>
                <c:pt idx="0">
                  <c:v>FCT</c:v>
                </c:pt>
                <c:pt idx="1">
                  <c:v>Jigawa</c:v>
                </c:pt>
                <c:pt idx="2">
                  <c:v>Kaduna</c:v>
                </c:pt>
                <c:pt idx="3">
                  <c:v>Kogi</c:v>
                </c:pt>
                <c:pt idx="4">
                  <c:v>Lagos</c:v>
                </c:pt>
                <c:pt idx="5">
                  <c:v>Nasarawa</c:v>
                </c:pt>
                <c:pt idx="6">
                  <c:v>Niger</c:v>
                </c:pt>
                <c:pt idx="7">
                  <c:v>Ogun</c:v>
                </c:pt>
                <c:pt idx="8">
                  <c:v>Ondo</c:v>
                </c:pt>
                <c:pt idx="9">
                  <c:v>Oyo</c:v>
                </c:pt>
              </c:strCache>
            </c:strRef>
          </c:cat>
          <c:val>
            <c:numRef>
              <c:f>'Leading Causes of Crashes Acros'!$G$4:$G$14</c:f>
              <c:numCache>
                <c:formatCode>General</c:formatCode>
                <c:ptCount val="10"/>
                <c:pt idx="0">
                  <c:v>7</c:v>
                </c:pt>
                <c:pt idx="1">
                  <c:v>3</c:v>
                </c:pt>
                <c:pt idx="2">
                  <c:v>3</c:v>
                </c:pt>
                <c:pt idx="3">
                  <c:v>3</c:v>
                </c:pt>
                <c:pt idx="4">
                  <c:v>9</c:v>
                </c:pt>
                <c:pt idx="5">
                  <c:v>9</c:v>
                </c:pt>
                <c:pt idx="6">
                  <c:v>4</c:v>
                </c:pt>
                <c:pt idx="7">
                  <c:v>3</c:v>
                </c:pt>
                <c:pt idx="8">
                  <c:v>2</c:v>
                </c:pt>
                <c:pt idx="9">
                  <c:v>0</c:v>
                </c:pt>
              </c:numCache>
            </c:numRef>
          </c:val>
          <c:extLst>
            <c:ext xmlns:c16="http://schemas.microsoft.com/office/drawing/2014/chart" uri="{C3380CC4-5D6E-409C-BE32-E72D297353CC}">
              <c16:uniqueId val="{00000004-60DC-4ADE-AE9A-257F5A7E3F97}"/>
            </c:ext>
          </c:extLst>
        </c:ser>
        <c:dLbls>
          <c:showLegendKey val="0"/>
          <c:showVal val="0"/>
          <c:showCatName val="0"/>
          <c:showSerName val="0"/>
          <c:showPercent val="0"/>
          <c:showBubbleSize val="0"/>
        </c:dLbls>
        <c:gapWidth val="150"/>
        <c:overlap val="100"/>
        <c:axId val="576988056"/>
        <c:axId val="576988416"/>
      </c:barChart>
      <c:catAx>
        <c:axId val="57698805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6988416"/>
        <c:crosses val="autoZero"/>
        <c:auto val="1"/>
        <c:lblAlgn val="ctr"/>
        <c:lblOffset val="100"/>
        <c:noMultiLvlLbl val="0"/>
      </c:catAx>
      <c:valAx>
        <c:axId val="57698841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69880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[Nigerian_Road_Traffic_Crashes_2020_2024.xlsx]Leading Causes of Crashes Acros!PivotTable3</c:name>
    <c:fmtId val="1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Leading Causes of Crashes Across States </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strRef>
              <c:f>'Leading Causes of Crashes Acros'!$C$16</c:f>
              <c:strCache>
                <c:ptCount val="1"/>
                <c:pt idx="0">
                  <c:v> SPV</c:v>
                </c:pt>
              </c:strCache>
            </c:strRef>
          </c:tx>
          <c:spPr>
            <a:solidFill>
              <a:schemeClr val="dk1">
                <a:tint val="88500"/>
              </a:schemeClr>
            </a:solidFill>
            <a:ln>
              <a:noFill/>
            </a:ln>
            <a:effectLst/>
          </c:spPr>
          <c:invertIfNegative val="0"/>
          <c:cat>
            <c:strRef>
              <c:f>'Leading Causes of Crashes Acros'!$B$17:$B$55</c:f>
              <c:strCache>
                <c:ptCount val="38"/>
                <c:pt idx="0">
                  <c:v>Abia</c:v>
                </c:pt>
                <c:pt idx="1">
                  <c:v>Adamawa</c:v>
                </c:pt>
                <c:pt idx="2">
                  <c:v>Akwa Ibom</c:v>
                </c:pt>
                <c:pt idx="3">
                  <c:v>Anambra</c:v>
                </c:pt>
                <c:pt idx="4">
                  <c:v>Bauchi</c:v>
                </c:pt>
                <c:pt idx="5">
                  <c:v>Bayelsa</c:v>
                </c:pt>
                <c:pt idx="6">
                  <c:v>Benue</c:v>
                </c:pt>
                <c:pt idx="7">
                  <c:v>Borno</c:v>
                </c:pt>
                <c:pt idx="8">
                  <c:v>Cross River</c:v>
                </c:pt>
                <c:pt idx="9">
                  <c:v>Delta</c:v>
                </c:pt>
                <c:pt idx="10">
                  <c:v>Ebonyi</c:v>
                </c:pt>
                <c:pt idx="11">
                  <c:v>Edo</c:v>
                </c:pt>
                <c:pt idx="12">
                  <c:v>Ekiti</c:v>
                </c:pt>
                <c:pt idx="13">
                  <c:v>Enugu</c:v>
                </c:pt>
                <c:pt idx="14">
                  <c:v>FCT</c:v>
                </c:pt>
                <c:pt idx="15">
                  <c:v>Gombe</c:v>
                </c:pt>
                <c:pt idx="16">
                  <c:v>Imo</c:v>
                </c:pt>
                <c:pt idx="17">
                  <c:v>Jigawa</c:v>
                </c:pt>
                <c:pt idx="18">
                  <c:v>Kaduna</c:v>
                </c:pt>
                <c:pt idx="19">
                  <c:v>Kano</c:v>
                </c:pt>
                <c:pt idx="20">
                  <c:v>Katsina</c:v>
                </c:pt>
                <c:pt idx="21">
                  <c:v>Kebbi</c:v>
                </c:pt>
                <c:pt idx="22">
                  <c:v>Kogi</c:v>
                </c:pt>
                <c:pt idx="23">
                  <c:v>Kwara</c:v>
                </c:pt>
                <c:pt idx="24">
                  <c:v>Lagos</c:v>
                </c:pt>
                <c:pt idx="25">
                  <c:v>Nasarawa</c:v>
                </c:pt>
                <c:pt idx="26">
                  <c:v>Niger</c:v>
                </c:pt>
                <c:pt idx="27">
                  <c:v>Ogun</c:v>
                </c:pt>
                <c:pt idx="28">
                  <c:v>Ondo</c:v>
                </c:pt>
                <c:pt idx="29">
                  <c:v>Osun</c:v>
                </c:pt>
                <c:pt idx="30">
                  <c:v>Oyo</c:v>
                </c:pt>
                <c:pt idx="31">
                  <c:v>Plateau</c:v>
                </c:pt>
                <c:pt idx="32">
                  <c:v>Rivers</c:v>
                </c:pt>
                <c:pt idx="33">
                  <c:v>Sokoto</c:v>
                </c:pt>
                <c:pt idx="34">
                  <c:v>Taraba</c:v>
                </c:pt>
                <c:pt idx="35">
                  <c:v>Yobe</c:v>
                </c:pt>
                <c:pt idx="36">
                  <c:v>Zamfara</c:v>
                </c:pt>
                <c:pt idx="37">
                  <c:v>(blank)</c:v>
                </c:pt>
              </c:strCache>
            </c:strRef>
          </c:cat>
          <c:val>
            <c:numRef>
              <c:f>'Leading Causes of Crashes Acros'!$C$17:$C$55</c:f>
              <c:numCache>
                <c:formatCode>General</c:formatCode>
                <c:ptCount val="38"/>
                <c:pt idx="0">
                  <c:v>93</c:v>
                </c:pt>
                <c:pt idx="1">
                  <c:v>367</c:v>
                </c:pt>
                <c:pt idx="2">
                  <c:v>94</c:v>
                </c:pt>
                <c:pt idx="3">
                  <c:v>226</c:v>
                </c:pt>
                <c:pt idx="4">
                  <c:v>595</c:v>
                </c:pt>
                <c:pt idx="5">
                  <c:v>47</c:v>
                </c:pt>
                <c:pt idx="6">
                  <c:v>444</c:v>
                </c:pt>
                <c:pt idx="7">
                  <c:v>111</c:v>
                </c:pt>
                <c:pt idx="8">
                  <c:v>171</c:v>
                </c:pt>
                <c:pt idx="9">
                  <c:v>304</c:v>
                </c:pt>
                <c:pt idx="10">
                  <c:v>170</c:v>
                </c:pt>
                <c:pt idx="11">
                  <c:v>400</c:v>
                </c:pt>
                <c:pt idx="12">
                  <c:v>267</c:v>
                </c:pt>
                <c:pt idx="13">
                  <c:v>196</c:v>
                </c:pt>
                <c:pt idx="14">
                  <c:v>2101</c:v>
                </c:pt>
                <c:pt idx="15">
                  <c:v>373</c:v>
                </c:pt>
                <c:pt idx="16">
                  <c:v>104</c:v>
                </c:pt>
                <c:pt idx="17">
                  <c:v>1076</c:v>
                </c:pt>
                <c:pt idx="18">
                  <c:v>1238</c:v>
                </c:pt>
                <c:pt idx="19">
                  <c:v>552</c:v>
                </c:pt>
                <c:pt idx="20">
                  <c:v>344</c:v>
                </c:pt>
                <c:pt idx="21">
                  <c:v>273</c:v>
                </c:pt>
                <c:pt idx="22">
                  <c:v>687</c:v>
                </c:pt>
                <c:pt idx="23">
                  <c:v>633</c:v>
                </c:pt>
                <c:pt idx="24">
                  <c:v>645</c:v>
                </c:pt>
                <c:pt idx="25">
                  <c:v>1047</c:v>
                </c:pt>
                <c:pt idx="26">
                  <c:v>1012</c:v>
                </c:pt>
                <c:pt idx="27">
                  <c:v>2455</c:v>
                </c:pt>
                <c:pt idx="28">
                  <c:v>756</c:v>
                </c:pt>
                <c:pt idx="29">
                  <c:v>619</c:v>
                </c:pt>
                <c:pt idx="30">
                  <c:v>963</c:v>
                </c:pt>
                <c:pt idx="31">
                  <c:v>281</c:v>
                </c:pt>
                <c:pt idx="32">
                  <c:v>122</c:v>
                </c:pt>
                <c:pt idx="33">
                  <c:v>243</c:v>
                </c:pt>
                <c:pt idx="34">
                  <c:v>189</c:v>
                </c:pt>
                <c:pt idx="35">
                  <c:v>252</c:v>
                </c:pt>
                <c:pt idx="36">
                  <c:v>184</c:v>
                </c:pt>
              </c:numCache>
            </c:numRef>
          </c:val>
          <c:extLst>
            <c:ext xmlns:c16="http://schemas.microsoft.com/office/drawing/2014/chart" uri="{C3380CC4-5D6E-409C-BE32-E72D297353CC}">
              <c16:uniqueId val="{00000000-1485-469C-9AAA-327EA53D787A}"/>
            </c:ext>
          </c:extLst>
        </c:ser>
        <c:ser>
          <c:idx val="1"/>
          <c:order val="1"/>
          <c:tx>
            <c:strRef>
              <c:f>'Leading Causes of Crashes Acros'!$D$16</c:f>
              <c:strCache>
                <c:ptCount val="1"/>
                <c:pt idx="0">
                  <c:v> Other_Factors</c:v>
                </c:pt>
              </c:strCache>
            </c:strRef>
          </c:tx>
          <c:spPr>
            <a:solidFill>
              <a:schemeClr val="dk1">
                <a:tint val="55000"/>
              </a:schemeClr>
            </a:solidFill>
            <a:ln>
              <a:noFill/>
            </a:ln>
            <a:effectLst/>
          </c:spPr>
          <c:invertIfNegative val="0"/>
          <c:cat>
            <c:strRef>
              <c:f>'Leading Causes of Crashes Acros'!$B$17:$B$55</c:f>
              <c:strCache>
                <c:ptCount val="38"/>
                <c:pt idx="0">
                  <c:v>Abia</c:v>
                </c:pt>
                <c:pt idx="1">
                  <c:v>Adamawa</c:v>
                </c:pt>
                <c:pt idx="2">
                  <c:v>Akwa Ibom</c:v>
                </c:pt>
                <c:pt idx="3">
                  <c:v>Anambra</c:v>
                </c:pt>
                <c:pt idx="4">
                  <c:v>Bauchi</c:v>
                </c:pt>
                <c:pt idx="5">
                  <c:v>Bayelsa</c:v>
                </c:pt>
                <c:pt idx="6">
                  <c:v>Benue</c:v>
                </c:pt>
                <c:pt idx="7">
                  <c:v>Borno</c:v>
                </c:pt>
                <c:pt idx="8">
                  <c:v>Cross River</c:v>
                </c:pt>
                <c:pt idx="9">
                  <c:v>Delta</c:v>
                </c:pt>
                <c:pt idx="10">
                  <c:v>Ebonyi</c:v>
                </c:pt>
                <c:pt idx="11">
                  <c:v>Edo</c:v>
                </c:pt>
                <c:pt idx="12">
                  <c:v>Ekiti</c:v>
                </c:pt>
                <c:pt idx="13">
                  <c:v>Enugu</c:v>
                </c:pt>
                <c:pt idx="14">
                  <c:v>FCT</c:v>
                </c:pt>
                <c:pt idx="15">
                  <c:v>Gombe</c:v>
                </c:pt>
                <c:pt idx="16">
                  <c:v>Imo</c:v>
                </c:pt>
                <c:pt idx="17">
                  <c:v>Jigawa</c:v>
                </c:pt>
                <c:pt idx="18">
                  <c:v>Kaduna</c:v>
                </c:pt>
                <c:pt idx="19">
                  <c:v>Kano</c:v>
                </c:pt>
                <c:pt idx="20">
                  <c:v>Katsina</c:v>
                </c:pt>
                <c:pt idx="21">
                  <c:v>Kebbi</c:v>
                </c:pt>
                <c:pt idx="22">
                  <c:v>Kogi</c:v>
                </c:pt>
                <c:pt idx="23">
                  <c:v>Kwara</c:v>
                </c:pt>
                <c:pt idx="24">
                  <c:v>Lagos</c:v>
                </c:pt>
                <c:pt idx="25">
                  <c:v>Nasarawa</c:v>
                </c:pt>
                <c:pt idx="26">
                  <c:v>Niger</c:v>
                </c:pt>
                <c:pt idx="27">
                  <c:v>Ogun</c:v>
                </c:pt>
                <c:pt idx="28">
                  <c:v>Ondo</c:v>
                </c:pt>
                <c:pt idx="29">
                  <c:v>Osun</c:v>
                </c:pt>
                <c:pt idx="30">
                  <c:v>Oyo</c:v>
                </c:pt>
                <c:pt idx="31">
                  <c:v>Plateau</c:v>
                </c:pt>
                <c:pt idx="32">
                  <c:v>Rivers</c:v>
                </c:pt>
                <c:pt idx="33">
                  <c:v>Sokoto</c:v>
                </c:pt>
                <c:pt idx="34">
                  <c:v>Taraba</c:v>
                </c:pt>
                <c:pt idx="35">
                  <c:v>Yobe</c:v>
                </c:pt>
                <c:pt idx="36">
                  <c:v>Zamfara</c:v>
                </c:pt>
                <c:pt idx="37">
                  <c:v>(blank)</c:v>
                </c:pt>
              </c:strCache>
            </c:strRef>
          </c:cat>
          <c:val>
            <c:numRef>
              <c:f>'Leading Causes of Crashes Acros'!$D$17:$D$55</c:f>
              <c:numCache>
                <c:formatCode>General</c:formatCode>
                <c:ptCount val="38"/>
                <c:pt idx="0">
                  <c:v>196</c:v>
                </c:pt>
                <c:pt idx="1">
                  <c:v>326</c:v>
                </c:pt>
                <c:pt idx="2">
                  <c:v>73</c:v>
                </c:pt>
                <c:pt idx="3">
                  <c:v>470</c:v>
                </c:pt>
                <c:pt idx="4">
                  <c:v>780</c:v>
                </c:pt>
                <c:pt idx="5">
                  <c:v>33</c:v>
                </c:pt>
                <c:pt idx="6">
                  <c:v>180</c:v>
                </c:pt>
                <c:pt idx="7">
                  <c:v>228</c:v>
                </c:pt>
                <c:pt idx="8">
                  <c:v>155</c:v>
                </c:pt>
                <c:pt idx="9">
                  <c:v>424</c:v>
                </c:pt>
                <c:pt idx="10">
                  <c:v>216</c:v>
                </c:pt>
                <c:pt idx="11">
                  <c:v>451</c:v>
                </c:pt>
                <c:pt idx="12">
                  <c:v>156</c:v>
                </c:pt>
                <c:pt idx="13">
                  <c:v>506</c:v>
                </c:pt>
                <c:pt idx="14">
                  <c:v>2790</c:v>
                </c:pt>
                <c:pt idx="15">
                  <c:v>613</c:v>
                </c:pt>
                <c:pt idx="16">
                  <c:v>180</c:v>
                </c:pt>
                <c:pt idx="17">
                  <c:v>570</c:v>
                </c:pt>
                <c:pt idx="18">
                  <c:v>1047</c:v>
                </c:pt>
                <c:pt idx="19">
                  <c:v>402</c:v>
                </c:pt>
                <c:pt idx="20">
                  <c:v>147</c:v>
                </c:pt>
                <c:pt idx="21">
                  <c:v>92</c:v>
                </c:pt>
                <c:pt idx="22">
                  <c:v>984</c:v>
                </c:pt>
                <c:pt idx="23">
                  <c:v>686</c:v>
                </c:pt>
                <c:pt idx="24">
                  <c:v>722</c:v>
                </c:pt>
                <c:pt idx="25">
                  <c:v>1767</c:v>
                </c:pt>
                <c:pt idx="26">
                  <c:v>545</c:v>
                </c:pt>
                <c:pt idx="27">
                  <c:v>1257</c:v>
                </c:pt>
                <c:pt idx="28">
                  <c:v>568</c:v>
                </c:pt>
                <c:pt idx="29">
                  <c:v>580</c:v>
                </c:pt>
                <c:pt idx="30">
                  <c:v>806</c:v>
                </c:pt>
                <c:pt idx="31">
                  <c:v>584</c:v>
                </c:pt>
                <c:pt idx="32">
                  <c:v>166</c:v>
                </c:pt>
                <c:pt idx="33">
                  <c:v>133</c:v>
                </c:pt>
                <c:pt idx="34">
                  <c:v>591</c:v>
                </c:pt>
                <c:pt idx="35">
                  <c:v>340</c:v>
                </c:pt>
                <c:pt idx="36">
                  <c:v>150</c:v>
                </c:pt>
              </c:numCache>
            </c:numRef>
          </c:val>
          <c:extLst>
            <c:ext xmlns:c16="http://schemas.microsoft.com/office/drawing/2014/chart" uri="{C3380CC4-5D6E-409C-BE32-E72D297353CC}">
              <c16:uniqueId val="{00000001-1485-469C-9AAA-327EA53D787A}"/>
            </c:ext>
          </c:extLst>
        </c:ser>
        <c:ser>
          <c:idx val="2"/>
          <c:order val="2"/>
          <c:tx>
            <c:strRef>
              <c:f>'Leading Causes of Crashes Acros'!$E$16</c:f>
              <c:strCache>
                <c:ptCount val="1"/>
                <c:pt idx="0">
                  <c:v> FTQ</c:v>
                </c:pt>
              </c:strCache>
            </c:strRef>
          </c:tx>
          <c:spPr>
            <a:solidFill>
              <a:schemeClr val="dk1">
                <a:tint val="75000"/>
              </a:schemeClr>
            </a:solidFill>
            <a:ln>
              <a:noFill/>
            </a:ln>
            <a:effectLst/>
          </c:spPr>
          <c:invertIfNegative val="0"/>
          <c:cat>
            <c:strRef>
              <c:f>'Leading Causes of Crashes Acros'!$B$17:$B$55</c:f>
              <c:strCache>
                <c:ptCount val="38"/>
                <c:pt idx="0">
                  <c:v>Abia</c:v>
                </c:pt>
                <c:pt idx="1">
                  <c:v>Adamawa</c:v>
                </c:pt>
                <c:pt idx="2">
                  <c:v>Akwa Ibom</c:v>
                </c:pt>
                <c:pt idx="3">
                  <c:v>Anambra</c:v>
                </c:pt>
                <c:pt idx="4">
                  <c:v>Bauchi</c:v>
                </c:pt>
                <c:pt idx="5">
                  <c:v>Bayelsa</c:v>
                </c:pt>
                <c:pt idx="6">
                  <c:v>Benue</c:v>
                </c:pt>
                <c:pt idx="7">
                  <c:v>Borno</c:v>
                </c:pt>
                <c:pt idx="8">
                  <c:v>Cross River</c:v>
                </c:pt>
                <c:pt idx="9">
                  <c:v>Delta</c:v>
                </c:pt>
                <c:pt idx="10">
                  <c:v>Ebonyi</c:v>
                </c:pt>
                <c:pt idx="11">
                  <c:v>Edo</c:v>
                </c:pt>
                <c:pt idx="12">
                  <c:v>Ekiti</c:v>
                </c:pt>
                <c:pt idx="13">
                  <c:v>Enugu</c:v>
                </c:pt>
                <c:pt idx="14">
                  <c:v>FCT</c:v>
                </c:pt>
                <c:pt idx="15">
                  <c:v>Gombe</c:v>
                </c:pt>
                <c:pt idx="16">
                  <c:v>Imo</c:v>
                </c:pt>
                <c:pt idx="17">
                  <c:v>Jigawa</c:v>
                </c:pt>
                <c:pt idx="18">
                  <c:v>Kaduna</c:v>
                </c:pt>
                <c:pt idx="19">
                  <c:v>Kano</c:v>
                </c:pt>
                <c:pt idx="20">
                  <c:v>Katsina</c:v>
                </c:pt>
                <c:pt idx="21">
                  <c:v>Kebbi</c:v>
                </c:pt>
                <c:pt idx="22">
                  <c:v>Kogi</c:v>
                </c:pt>
                <c:pt idx="23">
                  <c:v>Kwara</c:v>
                </c:pt>
                <c:pt idx="24">
                  <c:v>Lagos</c:v>
                </c:pt>
                <c:pt idx="25">
                  <c:v>Nasarawa</c:v>
                </c:pt>
                <c:pt idx="26">
                  <c:v>Niger</c:v>
                </c:pt>
                <c:pt idx="27">
                  <c:v>Ogun</c:v>
                </c:pt>
                <c:pt idx="28">
                  <c:v>Ondo</c:v>
                </c:pt>
                <c:pt idx="29">
                  <c:v>Osun</c:v>
                </c:pt>
                <c:pt idx="30">
                  <c:v>Oyo</c:v>
                </c:pt>
                <c:pt idx="31">
                  <c:v>Plateau</c:v>
                </c:pt>
                <c:pt idx="32">
                  <c:v>Rivers</c:v>
                </c:pt>
                <c:pt idx="33">
                  <c:v>Sokoto</c:v>
                </c:pt>
                <c:pt idx="34">
                  <c:v>Taraba</c:v>
                </c:pt>
                <c:pt idx="35">
                  <c:v>Yobe</c:v>
                </c:pt>
                <c:pt idx="36">
                  <c:v>Zamfara</c:v>
                </c:pt>
                <c:pt idx="37">
                  <c:v>(blank)</c:v>
                </c:pt>
              </c:strCache>
            </c:strRef>
          </c:cat>
          <c:val>
            <c:numRef>
              <c:f>'Leading Causes of Crashes Acros'!$E$17:$E$55</c:f>
              <c:numCache>
                <c:formatCode>General</c:formatCode>
                <c:ptCount val="38"/>
                <c:pt idx="0">
                  <c:v>75</c:v>
                </c:pt>
                <c:pt idx="1">
                  <c:v>274</c:v>
                </c:pt>
                <c:pt idx="2">
                  <c:v>73</c:v>
                </c:pt>
                <c:pt idx="3">
                  <c:v>97</c:v>
                </c:pt>
                <c:pt idx="4">
                  <c:v>447</c:v>
                </c:pt>
                <c:pt idx="5">
                  <c:v>97</c:v>
                </c:pt>
                <c:pt idx="6">
                  <c:v>226</c:v>
                </c:pt>
                <c:pt idx="7">
                  <c:v>53</c:v>
                </c:pt>
                <c:pt idx="8">
                  <c:v>131</c:v>
                </c:pt>
                <c:pt idx="9">
                  <c:v>159</c:v>
                </c:pt>
                <c:pt idx="10">
                  <c:v>100</c:v>
                </c:pt>
                <c:pt idx="11">
                  <c:v>310</c:v>
                </c:pt>
                <c:pt idx="12">
                  <c:v>159</c:v>
                </c:pt>
                <c:pt idx="13">
                  <c:v>132</c:v>
                </c:pt>
                <c:pt idx="14">
                  <c:v>1636</c:v>
                </c:pt>
                <c:pt idx="15">
                  <c:v>197</c:v>
                </c:pt>
                <c:pt idx="16">
                  <c:v>44</c:v>
                </c:pt>
                <c:pt idx="17">
                  <c:v>706</c:v>
                </c:pt>
                <c:pt idx="18">
                  <c:v>623</c:v>
                </c:pt>
                <c:pt idx="19">
                  <c:v>299</c:v>
                </c:pt>
                <c:pt idx="20">
                  <c:v>106</c:v>
                </c:pt>
                <c:pt idx="21">
                  <c:v>223</c:v>
                </c:pt>
                <c:pt idx="22">
                  <c:v>542</c:v>
                </c:pt>
                <c:pt idx="23">
                  <c:v>403</c:v>
                </c:pt>
                <c:pt idx="24">
                  <c:v>419</c:v>
                </c:pt>
                <c:pt idx="25">
                  <c:v>664</c:v>
                </c:pt>
                <c:pt idx="26">
                  <c:v>740</c:v>
                </c:pt>
                <c:pt idx="27">
                  <c:v>1316</c:v>
                </c:pt>
                <c:pt idx="28">
                  <c:v>470</c:v>
                </c:pt>
                <c:pt idx="29">
                  <c:v>374</c:v>
                </c:pt>
                <c:pt idx="30">
                  <c:v>542</c:v>
                </c:pt>
                <c:pt idx="31">
                  <c:v>147</c:v>
                </c:pt>
                <c:pt idx="32">
                  <c:v>65</c:v>
                </c:pt>
                <c:pt idx="33">
                  <c:v>157</c:v>
                </c:pt>
                <c:pt idx="34">
                  <c:v>107</c:v>
                </c:pt>
                <c:pt idx="35">
                  <c:v>136</c:v>
                </c:pt>
                <c:pt idx="36">
                  <c:v>92</c:v>
                </c:pt>
              </c:numCache>
            </c:numRef>
          </c:val>
          <c:extLst>
            <c:ext xmlns:c16="http://schemas.microsoft.com/office/drawing/2014/chart" uri="{C3380CC4-5D6E-409C-BE32-E72D297353CC}">
              <c16:uniqueId val="{00000002-1485-469C-9AAA-327EA53D787A}"/>
            </c:ext>
          </c:extLst>
        </c:ser>
        <c:ser>
          <c:idx val="3"/>
          <c:order val="3"/>
          <c:tx>
            <c:strRef>
              <c:f>'Leading Causes of Crashes Acros'!$F$16</c:f>
              <c:strCache>
                <c:ptCount val="1"/>
                <c:pt idx="0">
                  <c:v> PWR</c:v>
                </c:pt>
              </c:strCache>
            </c:strRef>
          </c:tx>
          <c:spPr>
            <a:solidFill>
              <a:schemeClr val="dk1">
                <a:tint val="98500"/>
              </a:schemeClr>
            </a:solidFill>
            <a:ln>
              <a:noFill/>
            </a:ln>
            <a:effectLst/>
          </c:spPr>
          <c:invertIfNegative val="0"/>
          <c:cat>
            <c:strRef>
              <c:f>'Leading Causes of Crashes Acros'!$B$17:$B$55</c:f>
              <c:strCache>
                <c:ptCount val="38"/>
                <c:pt idx="0">
                  <c:v>Abia</c:v>
                </c:pt>
                <c:pt idx="1">
                  <c:v>Adamawa</c:v>
                </c:pt>
                <c:pt idx="2">
                  <c:v>Akwa Ibom</c:v>
                </c:pt>
                <c:pt idx="3">
                  <c:v>Anambra</c:v>
                </c:pt>
                <c:pt idx="4">
                  <c:v>Bauchi</c:v>
                </c:pt>
                <c:pt idx="5">
                  <c:v>Bayelsa</c:v>
                </c:pt>
                <c:pt idx="6">
                  <c:v>Benue</c:v>
                </c:pt>
                <c:pt idx="7">
                  <c:v>Borno</c:v>
                </c:pt>
                <c:pt idx="8">
                  <c:v>Cross River</c:v>
                </c:pt>
                <c:pt idx="9">
                  <c:v>Delta</c:v>
                </c:pt>
                <c:pt idx="10">
                  <c:v>Ebonyi</c:v>
                </c:pt>
                <c:pt idx="11">
                  <c:v>Edo</c:v>
                </c:pt>
                <c:pt idx="12">
                  <c:v>Ekiti</c:v>
                </c:pt>
                <c:pt idx="13">
                  <c:v>Enugu</c:v>
                </c:pt>
                <c:pt idx="14">
                  <c:v>FCT</c:v>
                </c:pt>
                <c:pt idx="15">
                  <c:v>Gombe</c:v>
                </c:pt>
                <c:pt idx="16">
                  <c:v>Imo</c:v>
                </c:pt>
                <c:pt idx="17">
                  <c:v>Jigawa</c:v>
                </c:pt>
                <c:pt idx="18">
                  <c:v>Kaduna</c:v>
                </c:pt>
                <c:pt idx="19">
                  <c:v>Kano</c:v>
                </c:pt>
                <c:pt idx="20">
                  <c:v>Katsina</c:v>
                </c:pt>
                <c:pt idx="21">
                  <c:v>Kebbi</c:v>
                </c:pt>
                <c:pt idx="22">
                  <c:v>Kogi</c:v>
                </c:pt>
                <c:pt idx="23">
                  <c:v>Kwara</c:v>
                </c:pt>
                <c:pt idx="24">
                  <c:v>Lagos</c:v>
                </c:pt>
                <c:pt idx="25">
                  <c:v>Nasarawa</c:v>
                </c:pt>
                <c:pt idx="26">
                  <c:v>Niger</c:v>
                </c:pt>
                <c:pt idx="27">
                  <c:v>Ogun</c:v>
                </c:pt>
                <c:pt idx="28">
                  <c:v>Ondo</c:v>
                </c:pt>
                <c:pt idx="29">
                  <c:v>Osun</c:v>
                </c:pt>
                <c:pt idx="30">
                  <c:v>Oyo</c:v>
                </c:pt>
                <c:pt idx="31">
                  <c:v>Plateau</c:v>
                </c:pt>
                <c:pt idx="32">
                  <c:v>Rivers</c:v>
                </c:pt>
                <c:pt idx="33">
                  <c:v>Sokoto</c:v>
                </c:pt>
                <c:pt idx="34">
                  <c:v>Taraba</c:v>
                </c:pt>
                <c:pt idx="35">
                  <c:v>Yobe</c:v>
                </c:pt>
                <c:pt idx="36">
                  <c:v>Zamfara</c:v>
                </c:pt>
                <c:pt idx="37">
                  <c:v>(blank)</c:v>
                </c:pt>
              </c:strCache>
            </c:strRef>
          </c:cat>
          <c:val>
            <c:numRef>
              <c:f>'Leading Causes of Crashes Acros'!$F$17:$F$55</c:f>
              <c:numCache>
                <c:formatCode>General</c:formatCode>
                <c:ptCount val="38"/>
                <c:pt idx="0">
                  <c:v>2</c:v>
                </c:pt>
                <c:pt idx="1">
                  <c:v>0</c:v>
                </c:pt>
                <c:pt idx="2">
                  <c:v>1</c:v>
                </c:pt>
                <c:pt idx="3">
                  <c:v>2</c:v>
                </c:pt>
                <c:pt idx="4">
                  <c:v>2</c:v>
                </c:pt>
                <c:pt idx="5">
                  <c:v>2</c:v>
                </c:pt>
                <c:pt idx="6">
                  <c:v>0</c:v>
                </c:pt>
                <c:pt idx="7">
                  <c:v>0</c:v>
                </c:pt>
                <c:pt idx="8">
                  <c:v>1</c:v>
                </c:pt>
                <c:pt idx="9">
                  <c:v>4</c:v>
                </c:pt>
                <c:pt idx="10">
                  <c:v>0</c:v>
                </c:pt>
                <c:pt idx="11">
                  <c:v>1</c:v>
                </c:pt>
                <c:pt idx="12">
                  <c:v>0</c:v>
                </c:pt>
                <c:pt idx="13">
                  <c:v>0</c:v>
                </c:pt>
                <c:pt idx="14">
                  <c:v>12</c:v>
                </c:pt>
                <c:pt idx="15">
                  <c:v>0</c:v>
                </c:pt>
                <c:pt idx="16">
                  <c:v>1</c:v>
                </c:pt>
                <c:pt idx="17">
                  <c:v>3</c:v>
                </c:pt>
                <c:pt idx="18">
                  <c:v>19</c:v>
                </c:pt>
                <c:pt idx="19">
                  <c:v>1</c:v>
                </c:pt>
                <c:pt idx="20">
                  <c:v>1</c:v>
                </c:pt>
                <c:pt idx="21">
                  <c:v>1</c:v>
                </c:pt>
                <c:pt idx="22">
                  <c:v>9</c:v>
                </c:pt>
                <c:pt idx="23">
                  <c:v>0</c:v>
                </c:pt>
                <c:pt idx="24">
                  <c:v>11</c:v>
                </c:pt>
                <c:pt idx="25">
                  <c:v>4</c:v>
                </c:pt>
                <c:pt idx="26">
                  <c:v>64</c:v>
                </c:pt>
                <c:pt idx="27">
                  <c:v>0</c:v>
                </c:pt>
                <c:pt idx="28">
                  <c:v>5</c:v>
                </c:pt>
                <c:pt idx="29">
                  <c:v>6</c:v>
                </c:pt>
                <c:pt idx="30">
                  <c:v>22</c:v>
                </c:pt>
                <c:pt idx="31">
                  <c:v>3</c:v>
                </c:pt>
                <c:pt idx="32">
                  <c:v>0</c:v>
                </c:pt>
                <c:pt idx="33">
                  <c:v>2</c:v>
                </c:pt>
                <c:pt idx="34">
                  <c:v>5</c:v>
                </c:pt>
                <c:pt idx="35">
                  <c:v>0</c:v>
                </c:pt>
                <c:pt idx="36">
                  <c:v>0</c:v>
                </c:pt>
              </c:numCache>
            </c:numRef>
          </c:val>
          <c:extLst>
            <c:ext xmlns:c16="http://schemas.microsoft.com/office/drawing/2014/chart" uri="{C3380CC4-5D6E-409C-BE32-E72D297353CC}">
              <c16:uniqueId val="{00000003-1485-469C-9AAA-327EA53D787A}"/>
            </c:ext>
          </c:extLst>
        </c:ser>
        <c:ser>
          <c:idx val="4"/>
          <c:order val="4"/>
          <c:tx>
            <c:strRef>
              <c:f>'Leading Causes of Crashes Acros'!$G$16</c:f>
              <c:strCache>
                <c:ptCount val="1"/>
                <c:pt idx="0">
                  <c:v> DAD</c:v>
                </c:pt>
              </c:strCache>
            </c:strRef>
          </c:tx>
          <c:spPr>
            <a:solidFill>
              <a:schemeClr val="dk1">
                <a:tint val="30000"/>
              </a:schemeClr>
            </a:solidFill>
            <a:ln>
              <a:noFill/>
            </a:ln>
            <a:effectLst/>
          </c:spPr>
          <c:invertIfNegative val="0"/>
          <c:cat>
            <c:strRef>
              <c:f>'Leading Causes of Crashes Acros'!$B$17:$B$55</c:f>
              <c:strCache>
                <c:ptCount val="38"/>
                <c:pt idx="0">
                  <c:v>Abia</c:v>
                </c:pt>
                <c:pt idx="1">
                  <c:v>Adamawa</c:v>
                </c:pt>
                <c:pt idx="2">
                  <c:v>Akwa Ibom</c:v>
                </c:pt>
                <c:pt idx="3">
                  <c:v>Anambra</c:v>
                </c:pt>
                <c:pt idx="4">
                  <c:v>Bauchi</c:v>
                </c:pt>
                <c:pt idx="5">
                  <c:v>Bayelsa</c:v>
                </c:pt>
                <c:pt idx="6">
                  <c:v>Benue</c:v>
                </c:pt>
                <c:pt idx="7">
                  <c:v>Borno</c:v>
                </c:pt>
                <c:pt idx="8">
                  <c:v>Cross River</c:v>
                </c:pt>
                <c:pt idx="9">
                  <c:v>Delta</c:v>
                </c:pt>
                <c:pt idx="10">
                  <c:v>Ebonyi</c:v>
                </c:pt>
                <c:pt idx="11">
                  <c:v>Edo</c:v>
                </c:pt>
                <c:pt idx="12">
                  <c:v>Ekiti</c:v>
                </c:pt>
                <c:pt idx="13">
                  <c:v>Enugu</c:v>
                </c:pt>
                <c:pt idx="14">
                  <c:v>FCT</c:v>
                </c:pt>
                <c:pt idx="15">
                  <c:v>Gombe</c:v>
                </c:pt>
                <c:pt idx="16">
                  <c:v>Imo</c:v>
                </c:pt>
                <c:pt idx="17">
                  <c:v>Jigawa</c:v>
                </c:pt>
                <c:pt idx="18">
                  <c:v>Kaduna</c:v>
                </c:pt>
                <c:pt idx="19">
                  <c:v>Kano</c:v>
                </c:pt>
                <c:pt idx="20">
                  <c:v>Katsina</c:v>
                </c:pt>
                <c:pt idx="21">
                  <c:v>Kebbi</c:v>
                </c:pt>
                <c:pt idx="22">
                  <c:v>Kogi</c:v>
                </c:pt>
                <c:pt idx="23">
                  <c:v>Kwara</c:v>
                </c:pt>
                <c:pt idx="24">
                  <c:v>Lagos</c:v>
                </c:pt>
                <c:pt idx="25">
                  <c:v>Nasarawa</c:v>
                </c:pt>
                <c:pt idx="26">
                  <c:v>Niger</c:v>
                </c:pt>
                <c:pt idx="27">
                  <c:v>Ogun</c:v>
                </c:pt>
                <c:pt idx="28">
                  <c:v>Ondo</c:v>
                </c:pt>
                <c:pt idx="29">
                  <c:v>Osun</c:v>
                </c:pt>
                <c:pt idx="30">
                  <c:v>Oyo</c:v>
                </c:pt>
                <c:pt idx="31">
                  <c:v>Plateau</c:v>
                </c:pt>
                <c:pt idx="32">
                  <c:v>Rivers</c:v>
                </c:pt>
                <c:pt idx="33">
                  <c:v>Sokoto</c:v>
                </c:pt>
                <c:pt idx="34">
                  <c:v>Taraba</c:v>
                </c:pt>
                <c:pt idx="35">
                  <c:v>Yobe</c:v>
                </c:pt>
                <c:pt idx="36">
                  <c:v>Zamfara</c:v>
                </c:pt>
                <c:pt idx="37">
                  <c:v>(blank)</c:v>
                </c:pt>
              </c:strCache>
            </c:strRef>
          </c:cat>
          <c:val>
            <c:numRef>
              <c:f>'Leading Causes of Crashes Acros'!$G$17:$G$55</c:f>
              <c:numCache>
                <c:formatCode>General</c:formatCode>
                <c:ptCount val="38"/>
                <c:pt idx="0">
                  <c:v>1</c:v>
                </c:pt>
                <c:pt idx="1">
                  <c:v>0</c:v>
                </c:pt>
                <c:pt idx="2">
                  <c:v>0</c:v>
                </c:pt>
                <c:pt idx="3">
                  <c:v>1</c:v>
                </c:pt>
                <c:pt idx="4">
                  <c:v>1</c:v>
                </c:pt>
                <c:pt idx="5">
                  <c:v>0</c:v>
                </c:pt>
                <c:pt idx="6">
                  <c:v>3</c:v>
                </c:pt>
                <c:pt idx="7">
                  <c:v>0</c:v>
                </c:pt>
                <c:pt idx="8">
                  <c:v>0</c:v>
                </c:pt>
                <c:pt idx="9">
                  <c:v>1</c:v>
                </c:pt>
                <c:pt idx="10">
                  <c:v>1</c:v>
                </c:pt>
                <c:pt idx="11">
                  <c:v>1</c:v>
                </c:pt>
                <c:pt idx="12">
                  <c:v>7</c:v>
                </c:pt>
                <c:pt idx="13">
                  <c:v>1</c:v>
                </c:pt>
                <c:pt idx="14">
                  <c:v>7</c:v>
                </c:pt>
                <c:pt idx="15">
                  <c:v>0</c:v>
                </c:pt>
                <c:pt idx="16">
                  <c:v>3</c:v>
                </c:pt>
                <c:pt idx="17">
                  <c:v>3</c:v>
                </c:pt>
                <c:pt idx="18">
                  <c:v>3</c:v>
                </c:pt>
                <c:pt idx="19">
                  <c:v>0</c:v>
                </c:pt>
                <c:pt idx="20">
                  <c:v>0</c:v>
                </c:pt>
                <c:pt idx="21">
                  <c:v>1</c:v>
                </c:pt>
                <c:pt idx="22">
                  <c:v>3</c:v>
                </c:pt>
                <c:pt idx="23">
                  <c:v>3</c:v>
                </c:pt>
                <c:pt idx="24">
                  <c:v>9</c:v>
                </c:pt>
                <c:pt idx="25">
                  <c:v>9</c:v>
                </c:pt>
                <c:pt idx="26">
                  <c:v>4</c:v>
                </c:pt>
                <c:pt idx="27">
                  <c:v>3</c:v>
                </c:pt>
                <c:pt idx="28">
                  <c:v>2</c:v>
                </c:pt>
                <c:pt idx="29">
                  <c:v>0</c:v>
                </c:pt>
                <c:pt idx="30">
                  <c:v>0</c:v>
                </c:pt>
                <c:pt idx="31">
                  <c:v>3</c:v>
                </c:pt>
                <c:pt idx="32">
                  <c:v>1</c:v>
                </c:pt>
                <c:pt idx="33">
                  <c:v>2</c:v>
                </c:pt>
                <c:pt idx="34">
                  <c:v>0</c:v>
                </c:pt>
                <c:pt idx="35">
                  <c:v>0</c:v>
                </c:pt>
                <c:pt idx="36">
                  <c:v>0</c:v>
                </c:pt>
              </c:numCache>
            </c:numRef>
          </c:val>
          <c:extLst>
            <c:ext xmlns:c16="http://schemas.microsoft.com/office/drawing/2014/chart" uri="{C3380CC4-5D6E-409C-BE32-E72D297353CC}">
              <c16:uniqueId val="{00000004-1485-469C-9AAA-327EA53D787A}"/>
            </c:ext>
          </c:extLst>
        </c:ser>
        <c:dLbls>
          <c:showLegendKey val="0"/>
          <c:showVal val="0"/>
          <c:showCatName val="0"/>
          <c:showSerName val="0"/>
          <c:showPercent val="0"/>
          <c:showBubbleSize val="0"/>
        </c:dLbls>
        <c:gapWidth val="150"/>
        <c:overlap val="100"/>
        <c:axId val="584938064"/>
        <c:axId val="584930864"/>
      </c:barChart>
      <c:catAx>
        <c:axId val="5849380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4930864"/>
        <c:crosses val="autoZero"/>
        <c:auto val="1"/>
        <c:lblAlgn val="ctr"/>
        <c:lblOffset val="100"/>
        <c:noMultiLvlLbl val="0"/>
      </c:catAx>
      <c:valAx>
        <c:axId val="58493086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493806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[Nigerian_Road_Traffic_Crashes_2020_2024.xlsx]Crashes by Region and Season!PivotTable4</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Weather-Related Crashes by State</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'Crashes by Region and Season'!$C$3</c:f>
              <c:strCache>
                <c:ptCount val="1"/>
                <c:pt idx="0">
                  <c:v>Total</c:v>
                </c:pt>
              </c:strCache>
            </c:strRef>
          </c:tx>
          <c:spPr>
            <a:solidFill>
              <a:schemeClr val="dk1">
                <a:tint val="88500"/>
              </a:schemeClr>
            </a:solidFill>
            <a:ln>
              <a:noFill/>
            </a:ln>
            <a:effectLst/>
          </c:spPr>
          <c:invertIfNegative val="0"/>
          <c:cat>
            <c:strRef>
              <c:f>'Crashes by Region and Season'!$B$4:$B$41</c:f>
              <c:strCache>
                <c:ptCount val="37"/>
                <c:pt idx="0">
                  <c:v>Abia</c:v>
                </c:pt>
                <c:pt idx="1">
                  <c:v>Adamawa</c:v>
                </c:pt>
                <c:pt idx="2">
                  <c:v>Akwa Ibom</c:v>
                </c:pt>
                <c:pt idx="3">
                  <c:v>Anambra</c:v>
                </c:pt>
                <c:pt idx="4">
                  <c:v>Bauchi</c:v>
                </c:pt>
                <c:pt idx="5">
                  <c:v>Bayelsa</c:v>
                </c:pt>
                <c:pt idx="6">
                  <c:v>Benue</c:v>
                </c:pt>
                <c:pt idx="7">
                  <c:v>Borno</c:v>
                </c:pt>
                <c:pt idx="8">
                  <c:v>Cross River</c:v>
                </c:pt>
                <c:pt idx="9">
                  <c:v>Delta</c:v>
                </c:pt>
                <c:pt idx="10">
                  <c:v>Ebonyi</c:v>
                </c:pt>
                <c:pt idx="11">
                  <c:v>Edo</c:v>
                </c:pt>
                <c:pt idx="12">
                  <c:v>Ekiti</c:v>
                </c:pt>
                <c:pt idx="13">
                  <c:v>Enugu</c:v>
                </c:pt>
                <c:pt idx="14">
                  <c:v>FCT</c:v>
                </c:pt>
                <c:pt idx="15">
                  <c:v>Gombe</c:v>
                </c:pt>
                <c:pt idx="16">
                  <c:v>Imo</c:v>
                </c:pt>
                <c:pt idx="17">
                  <c:v>Jigawa</c:v>
                </c:pt>
                <c:pt idx="18">
                  <c:v>Kaduna</c:v>
                </c:pt>
                <c:pt idx="19">
                  <c:v>Kano</c:v>
                </c:pt>
                <c:pt idx="20">
                  <c:v>Katsina</c:v>
                </c:pt>
                <c:pt idx="21">
                  <c:v>Kebbi</c:v>
                </c:pt>
                <c:pt idx="22">
                  <c:v>Kogi</c:v>
                </c:pt>
                <c:pt idx="23">
                  <c:v>Kwara</c:v>
                </c:pt>
                <c:pt idx="24">
                  <c:v>Lagos</c:v>
                </c:pt>
                <c:pt idx="25">
                  <c:v>Nasarawa</c:v>
                </c:pt>
                <c:pt idx="26">
                  <c:v>Niger</c:v>
                </c:pt>
                <c:pt idx="27">
                  <c:v>Ogun</c:v>
                </c:pt>
                <c:pt idx="28">
                  <c:v>Ondo</c:v>
                </c:pt>
                <c:pt idx="29">
                  <c:v>Osun</c:v>
                </c:pt>
                <c:pt idx="30">
                  <c:v>Oyo</c:v>
                </c:pt>
                <c:pt idx="31">
                  <c:v>Plateau</c:v>
                </c:pt>
                <c:pt idx="32">
                  <c:v>Rivers</c:v>
                </c:pt>
                <c:pt idx="33">
                  <c:v>Sokoto</c:v>
                </c:pt>
                <c:pt idx="34">
                  <c:v>Taraba</c:v>
                </c:pt>
                <c:pt idx="35">
                  <c:v>Yobe</c:v>
                </c:pt>
                <c:pt idx="36">
                  <c:v>Zamfara</c:v>
                </c:pt>
              </c:strCache>
            </c:strRef>
          </c:cat>
          <c:val>
            <c:numRef>
              <c:f>'Crashes by Region and Season'!$C$4:$C$41</c:f>
              <c:numCache>
                <c:formatCode>General</c:formatCode>
                <c:ptCount val="37"/>
                <c:pt idx="0">
                  <c:v>2</c:v>
                </c:pt>
                <c:pt idx="1">
                  <c:v>0</c:v>
                </c:pt>
                <c:pt idx="2">
                  <c:v>1</c:v>
                </c:pt>
                <c:pt idx="3">
                  <c:v>2</c:v>
                </c:pt>
                <c:pt idx="4">
                  <c:v>2</c:v>
                </c:pt>
                <c:pt idx="5">
                  <c:v>2</c:v>
                </c:pt>
                <c:pt idx="6">
                  <c:v>0</c:v>
                </c:pt>
                <c:pt idx="7">
                  <c:v>0</c:v>
                </c:pt>
                <c:pt idx="8">
                  <c:v>1</c:v>
                </c:pt>
                <c:pt idx="9">
                  <c:v>4</c:v>
                </c:pt>
                <c:pt idx="10">
                  <c:v>0</c:v>
                </c:pt>
                <c:pt idx="11">
                  <c:v>1</c:v>
                </c:pt>
                <c:pt idx="12">
                  <c:v>0</c:v>
                </c:pt>
                <c:pt idx="13">
                  <c:v>0</c:v>
                </c:pt>
                <c:pt idx="14">
                  <c:v>12</c:v>
                </c:pt>
                <c:pt idx="15">
                  <c:v>0</c:v>
                </c:pt>
                <c:pt idx="16">
                  <c:v>1</c:v>
                </c:pt>
                <c:pt idx="17">
                  <c:v>3</c:v>
                </c:pt>
                <c:pt idx="18">
                  <c:v>19</c:v>
                </c:pt>
                <c:pt idx="19">
                  <c:v>1</c:v>
                </c:pt>
                <c:pt idx="20">
                  <c:v>1</c:v>
                </c:pt>
                <c:pt idx="21">
                  <c:v>1</c:v>
                </c:pt>
                <c:pt idx="22">
                  <c:v>9</c:v>
                </c:pt>
                <c:pt idx="23">
                  <c:v>0</c:v>
                </c:pt>
                <c:pt idx="24">
                  <c:v>11</c:v>
                </c:pt>
                <c:pt idx="25">
                  <c:v>4</c:v>
                </c:pt>
                <c:pt idx="26">
                  <c:v>64</c:v>
                </c:pt>
                <c:pt idx="27">
                  <c:v>0</c:v>
                </c:pt>
                <c:pt idx="28">
                  <c:v>5</c:v>
                </c:pt>
                <c:pt idx="29">
                  <c:v>6</c:v>
                </c:pt>
                <c:pt idx="30">
                  <c:v>22</c:v>
                </c:pt>
                <c:pt idx="31">
                  <c:v>3</c:v>
                </c:pt>
                <c:pt idx="32">
                  <c:v>0</c:v>
                </c:pt>
                <c:pt idx="33">
                  <c:v>2</c:v>
                </c:pt>
                <c:pt idx="34">
                  <c:v>5</c:v>
                </c:pt>
                <c:pt idx="35">
                  <c:v>0</c:v>
                </c:pt>
                <c:pt idx="36">
                  <c:v>0</c:v>
                </c:pt>
              </c:numCache>
            </c:numRef>
          </c:val>
          <c:extLst>
            <c:ext xmlns:c16="http://schemas.microsoft.com/office/drawing/2014/chart" uri="{C3380CC4-5D6E-409C-BE32-E72D297353CC}">
              <c16:uniqueId val="{00000000-5074-4460-A057-F4C3F2F39AF2}"/>
            </c:ext>
          </c:extLst>
        </c:ser>
        <c:dLbls>
          <c:showLegendKey val="0"/>
          <c:showVal val="0"/>
          <c:showCatName val="0"/>
          <c:showSerName val="0"/>
          <c:showPercent val="0"/>
          <c:showBubbleSize val="0"/>
        </c:dLbls>
        <c:gapWidth val="182"/>
        <c:axId val="411718240"/>
        <c:axId val="411718600"/>
      </c:barChart>
      <c:catAx>
        <c:axId val="41171824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11718600"/>
        <c:crosses val="autoZero"/>
        <c:auto val="1"/>
        <c:lblAlgn val="ctr"/>
        <c:lblOffset val="100"/>
        <c:noMultiLvlLbl val="0"/>
      </c:catAx>
      <c:valAx>
        <c:axId val="4117186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11718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[Nigerian_Road_Traffic_Crashes_2020_2024.xlsx]Crashes by Region and Season!PivotTable5</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PWR by Quarter</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'Crashes by Region and Season'!$F$3</c:f>
              <c:strCache>
                <c:ptCount val="1"/>
                <c:pt idx="0">
                  <c:v>Total</c:v>
                </c:pt>
              </c:strCache>
            </c:strRef>
          </c:tx>
          <c:spPr>
            <a:ln w="28575" cap="rnd">
              <a:solidFill>
                <a:schemeClr val="dk1">
                  <a:tint val="88500"/>
                </a:schemeClr>
              </a:solidFill>
              <a:round/>
            </a:ln>
            <a:effectLst/>
          </c:spPr>
          <c:marker>
            <c:symbol val="none"/>
          </c:marker>
          <c:cat>
            <c:strRef>
              <c:f>'Crashes by Region and Season'!$E$4:$E$18</c:f>
              <c:strCache>
                <c:ptCount val="14"/>
                <c:pt idx="0">
                  <c:v>Q1 2021</c:v>
                </c:pt>
                <c:pt idx="1">
                  <c:v>Q1 2022</c:v>
                </c:pt>
                <c:pt idx="2">
                  <c:v>Q1 2023</c:v>
                </c:pt>
                <c:pt idx="3">
                  <c:v>Q1 2024</c:v>
                </c:pt>
                <c:pt idx="4">
                  <c:v>Q2 2021</c:v>
                </c:pt>
                <c:pt idx="5">
                  <c:v>Q2 2022</c:v>
                </c:pt>
                <c:pt idx="6">
                  <c:v>Q2 2023</c:v>
                </c:pt>
                <c:pt idx="7">
                  <c:v>Q3 2021</c:v>
                </c:pt>
                <c:pt idx="8">
                  <c:v>Q3 2022</c:v>
                </c:pt>
                <c:pt idx="9">
                  <c:v>Q3 2023</c:v>
                </c:pt>
                <c:pt idx="10">
                  <c:v>Q4 2020</c:v>
                </c:pt>
                <c:pt idx="11">
                  <c:v>Q4 2021</c:v>
                </c:pt>
                <c:pt idx="12">
                  <c:v>Q4 2022</c:v>
                </c:pt>
                <c:pt idx="13">
                  <c:v>Q4 2023</c:v>
                </c:pt>
              </c:strCache>
            </c:strRef>
          </c:cat>
          <c:val>
            <c:numRef>
              <c:f>'Crashes by Region and Season'!$F$4:$F$18</c:f>
              <c:numCache>
                <c:formatCode>General</c:formatCode>
                <c:ptCount val="14"/>
                <c:pt idx="0">
                  <c:v>3</c:v>
                </c:pt>
                <c:pt idx="1">
                  <c:v>42</c:v>
                </c:pt>
                <c:pt idx="2">
                  <c:v>3</c:v>
                </c:pt>
                <c:pt idx="3">
                  <c:v>3</c:v>
                </c:pt>
                <c:pt idx="4">
                  <c:v>0</c:v>
                </c:pt>
                <c:pt idx="5">
                  <c:v>22</c:v>
                </c:pt>
                <c:pt idx="6">
                  <c:v>5</c:v>
                </c:pt>
                <c:pt idx="7">
                  <c:v>38</c:v>
                </c:pt>
                <c:pt idx="8">
                  <c:v>31</c:v>
                </c:pt>
                <c:pt idx="9">
                  <c:v>4</c:v>
                </c:pt>
                <c:pt idx="10">
                  <c:v>0</c:v>
                </c:pt>
                <c:pt idx="11">
                  <c:v>22</c:v>
                </c:pt>
                <c:pt idx="12">
                  <c:v>2</c:v>
                </c:pt>
                <c:pt idx="13">
                  <c:v>9</c:v>
                </c:pt>
              </c:numCache>
            </c:numRef>
          </c:val>
          <c:smooth val="0"/>
          <c:extLst>
            <c:ext xmlns:c16="http://schemas.microsoft.com/office/drawing/2014/chart" uri="{C3380CC4-5D6E-409C-BE32-E72D297353CC}">
              <c16:uniqueId val="{00000000-FBEF-4AF8-879C-90057A1B9C7E}"/>
            </c:ext>
          </c:extLst>
        </c:ser>
        <c:dLbls>
          <c:showLegendKey val="0"/>
          <c:showVal val="0"/>
          <c:showCatName val="0"/>
          <c:showSerName val="0"/>
          <c:showPercent val="0"/>
          <c:showBubbleSize val="0"/>
        </c:dLbls>
        <c:smooth val="0"/>
        <c:axId val="585720088"/>
        <c:axId val="585720808"/>
      </c:lineChart>
      <c:catAx>
        <c:axId val="585720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5720808"/>
        <c:crosses val="autoZero"/>
        <c:auto val="1"/>
        <c:lblAlgn val="ctr"/>
        <c:lblOffset val="100"/>
        <c:noMultiLvlLbl val="0"/>
      </c:catAx>
      <c:valAx>
        <c:axId val="585720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57200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National Distribution of Road Traffic Crash Causes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dk1">
                <a:tint val="88500"/>
              </a:schemeClr>
            </a:solidFill>
            <a:ln>
              <a:noFill/>
            </a:ln>
            <a:effectLst/>
          </c:spPr>
          <c:invertIfNegative val="0"/>
          <c:cat>
            <c:strRef>
              <c:f>'Road Traffic Crash Causes'!$A$1:$A$6</c:f>
              <c:strCache>
                <c:ptCount val="6"/>
                <c:pt idx="0">
                  <c:v>Crash Cause</c:v>
                </c:pt>
                <c:pt idx="1">
                  <c:v>Speed Violation (SPV)</c:v>
                </c:pt>
                <c:pt idx="2">
                  <c:v>Other Factors</c:v>
                </c:pt>
                <c:pt idx="3">
                  <c:v>Fatigue (FTQ)</c:v>
                </c:pt>
                <c:pt idx="4">
                  <c:v>Poor Weather (PWR)</c:v>
                </c:pt>
                <c:pt idx="5">
                  <c:v>Driving Under the Influence (DAD)</c:v>
                </c:pt>
              </c:strCache>
            </c:strRef>
          </c:cat>
          <c:val>
            <c:numRef>
              <c:f>'Road Traffic Crash Causes'!$B$1:$B$6</c:f>
              <c:numCache>
                <c:formatCode>General</c:formatCode>
                <c:ptCount val="6"/>
                <c:pt idx="0">
                  <c:v>0</c:v>
                </c:pt>
                <c:pt idx="1">
                  <c:v>19634</c:v>
                </c:pt>
                <c:pt idx="2">
                  <c:v>19914</c:v>
                </c:pt>
                <c:pt idx="3">
                  <c:v>12341</c:v>
                </c:pt>
                <c:pt idx="4">
                  <c:v>184</c:v>
                </c:pt>
                <c:pt idx="5">
                  <c:v>73</c:v>
                </c:pt>
              </c:numCache>
            </c:numRef>
          </c:val>
          <c:extLst>
            <c:ext xmlns:c16="http://schemas.microsoft.com/office/drawing/2014/chart" uri="{C3380CC4-5D6E-409C-BE32-E72D297353CC}">
              <c16:uniqueId val="{00000000-E1BA-4CF1-90D1-9D67DF0F2073}"/>
            </c:ext>
          </c:extLst>
        </c:ser>
        <c:ser>
          <c:idx val="1"/>
          <c:order val="1"/>
          <c:spPr>
            <a:solidFill>
              <a:schemeClr val="dk1">
                <a:tint val="55000"/>
              </a:schemeClr>
            </a:solidFill>
            <a:ln>
              <a:noFill/>
            </a:ln>
            <a:effectLst/>
          </c:spPr>
          <c:invertIfNegative val="0"/>
          <c:cat>
            <c:strRef>
              <c:f>'Road Traffic Crash Causes'!$A$1:$A$6</c:f>
              <c:strCache>
                <c:ptCount val="6"/>
                <c:pt idx="0">
                  <c:v>Crash Cause</c:v>
                </c:pt>
                <c:pt idx="1">
                  <c:v>Speed Violation (SPV)</c:v>
                </c:pt>
                <c:pt idx="2">
                  <c:v>Other Factors</c:v>
                </c:pt>
                <c:pt idx="3">
                  <c:v>Fatigue (FTQ)</c:v>
                </c:pt>
                <c:pt idx="4">
                  <c:v>Poor Weather (PWR)</c:v>
                </c:pt>
                <c:pt idx="5">
                  <c:v>Driving Under the Influence (DAD)</c:v>
                </c:pt>
              </c:strCache>
            </c:strRef>
          </c:cat>
          <c:val>
            <c:numRef>
              <c:f>'Road Traffic Crash Causes'!$C$1:$C$6</c:f>
              <c:numCache>
                <c:formatCode>General</c:formatCode>
                <c:ptCount val="6"/>
              </c:numCache>
            </c:numRef>
          </c:val>
          <c:extLst>
            <c:ext xmlns:c16="http://schemas.microsoft.com/office/drawing/2014/chart" uri="{C3380CC4-5D6E-409C-BE32-E72D297353CC}">
              <c16:uniqueId val="{00000001-E1BA-4CF1-90D1-9D67DF0F2073}"/>
            </c:ext>
          </c:extLst>
        </c:ser>
        <c:dLbls>
          <c:showLegendKey val="0"/>
          <c:showVal val="0"/>
          <c:showCatName val="0"/>
          <c:showSerName val="0"/>
          <c:showPercent val="0"/>
          <c:showBubbleSize val="0"/>
        </c:dLbls>
        <c:gapWidth val="182"/>
        <c:axId val="574613264"/>
        <c:axId val="574615728"/>
      </c:barChart>
      <c:catAx>
        <c:axId val="5746132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4615728"/>
        <c:crosses val="autoZero"/>
        <c:auto val="1"/>
        <c:lblAlgn val="ctr"/>
        <c:lblOffset val="100"/>
        <c:noMultiLvlLbl val="0"/>
      </c:catAx>
      <c:valAx>
        <c:axId val="5746157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46132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[Nigerian_Road_Traffic_Crashes_2020_2024.xlsx]Trends in Total Crashes and Fat!PivotTable4</c:name>
    <c:fmtId val="2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Trends in Total Crashes and Fatalities Over 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dk1">
              <a:tint val="885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'Trends in Total Crashes and Fat'!$C$3</c:f>
              <c:strCache>
                <c:ptCount val="1"/>
                <c:pt idx="0">
                  <c:v>Total Crash</c:v>
                </c:pt>
              </c:strCache>
            </c:strRef>
          </c:tx>
          <c:spPr>
            <a:ln w="28575" cap="rnd">
              <a:solidFill>
                <a:schemeClr val="dk1">
                  <a:tint val="88500"/>
                </a:schemeClr>
              </a:solidFill>
              <a:round/>
            </a:ln>
            <a:effectLst/>
          </c:spPr>
          <c:marker>
            <c:symbol val="none"/>
          </c:marker>
          <c:cat>
            <c:strRef>
              <c:f>'Trends in Total Crashes and Fat'!$B$4:$B$17</c:f>
              <c:strCache>
                <c:ptCount val="13"/>
                <c:pt idx="0">
                  <c:v>Q1 2021</c:v>
                </c:pt>
                <c:pt idx="1">
                  <c:v>Q1 2022</c:v>
                </c:pt>
                <c:pt idx="2">
                  <c:v>Q1 2023</c:v>
                </c:pt>
                <c:pt idx="3">
                  <c:v>Q1 2024</c:v>
                </c:pt>
                <c:pt idx="4">
                  <c:v>Q2 2021</c:v>
                </c:pt>
                <c:pt idx="5">
                  <c:v>Q2 2022</c:v>
                </c:pt>
                <c:pt idx="6">
                  <c:v>Q2 2023</c:v>
                </c:pt>
                <c:pt idx="7">
                  <c:v>Q3 2021</c:v>
                </c:pt>
                <c:pt idx="8">
                  <c:v>Q3 2023</c:v>
                </c:pt>
                <c:pt idx="9">
                  <c:v>Q4 2020</c:v>
                </c:pt>
                <c:pt idx="10">
                  <c:v>Q4 2021</c:v>
                </c:pt>
                <c:pt idx="11">
                  <c:v>Q4 2022</c:v>
                </c:pt>
                <c:pt idx="12">
                  <c:v>Q4 2023</c:v>
                </c:pt>
              </c:strCache>
            </c:strRef>
          </c:cat>
          <c:val>
            <c:numRef>
              <c:f>'Trends in Total Crashes and Fat'!$C$4:$C$17</c:f>
              <c:numCache>
                <c:formatCode>General</c:formatCode>
                <c:ptCount val="13"/>
                <c:pt idx="0">
                  <c:v>3301</c:v>
                </c:pt>
                <c:pt idx="1">
                  <c:v>3345</c:v>
                </c:pt>
                <c:pt idx="2">
                  <c:v>2733</c:v>
                </c:pt>
                <c:pt idx="3">
                  <c:v>2662</c:v>
                </c:pt>
                <c:pt idx="4">
                  <c:v>3185</c:v>
                </c:pt>
                <c:pt idx="5">
                  <c:v>3282</c:v>
                </c:pt>
                <c:pt idx="6">
                  <c:v>2967</c:v>
                </c:pt>
                <c:pt idx="7">
                  <c:v>3134</c:v>
                </c:pt>
                <c:pt idx="8">
                  <c:v>2187</c:v>
                </c:pt>
                <c:pt idx="9">
                  <c:v>3313</c:v>
                </c:pt>
                <c:pt idx="10">
                  <c:v>3407</c:v>
                </c:pt>
                <c:pt idx="11">
                  <c:v>3617</c:v>
                </c:pt>
                <c:pt idx="12">
                  <c:v>2717</c:v>
                </c:pt>
              </c:numCache>
            </c:numRef>
          </c:val>
          <c:smooth val="0"/>
          <c:extLst>
            <c:ext xmlns:c16="http://schemas.microsoft.com/office/drawing/2014/chart" uri="{C3380CC4-5D6E-409C-BE32-E72D297353CC}">
              <c16:uniqueId val="{00000000-5CFD-4782-8D8C-39A3EFDD827F}"/>
            </c:ext>
          </c:extLst>
        </c:ser>
        <c:ser>
          <c:idx val="1"/>
          <c:order val="1"/>
          <c:tx>
            <c:strRef>
              <c:f>'Trends in Total Crashes and Fat'!$D$3</c:f>
              <c:strCache>
                <c:ptCount val="1"/>
                <c:pt idx="0">
                  <c:v>Fatalities</c:v>
                </c:pt>
              </c:strCache>
            </c:strRef>
          </c:tx>
          <c:spPr>
            <a:ln w="28575" cap="rnd">
              <a:solidFill>
                <a:schemeClr val="dk1">
                  <a:tint val="55000"/>
                </a:schemeClr>
              </a:solidFill>
              <a:round/>
            </a:ln>
            <a:effectLst/>
          </c:spPr>
          <c:marker>
            <c:symbol val="none"/>
          </c:marker>
          <c:cat>
            <c:strRef>
              <c:f>'Trends in Total Crashes and Fat'!$B$4:$B$17</c:f>
              <c:strCache>
                <c:ptCount val="13"/>
                <c:pt idx="0">
                  <c:v>Q1 2021</c:v>
                </c:pt>
                <c:pt idx="1">
                  <c:v>Q1 2022</c:v>
                </c:pt>
                <c:pt idx="2">
                  <c:v>Q1 2023</c:v>
                </c:pt>
                <c:pt idx="3">
                  <c:v>Q1 2024</c:v>
                </c:pt>
                <c:pt idx="4">
                  <c:v>Q2 2021</c:v>
                </c:pt>
                <c:pt idx="5">
                  <c:v>Q2 2022</c:v>
                </c:pt>
                <c:pt idx="6">
                  <c:v>Q2 2023</c:v>
                </c:pt>
                <c:pt idx="7">
                  <c:v>Q3 2021</c:v>
                </c:pt>
                <c:pt idx="8">
                  <c:v>Q3 2023</c:v>
                </c:pt>
                <c:pt idx="9">
                  <c:v>Q4 2020</c:v>
                </c:pt>
                <c:pt idx="10">
                  <c:v>Q4 2021</c:v>
                </c:pt>
                <c:pt idx="11">
                  <c:v>Q4 2022</c:v>
                </c:pt>
                <c:pt idx="12">
                  <c:v>Q4 2023</c:v>
                </c:pt>
              </c:strCache>
            </c:strRef>
          </c:cat>
          <c:val>
            <c:numRef>
              <c:f>'Trends in Total Crashes and Fat'!$D$4:$D$17</c:f>
              <c:numCache>
                <c:formatCode>General</c:formatCode>
                <c:ptCount val="13"/>
                <c:pt idx="0">
                  <c:v>1668</c:v>
                </c:pt>
                <c:pt idx="1">
                  <c:v>1834</c:v>
                </c:pt>
                <c:pt idx="2">
                  <c:v>1441</c:v>
                </c:pt>
                <c:pt idx="3">
                  <c:v>1471</c:v>
                </c:pt>
                <c:pt idx="4">
                  <c:v>1453</c:v>
                </c:pt>
                <c:pt idx="5">
                  <c:v>1538</c:v>
                </c:pt>
                <c:pt idx="6">
                  <c:v>1409</c:v>
                </c:pt>
                <c:pt idx="7">
                  <c:v>1432</c:v>
                </c:pt>
                <c:pt idx="8">
                  <c:v>908</c:v>
                </c:pt>
                <c:pt idx="9">
                  <c:v>1818</c:v>
                </c:pt>
                <c:pt idx="10">
                  <c:v>1652</c:v>
                </c:pt>
                <c:pt idx="11">
                  <c:v>1608</c:v>
                </c:pt>
                <c:pt idx="12">
                  <c:v>1323</c:v>
                </c:pt>
              </c:numCache>
            </c:numRef>
          </c:val>
          <c:smooth val="0"/>
          <c:extLst>
            <c:ext xmlns:c16="http://schemas.microsoft.com/office/drawing/2014/chart" uri="{C3380CC4-5D6E-409C-BE32-E72D297353CC}">
              <c16:uniqueId val="{00000001-5CFD-4782-8D8C-39A3EFDD827F}"/>
            </c:ext>
          </c:extLst>
        </c:ser>
        <c:dLbls>
          <c:showLegendKey val="0"/>
          <c:showVal val="0"/>
          <c:showCatName val="0"/>
          <c:showSerName val="0"/>
          <c:showPercent val="0"/>
          <c:showBubbleSize val="0"/>
        </c:dLbls>
        <c:smooth val="0"/>
        <c:axId val="486318832"/>
        <c:axId val="486319184"/>
      </c:lineChart>
      <c:catAx>
        <c:axId val="486318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6319184"/>
        <c:crosses val="autoZero"/>
        <c:auto val="1"/>
        <c:lblAlgn val="ctr"/>
        <c:lblOffset val="100"/>
        <c:noMultiLvlLbl val="0"/>
      </c:catAx>
      <c:valAx>
        <c:axId val="4863191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631883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5.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6.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7.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8.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9.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0.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5659B-C5BB-913D-BDA0-063F5FD797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21C50E-2249-E8F9-5848-8BBE75CB16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8F0701-87C2-B191-DB77-BEB304F96378}"/>
              </a:ext>
            </a:extLst>
          </p:cNvPr>
          <p:cNvSpPr>
            <a:spLocks noGrp="1"/>
          </p:cNvSpPr>
          <p:nvPr>
            <p:ph type="dt" sz="half" idx="10"/>
          </p:nvPr>
        </p:nvSpPr>
        <p:spPr/>
        <p:txBody>
          <a:bodyPr/>
          <a:lstStyle/>
          <a:p>
            <a:fld id="{60008343-3B3F-4A07-B9B7-0FEB332EC3B0}" type="datetimeFigureOut">
              <a:rPr lang="en-US" smtClean="0"/>
              <a:t>7/24/2026</a:t>
            </a:fld>
            <a:endParaRPr lang="en-US"/>
          </a:p>
        </p:txBody>
      </p:sp>
      <p:sp>
        <p:nvSpPr>
          <p:cNvPr id="5" name="Footer Placeholder 4">
            <a:extLst>
              <a:ext uri="{FF2B5EF4-FFF2-40B4-BE49-F238E27FC236}">
                <a16:creationId xmlns:a16="http://schemas.microsoft.com/office/drawing/2014/main" id="{B02DD269-79CF-F9AB-0ADA-462D0A1A1E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565092-52AE-D042-D7FD-3E2038206E58}"/>
              </a:ext>
            </a:extLst>
          </p:cNvPr>
          <p:cNvSpPr>
            <a:spLocks noGrp="1"/>
          </p:cNvSpPr>
          <p:nvPr>
            <p:ph type="sldNum" sz="quarter" idx="12"/>
          </p:nvPr>
        </p:nvSpPr>
        <p:spPr/>
        <p:txBody>
          <a:bodyPr/>
          <a:lstStyle/>
          <a:p>
            <a:fld id="{5A8DED93-0917-4B02-B636-B000F86E3877}" type="slidenum">
              <a:rPr lang="en-US" smtClean="0"/>
              <a:t>‹#›</a:t>
            </a:fld>
            <a:endParaRPr lang="en-US"/>
          </a:p>
        </p:txBody>
      </p:sp>
    </p:spTree>
    <p:extLst>
      <p:ext uri="{BB962C8B-B14F-4D97-AF65-F5344CB8AC3E}">
        <p14:creationId xmlns:p14="http://schemas.microsoft.com/office/powerpoint/2010/main" val="1229307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377F3-AF51-C823-570C-AFC884E7E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5A1B23-EF68-146B-06B6-BC2FC11481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4AC8EC-5885-1188-92F7-80637D6C61FE}"/>
              </a:ext>
            </a:extLst>
          </p:cNvPr>
          <p:cNvSpPr>
            <a:spLocks noGrp="1"/>
          </p:cNvSpPr>
          <p:nvPr>
            <p:ph type="dt" sz="half" idx="10"/>
          </p:nvPr>
        </p:nvSpPr>
        <p:spPr/>
        <p:txBody>
          <a:bodyPr/>
          <a:lstStyle/>
          <a:p>
            <a:fld id="{60008343-3B3F-4A07-B9B7-0FEB332EC3B0}" type="datetimeFigureOut">
              <a:rPr lang="en-US" smtClean="0"/>
              <a:t>7/24/2026</a:t>
            </a:fld>
            <a:endParaRPr lang="en-US"/>
          </a:p>
        </p:txBody>
      </p:sp>
      <p:sp>
        <p:nvSpPr>
          <p:cNvPr id="5" name="Footer Placeholder 4">
            <a:extLst>
              <a:ext uri="{FF2B5EF4-FFF2-40B4-BE49-F238E27FC236}">
                <a16:creationId xmlns:a16="http://schemas.microsoft.com/office/drawing/2014/main" id="{5B5797F3-F70D-1C3E-95F8-C667FDD074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99D292-2BF5-94FA-815E-438B05AF248C}"/>
              </a:ext>
            </a:extLst>
          </p:cNvPr>
          <p:cNvSpPr>
            <a:spLocks noGrp="1"/>
          </p:cNvSpPr>
          <p:nvPr>
            <p:ph type="sldNum" sz="quarter" idx="12"/>
          </p:nvPr>
        </p:nvSpPr>
        <p:spPr/>
        <p:txBody>
          <a:bodyPr/>
          <a:lstStyle/>
          <a:p>
            <a:fld id="{5A8DED93-0917-4B02-B636-B000F86E3877}" type="slidenum">
              <a:rPr lang="en-US" smtClean="0"/>
              <a:t>‹#›</a:t>
            </a:fld>
            <a:endParaRPr lang="en-US"/>
          </a:p>
        </p:txBody>
      </p:sp>
    </p:spTree>
    <p:extLst>
      <p:ext uri="{BB962C8B-B14F-4D97-AF65-F5344CB8AC3E}">
        <p14:creationId xmlns:p14="http://schemas.microsoft.com/office/powerpoint/2010/main" val="3523444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54AA3-E651-18E8-AF36-9FE24714F1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9040BFF-9A94-1D46-B771-CC20E9AD55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9D587E-6CEB-EB73-53C4-E1563AF233B7}"/>
              </a:ext>
            </a:extLst>
          </p:cNvPr>
          <p:cNvSpPr>
            <a:spLocks noGrp="1"/>
          </p:cNvSpPr>
          <p:nvPr>
            <p:ph type="dt" sz="half" idx="10"/>
          </p:nvPr>
        </p:nvSpPr>
        <p:spPr/>
        <p:txBody>
          <a:bodyPr/>
          <a:lstStyle/>
          <a:p>
            <a:fld id="{60008343-3B3F-4A07-B9B7-0FEB332EC3B0}" type="datetimeFigureOut">
              <a:rPr lang="en-US" smtClean="0"/>
              <a:t>7/24/2026</a:t>
            </a:fld>
            <a:endParaRPr lang="en-US"/>
          </a:p>
        </p:txBody>
      </p:sp>
      <p:sp>
        <p:nvSpPr>
          <p:cNvPr id="5" name="Footer Placeholder 4">
            <a:extLst>
              <a:ext uri="{FF2B5EF4-FFF2-40B4-BE49-F238E27FC236}">
                <a16:creationId xmlns:a16="http://schemas.microsoft.com/office/drawing/2014/main" id="{B9A481B9-4F00-0604-1BB9-629C4074EC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5DC515-E45A-7934-EBA0-F8E3B496816A}"/>
              </a:ext>
            </a:extLst>
          </p:cNvPr>
          <p:cNvSpPr>
            <a:spLocks noGrp="1"/>
          </p:cNvSpPr>
          <p:nvPr>
            <p:ph type="sldNum" sz="quarter" idx="12"/>
          </p:nvPr>
        </p:nvSpPr>
        <p:spPr/>
        <p:txBody>
          <a:bodyPr/>
          <a:lstStyle/>
          <a:p>
            <a:fld id="{5A8DED93-0917-4B02-B636-B000F86E3877}" type="slidenum">
              <a:rPr lang="en-US" smtClean="0"/>
              <a:t>‹#›</a:t>
            </a:fld>
            <a:endParaRPr lang="en-US"/>
          </a:p>
        </p:txBody>
      </p:sp>
    </p:spTree>
    <p:extLst>
      <p:ext uri="{BB962C8B-B14F-4D97-AF65-F5344CB8AC3E}">
        <p14:creationId xmlns:p14="http://schemas.microsoft.com/office/powerpoint/2010/main" val="708224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ECC2E-5E63-703C-45EB-AD8B9078CB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4E8A26-CFBE-2F1B-6CCB-5178FB6C8C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A1E7D1-BD61-3BA3-07AC-073CF1807A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116F128-54D3-596C-0E77-2AEFC6A810A1}"/>
              </a:ext>
            </a:extLst>
          </p:cNvPr>
          <p:cNvSpPr>
            <a:spLocks noGrp="1"/>
          </p:cNvSpPr>
          <p:nvPr>
            <p:ph type="dt" sz="half" idx="10"/>
          </p:nvPr>
        </p:nvSpPr>
        <p:spPr/>
        <p:txBody>
          <a:bodyPr/>
          <a:lstStyle/>
          <a:p>
            <a:fld id="{60008343-3B3F-4A07-B9B7-0FEB332EC3B0}" type="datetimeFigureOut">
              <a:rPr lang="en-US" smtClean="0"/>
              <a:t>7/24/2026</a:t>
            </a:fld>
            <a:endParaRPr lang="en-US"/>
          </a:p>
        </p:txBody>
      </p:sp>
      <p:sp>
        <p:nvSpPr>
          <p:cNvPr id="6" name="Footer Placeholder 5">
            <a:extLst>
              <a:ext uri="{FF2B5EF4-FFF2-40B4-BE49-F238E27FC236}">
                <a16:creationId xmlns:a16="http://schemas.microsoft.com/office/drawing/2014/main" id="{E597DBAB-8D13-AB95-8C87-AD174CFABC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DBAEA1-8514-19D6-58C6-CC0C554C62D1}"/>
              </a:ext>
            </a:extLst>
          </p:cNvPr>
          <p:cNvSpPr>
            <a:spLocks noGrp="1"/>
          </p:cNvSpPr>
          <p:nvPr>
            <p:ph type="sldNum" sz="quarter" idx="12"/>
          </p:nvPr>
        </p:nvSpPr>
        <p:spPr/>
        <p:txBody>
          <a:bodyPr/>
          <a:lstStyle/>
          <a:p>
            <a:fld id="{5A8DED93-0917-4B02-B636-B000F86E3877}" type="slidenum">
              <a:rPr lang="en-US" smtClean="0"/>
              <a:t>‹#›</a:t>
            </a:fld>
            <a:endParaRPr lang="en-US"/>
          </a:p>
        </p:txBody>
      </p:sp>
    </p:spTree>
    <p:extLst>
      <p:ext uri="{BB962C8B-B14F-4D97-AF65-F5344CB8AC3E}">
        <p14:creationId xmlns:p14="http://schemas.microsoft.com/office/powerpoint/2010/main" val="1005927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C649C-1C7B-78FA-37ED-51D9589CA0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F06524B-03E0-68D2-F776-B34F2B6F6C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5A42D5-E712-44B8-2911-1D2A1C2619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58754B-B83F-3BCE-A7CB-634FFE9AB3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44A967-2A96-40DB-9428-BBAFD6BBBE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C63AE5-B339-FFB6-A91C-06003E9D77D5}"/>
              </a:ext>
            </a:extLst>
          </p:cNvPr>
          <p:cNvSpPr>
            <a:spLocks noGrp="1"/>
          </p:cNvSpPr>
          <p:nvPr>
            <p:ph type="dt" sz="half" idx="10"/>
          </p:nvPr>
        </p:nvSpPr>
        <p:spPr/>
        <p:txBody>
          <a:bodyPr/>
          <a:lstStyle/>
          <a:p>
            <a:fld id="{60008343-3B3F-4A07-B9B7-0FEB332EC3B0}" type="datetimeFigureOut">
              <a:rPr lang="en-US" smtClean="0"/>
              <a:t>7/24/2026</a:t>
            </a:fld>
            <a:endParaRPr lang="en-US"/>
          </a:p>
        </p:txBody>
      </p:sp>
      <p:sp>
        <p:nvSpPr>
          <p:cNvPr id="8" name="Footer Placeholder 7">
            <a:extLst>
              <a:ext uri="{FF2B5EF4-FFF2-40B4-BE49-F238E27FC236}">
                <a16:creationId xmlns:a16="http://schemas.microsoft.com/office/drawing/2014/main" id="{53C6439C-E625-126E-8958-3BAD00634A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FCF0ED-600F-E223-9357-D47838F2FFFB}"/>
              </a:ext>
            </a:extLst>
          </p:cNvPr>
          <p:cNvSpPr>
            <a:spLocks noGrp="1"/>
          </p:cNvSpPr>
          <p:nvPr>
            <p:ph type="sldNum" sz="quarter" idx="12"/>
          </p:nvPr>
        </p:nvSpPr>
        <p:spPr/>
        <p:txBody>
          <a:bodyPr/>
          <a:lstStyle/>
          <a:p>
            <a:fld id="{5A8DED93-0917-4B02-B636-B000F86E3877}" type="slidenum">
              <a:rPr lang="en-US" smtClean="0"/>
              <a:t>‹#›</a:t>
            </a:fld>
            <a:endParaRPr lang="en-US"/>
          </a:p>
        </p:txBody>
      </p:sp>
    </p:spTree>
    <p:extLst>
      <p:ext uri="{BB962C8B-B14F-4D97-AF65-F5344CB8AC3E}">
        <p14:creationId xmlns:p14="http://schemas.microsoft.com/office/powerpoint/2010/main" val="3096550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5776-B382-BB48-31D4-630F133D26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7A6C66-F709-8EC7-A858-1DDBCB77DF6C}"/>
              </a:ext>
            </a:extLst>
          </p:cNvPr>
          <p:cNvSpPr>
            <a:spLocks noGrp="1"/>
          </p:cNvSpPr>
          <p:nvPr>
            <p:ph type="dt" sz="half" idx="10"/>
          </p:nvPr>
        </p:nvSpPr>
        <p:spPr/>
        <p:txBody>
          <a:bodyPr/>
          <a:lstStyle/>
          <a:p>
            <a:fld id="{60008343-3B3F-4A07-B9B7-0FEB332EC3B0}" type="datetimeFigureOut">
              <a:rPr lang="en-US" smtClean="0"/>
              <a:t>7/24/2026</a:t>
            </a:fld>
            <a:endParaRPr lang="en-US"/>
          </a:p>
        </p:txBody>
      </p:sp>
      <p:sp>
        <p:nvSpPr>
          <p:cNvPr id="4" name="Footer Placeholder 3">
            <a:extLst>
              <a:ext uri="{FF2B5EF4-FFF2-40B4-BE49-F238E27FC236}">
                <a16:creationId xmlns:a16="http://schemas.microsoft.com/office/drawing/2014/main" id="{0B9CE637-E193-9E28-18B2-B64EEFAE48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34FA46-EFE2-796E-8062-B326A9CC2B78}"/>
              </a:ext>
            </a:extLst>
          </p:cNvPr>
          <p:cNvSpPr>
            <a:spLocks noGrp="1"/>
          </p:cNvSpPr>
          <p:nvPr>
            <p:ph type="sldNum" sz="quarter" idx="12"/>
          </p:nvPr>
        </p:nvSpPr>
        <p:spPr/>
        <p:txBody>
          <a:bodyPr/>
          <a:lstStyle/>
          <a:p>
            <a:fld id="{5A8DED93-0917-4B02-B636-B000F86E3877}" type="slidenum">
              <a:rPr lang="en-US" smtClean="0"/>
              <a:t>‹#›</a:t>
            </a:fld>
            <a:endParaRPr lang="en-US"/>
          </a:p>
        </p:txBody>
      </p:sp>
    </p:spTree>
    <p:extLst>
      <p:ext uri="{BB962C8B-B14F-4D97-AF65-F5344CB8AC3E}">
        <p14:creationId xmlns:p14="http://schemas.microsoft.com/office/powerpoint/2010/main" val="2027015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069F25-04D4-0EDC-5A0E-62980E8B220A}"/>
              </a:ext>
            </a:extLst>
          </p:cNvPr>
          <p:cNvSpPr>
            <a:spLocks noGrp="1"/>
          </p:cNvSpPr>
          <p:nvPr>
            <p:ph type="dt" sz="half" idx="10"/>
          </p:nvPr>
        </p:nvSpPr>
        <p:spPr/>
        <p:txBody>
          <a:bodyPr/>
          <a:lstStyle/>
          <a:p>
            <a:fld id="{60008343-3B3F-4A07-B9B7-0FEB332EC3B0}" type="datetimeFigureOut">
              <a:rPr lang="en-US" smtClean="0"/>
              <a:t>7/24/2026</a:t>
            </a:fld>
            <a:endParaRPr lang="en-US"/>
          </a:p>
        </p:txBody>
      </p:sp>
      <p:sp>
        <p:nvSpPr>
          <p:cNvPr id="3" name="Footer Placeholder 2">
            <a:extLst>
              <a:ext uri="{FF2B5EF4-FFF2-40B4-BE49-F238E27FC236}">
                <a16:creationId xmlns:a16="http://schemas.microsoft.com/office/drawing/2014/main" id="{5AD264AD-1A90-AB59-2AAF-208A8CFB86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E7F054-9A2D-9D3E-B41A-9A0A5B92CFEA}"/>
              </a:ext>
            </a:extLst>
          </p:cNvPr>
          <p:cNvSpPr>
            <a:spLocks noGrp="1"/>
          </p:cNvSpPr>
          <p:nvPr>
            <p:ph type="sldNum" sz="quarter" idx="12"/>
          </p:nvPr>
        </p:nvSpPr>
        <p:spPr/>
        <p:txBody>
          <a:bodyPr/>
          <a:lstStyle/>
          <a:p>
            <a:fld id="{5A8DED93-0917-4B02-B636-B000F86E3877}" type="slidenum">
              <a:rPr lang="en-US" smtClean="0"/>
              <a:t>‹#›</a:t>
            </a:fld>
            <a:endParaRPr lang="en-US"/>
          </a:p>
        </p:txBody>
      </p:sp>
    </p:spTree>
    <p:extLst>
      <p:ext uri="{BB962C8B-B14F-4D97-AF65-F5344CB8AC3E}">
        <p14:creationId xmlns:p14="http://schemas.microsoft.com/office/powerpoint/2010/main" val="3035082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FBB0C-C02C-5E84-673B-8641DA0D00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44BC01-33A1-78F2-0BB1-A9ADBB8A2C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0745FA-F966-BB31-C9E8-5424961DB1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AFD619-4308-9C41-CE47-72AFCEF869FF}"/>
              </a:ext>
            </a:extLst>
          </p:cNvPr>
          <p:cNvSpPr>
            <a:spLocks noGrp="1"/>
          </p:cNvSpPr>
          <p:nvPr>
            <p:ph type="dt" sz="half" idx="10"/>
          </p:nvPr>
        </p:nvSpPr>
        <p:spPr/>
        <p:txBody>
          <a:bodyPr/>
          <a:lstStyle/>
          <a:p>
            <a:fld id="{60008343-3B3F-4A07-B9B7-0FEB332EC3B0}" type="datetimeFigureOut">
              <a:rPr lang="en-US" smtClean="0"/>
              <a:t>7/24/2026</a:t>
            </a:fld>
            <a:endParaRPr lang="en-US"/>
          </a:p>
        </p:txBody>
      </p:sp>
      <p:sp>
        <p:nvSpPr>
          <p:cNvPr id="6" name="Footer Placeholder 5">
            <a:extLst>
              <a:ext uri="{FF2B5EF4-FFF2-40B4-BE49-F238E27FC236}">
                <a16:creationId xmlns:a16="http://schemas.microsoft.com/office/drawing/2014/main" id="{3677AF42-373F-4094-888A-1487CE8D91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BEAA81-C800-17D9-E05E-42A1A126BFC9}"/>
              </a:ext>
            </a:extLst>
          </p:cNvPr>
          <p:cNvSpPr>
            <a:spLocks noGrp="1"/>
          </p:cNvSpPr>
          <p:nvPr>
            <p:ph type="sldNum" sz="quarter" idx="12"/>
          </p:nvPr>
        </p:nvSpPr>
        <p:spPr/>
        <p:txBody>
          <a:bodyPr/>
          <a:lstStyle/>
          <a:p>
            <a:fld id="{5A8DED93-0917-4B02-B636-B000F86E3877}" type="slidenum">
              <a:rPr lang="en-US" smtClean="0"/>
              <a:t>‹#›</a:t>
            </a:fld>
            <a:endParaRPr lang="en-US"/>
          </a:p>
        </p:txBody>
      </p:sp>
    </p:spTree>
    <p:extLst>
      <p:ext uri="{BB962C8B-B14F-4D97-AF65-F5344CB8AC3E}">
        <p14:creationId xmlns:p14="http://schemas.microsoft.com/office/powerpoint/2010/main" val="662566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1593-C69C-05F9-F764-6D4A64D870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9F5E3A-4B24-1D77-EE95-9D3801BD91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D3EF5B-D6E4-971D-9904-14B0A1C1BE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05ECD1-DC8E-CA0B-30B9-2F125730F311}"/>
              </a:ext>
            </a:extLst>
          </p:cNvPr>
          <p:cNvSpPr>
            <a:spLocks noGrp="1"/>
          </p:cNvSpPr>
          <p:nvPr>
            <p:ph type="dt" sz="half" idx="10"/>
          </p:nvPr>
        </p:nvSpPr>
        <p:spPr/>
        <p:txBody>
          <a:bodyPr/>
          <a:lstStyle/>
          <a:p>
            <a:fld id="{60008343-3B3F-4A07-B9B7-0FEB332EC3B0}" type="datetimeFigureOut">
              <a:rPr lang="en-US" smtClean="0"/>
              <a:t>7/24/2026</a:t>
            </a:fld>
            <a:endParaRPr lang="en-US"/>
          </a:p>
        </p:txBody>
      </p:sp>
      <p:sp>
        <p:nvSpPr>
          <p:cNvPr id="6" name="Footer Placeholder 5">
            <a:extLst>
              <a:ext uri="{FF2B5EF4-FFF2-40B4-BE49-F238E27FC236}">
                <a16:creationId xmlns:a16="http://schemas.microsoft.com/office/drawing/2014/main" id="{C8DA50EC-5100-4D04-A502-0629BD3DCD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E8C80C-D1C0-C5C5-6534-A9C5C2F44D32}"/>
              </a:ext>
            </a:extLst>
          </p:cNvPr>
          <p:cNvSpPr>
            <a:spLocks noGrp="1"/>
          </p:cNvSpPr>
          <p:nvPr>
            <p:ph type="sldNum" sz="quarter" idx="12"/>
          </p:nvPr>
        </p:nvSpPr>
        <p:spPr/>
        <p:txBody>
          <a:bodyPr/>
          <a:lstStyle/>
          <a:p>
            <a:fld id="{5A8DED93-0917-4B02-B636-B000F86E3877}" type="slidenum">
              <a:rPr lang="en-US" smtClean="0"/>
              <a:t>‹#›</a:t>
            </a:fld>
            <a:endParaRPr lang="en-US"/>
          </a:p>
        </p:txBody>
      </p:sp>
    </p:spTree>
    <p:extLst>
      <p:ext uri="{BB962C8B-B14F-4D97-AF65-F5344CB8AC3E}">
        <p14:creationId xmlns:p14="http://schemas.microsoft.com/office/powerpoint/2010/main" val="3194849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DA1C-B197-F6DE-8C71-B232CA109D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4A19D6-20A9-E15B-9FD9-40732B2635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2FED86-2E70-4743-1929-4BEAE152D45D}"/>
              </a:ext>
            </a:extLst>
          </p:cNvPr>
          <p:cNvSpPr>
            <a:spLocks noGrp="1"/>
          </p:cNvSpPr>
          <p:nvPr>
            <p:ph type="dt" sz="half" idx="10"/>
          </p:nvPr>
        </p:nvSpPr>
        <p:spPr/>
        <p:txBody>
          <a:bodyPr/>
          <a:lstStyle/>
          <a:p>
            <a:fld id="{60008343-3B3F-4A07-B9B7-0FEB332EC3B0}" type="datetimeFigureOut">
              <a:rPr lang="en-US" smtClean="0"/>
              <a:t>7/24/2026</a:t>
            </a:fld>
            <a:endParaRPr lang="en-US"/>
          </a:p>
        </p:txBody>
      </p:sp>
      <p:sp>
        <p:nvSpPr>
          <p:cNvPr id="5" name="Footer Placeholder 4">
            <a:extLst>
              <a:ext uri="{FF2B5EF4-FFF2-40B4-BE49-F238E27FC236}">
                <a16:creationId xmlns:a16="http://schemas.microsoft.com/office/drawing/2014/main" id="{041F739F-EB1D-0EE7-DD6C-BE3D2783B6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859602-1DFE-7793-93F0-DF20D1D51845}"/>
              </a:ext>
            </a:extLst>
          </p:cNvPr>
          <p:cNvSpPr>
            <a:spLocks noGrp="1"/>
          </p:cNvSpPr>
          <p:nvPr>
            <p:ph type="sldNum" sz="quarter" idx="12"/>
          </p:nvPr>
        </p:nvSpPr>
        <p:spPr/>
        <p:txBody>
          <a:bodyPr/>
          <a:lstStyle/>
          <a:p>
            <a:fld id="{5A8DED93-0917-4B02-B636-B000F86E3877}" type="slidenum">
              <a:rPr lang="en-US" smtClean="0"/>
              <a:t>‹#›</a:t>
            </a:fld>
            <a:endParaRPr lang="en-US"/>
          </a:p>
        </p:txBody>
      </p:sp>
    </p:spTree>
    <p:extLst>
      <p:ext uri="{BB962C8B-B14F-4D97-AF65-F5344CB8AC3E}">
        <p14:creationId xmlns:p14="http://schemas.microsoft.com/office/powerpoint/2010/main" val="2183365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44B1DE-A73E-B94A-8A55-128ACBA4591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3EFC27-4FA2-B96D-5730-6FA7BA54C8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723664-2DC5-EC3A-4184-2B9CDDCDEC15}"/>
              </a:ext>
            </a:extLst>
          </p:cNvPr>
          <p:cNvSpPr>
            <a:spLocks noGrp="1"/>
          </p:cNvSpPr>
          <p:nvPr>
            <p:ph type="dt" sz="half" idx="10"/>
          </p:nvPr>
        </p:nvSpPr>
        <p:spPr/>
        <p:txBody>
          <a:bodyPr/>
          <a:lstStyle/>
          <a:p>
            <a:fld id="{60008343-3B3F-4A07-B9B7-0FEB332EC3B0}" type="datetimeFigureOut">
              <a:rPr lang="en-US" smtClean="0"/>
              <a:t>7/24/2026</a:t>
            </a:fld>
            <a:endParaRPr lang="en-US"/>
          </a:p>
        </p:txBody>
      </p:sp>
      <p:sp>
        <p:nvSpPr>
          <p:cNvPr id="5" name="Footer Placeholder 4">
            <a:extLst>
              <a:ext uri="{FF2B5EF4-FFF2-40B4-BE49-F238E27FC236}">
                <a16:creationId xmlns:a16="http://schemas.microsoft.com/office/drawing/2014/main" id="{B31DA06E-7DBF-79B2-157D-0E3D2E2076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2ADDF5-5981-1043-2013-15EDFAAFAC0C}"/>
              </a:ext>
            </a:extLst>
          </p:cNvPr>
          <p:cNvSpPr>
            <a:spLocks noGrp="1"/>
          </p:cNvSpPr>
          <p:nvPr>
            <p:ph type="sldNum" sz="quarter" idx="12"/>
          </p:nvPr>
        </p:nvSpPr>
        <p:spPr/>
        <p:txBody>
          <a:bodyPr/>
          <a:lstStyle/>
          <a:p>
            <a:fld id="{5A8DED93-0917-4B02-B636-B000F86E3877}" type="slidenum">
              <a:rPr lang="en-US" smtClean="0"/>
              <a:t>‹#›</a:t>
            </a:fld>
            <a:endParaRPr lang="en-US"/>
          </a:p>
        </p:txBody>
      </p:sp>
    </p:spTree>
    <p:extLst>
      <p:ext uri="{BB962C8B-B14F-4D97-AF65-F5344CB8AC3E}">
        <p14:creationId xmlns:p14="http://schemas.microsoft.com/office/powerpoint/2010/main" val="1741727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ADED61-9C0E-0A98-8EF8-F96E18586E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F5BC3B2-63ED-6ABB-E896-CEA38FBC6F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B458CE-34E9-7577-C02D-AEDE71779D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008343-3B3F-4A07-B9B7-0FEB332EC3B0}" type="datetimeFigureOut">
              <a:rPr lang="en-US" smtClean="0"/>
              <a:t>7/24/2026</a:t>
            </a:fld>
            <a:endParaRPr lang="en-US"/>
          </a:p>
        </p:txBody>
      </p:sp>
      <p:sp>
        <p:nvSpPr>
          <p:cNvPr id="5" name="Footer Placeholder 4">
            <a:extLst>
              <a:ext uri="{FF2B5EF4-FFF2-40B4-BE49-F238E27FC236}">
                <a16:creationId xmlns:a16="http://schemas.microsoft.com/office/drawing/2014/main" id="{2322124F-12E9-1B1D-03C0-05850EFA4E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C1D9FA2-8183-5407-81F7-3CA22252AC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8DED93-0917-4B02-B636-B000F86E3877}" type="slidenum">
              <a:rPr lang="en-US" smtClean="0"/>
              <a:t>‹#›</a:t>
            </a:fld>
            <a:endParaRPr lang="en-US"/>
          </a:p>
        </p:txBody>
      </p:sp>
    </p:spTree>
    <p:extLst>
      <p:ext uri="{BB962C8B-B14F-4D97-AF65-F5344CB8AC3E}">
        <p14:creationId xmlns:p14="http://schemas.microsoft.com/office/powerpoint/2010/main" val="808492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7.xml"/><Relationship Id="rId5" Type="http://schemas.openxmlformats.org/officeDocument/2006/relationships/chart" Target="../charts/chart10.xml"/><Relationship Id="rId4" Type="http://schemas.openxmlformats.org/officeDocument/2006/relationships/chart" Target="../charts/chart9.xml"/></Relationships>
</file>

<file path=ppt/slides/_rels/slide10.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7.xml"/><Relationship Id="rId5" Type="http://schemas.openxmlformats.org/officeDocument/2006/relationships/chart" Target="../charts/chart14.xml"/><Relationship Id="rId4" Type="http://schemas.openxmlformats.org/officeDocument/2006/relationships/chart" Target="../charts/char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18F648-5248-6777-18F4-E34999EA6519}"/>
              </a:ext>
            </a:extLst>
          </p:cNvPr>
          <p:cNvSpPr txBox="1"/>
          <p:nvPr/>
        </p:nvSpPr>
        <p:spPr>
          <a:xfrm>
            <a:off x="1194390" y="2459504"/>
            <a:ext cx="9803219" cy="1938992"/>
          </a:xfrm>
          <a:prstGeom prst="rect">
            <a:avLst/>
          </a:prstGeom>
          <a:noFill/>
        </p:spPr>
        <p:txBody>
          <a:bodyPr wrap="square">
            <a:spAutoFit/>
          </a:bodyPr>
          <a:lstStyle/>
          <a:p>
            <a:pPr algn="ctr"/>
            <a:r>
              <a:rPr lang="en-US" sz="6000" b="1" dirty="0"/>
              <a:t>NIGERIAN ROAD TRAFFIC CRASHES (2020-2024)</a:t>
            </a:r>
          </a:p>
        </p:txBody>
      </p:sp>
    </p:spTree>
    <p:extLst>
      <p:ext uri="{BB962C8B-B14F-4D97-AF65-F5344CB8AC3E}">
        <p14:creationId xmlns:p14="http://schemas.microsoft.com/office/powerpoint/2010/main" val="2719407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D4A26DA1-B8BD-9C9B-7E26-C742431A970E}"/>
              </a:ext>
            </a:extLst>
          </p:cNvPr>
          <p:cNvSpPr txBox="1"/>
          <p:nvPr/>
        </p:nvSpPr>
        <p:spPr>
          <a:xfrm>
            <a:off x="0" y="0"/>
            <a:ext cx="12192000" cy="520700"/>
          </a:xfrm>
          <a:prstGeom prst="rect">
            <a:avLst/>
          </a:prstGeom>
          <a:solidFill>
            <a:schemeClr val="bg2">
              <a:lumMod val="5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bg1"/>
                </a:solidFill>
              </a:rPr>
              <a:t>TABLE OF CONTENT</a:t>
            </a:r>
          </a:p>
        </p:txBody>
      </p:sp>
      <p:sp>
        <p:nvSpPr>
          <p:cNvPr id="5" name="TextBox 4">
            <a:extLst>
              <a:ext uri="{FF2B5EF4-FFF2-40B4-BE49-F238E27FC236}">
                <a16:creationId xmlns:a16="http://schemas.microsoft.com/office/drawing/2014/main" id="{4C785C1C-D00F-7FC8-A0E0-7E79D088BEE6}"/>
              </a:ext>
            </a:extLst>
          </p:cNvPr>
          <p:cNvSpPr txBox="1"/>
          <p:nvPr/>
        </p:nvSpPr>
        <p:spPr>
          <a:xfrm>
            <a:off x="606056" y="1013883"/>
            <a:ext cx="6103088" cy="3359061"/>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dirty="0"/>
              <a:t>PROJECT OVERVIEW</a:t>
            </a:r>
          </a:p>
          <a:p>
            <a:pPr marL="342900" indent="-342900">
              <a:lnSpc>
                <a:spcPct val="150000"/>
              </a:lnSpc>
              <a:buFont typeface="Wingdings" panose="05000000000000000000" pitchFamily="2" charset="2"/>
              <a:buChar char="v"/>
            </a:pPr>
            <a:r>
              <a:rPr lang="en-US" sz="2400" dirty="0"/>
              <a:t>DATA CLEANING &amp; PREPARATION</a:t>
            </a:r>
          </a:p>
          <a:p>
            <a:pPr marL="342900" indent="-342900">
              <a:lnSpc>
                <a:spcPct val="150000"/>
              </a:lnSpc>
              <a:buFont typeface="Wingdings" panose="05000000000000000000" pitchFamily="2" charset="2"/>
              <a:buChar char="v"/>
            </a:pPr>
            <a:r>
              <a:rPr lang="en-US" sz="2400" dirty="0"/>
              <a:t>ANALYSIS</a:t>
            </a:r>
          </a:p>
          <a:p>
            <a:pPr marL="342900" indent="-342900">
              <a:lnSpc>
                <a:spcPct val="150000"/>
              </a:lnSpc>
              <a:buFont typeface="Wingdings" panose="05000000000000000000" pitchFamily="2" charset="2"/>
              <a:buChar char="v"/>
            </a:pPr>
            <a:r>
              <a:rPr lang="en-US" sz="2400" dirty="0"/>
              <a:t>KEY FINDINGS &amp; VISUALISATIONS</a:t>
            </a:r>
          </a:p>
          <a:p>
            <a:pPr marL="342900" indent="-342900">
              <a:lnSpc>
                <a:spcPct val="150000"/>
              </a:lnSpc>
              <a:buFont typeface="Wingdings" panose="05000000000000000000" pitchFamily="2" charset="2"/>
              <a:buChar char="v"/>
            </a:pPr>
            <a:r>
              <a:rPr lang="en-US" sz="2400" dirty="0"/>
              <a:t>DASHBOARD</a:t>
            </a:r>
          </a:p>
          <a:p>
            <a:pPr marL="342900" indent="-342900">
              <a:lnSpc>
                <a:spcPct val="150000"/>
              </a:lnSpc>
              <a:buFont typeface="Wingdings" panose="05000000000000000000" pitchFamily="2" charset="2"/>
              <a:buChar char="v"/>
            </a:pPr>
            <a:r>
              <a:rPr lang="en-US" sz="2400" dirty="0"/>
              <a:t>INSIGHT AND RECOMMENDATION</a:t>
            </a:r>
          </a:p>
        </p:txBody>
      </p:sp>
    </p:spTree>
    <p:extLst>
      <p:ext uri="{BB962C8B-B14F-4D97-AF65-F5344CB8AC3E}">
        <p14:creationId xmlns:p14="http://schemas.microsoft.com/office/powerpoint/2010/main" val="1247865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B11F9A20-05DD-32AD-0188-0617E8DDA944}"/>
              </a:ext>
            </a:extLst>
          </p:cNvPr>
          <p:cNvSpPr txBox="1"/>
          <p:nvPr/>
        </p:nvSpPr>
        <p:spPr>
          <a:xfrm>
            <a:off x="0" y="0"/>
            <a:ext cx="12192000" cy="520700"/>
          </a:xfrm>
          <a:prstGeom prst="rect">
            <a:avLst/>
          </a:prstGeom>
          <a:solidFill>
            <a:schemeClr val="bg2">
              <a:lumMod val="5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bg1"/>
                </a:solidFill>
              </a:rPr>
              <a:t>PROJECT OVERVIEW</a:t>
            </a:r>
          </a:p>
        </p:txBody>
      </p:sp>
      <p:sp>
        <p:nvSpPr>
          <p:cNvPr id="5" name="TextBox 4">
            <a:extLst>
              <a:ext uri="{FF2B5EF4-FFF2-40B4-BE49-F238E27FC236}">
                <a16:creationId xmlns:a16="http://schemas.microsoft.com/office/drawing/2014/main" id="{5CE5224B-A909-1808-729A-6D436318D270}"/>
              </a:ext>
            </a:extLst>
          </p:cNvPr>
          <p:cNvSpPr txBox="1"/>
          <p:nvPr/>
        </p:nvSpPr>
        <p:spPr>
          <a:xfrm>
            <a:off x="233917" y="687825"/>
            <a:ext cx="11100390" cy="5016758"/>
          </a:xfrm>
          <a:prstGeom prst="rect">
            <a:avLst/>
          </a:prstGeom>
          <a:noFill/>
        </p:spPr>
        <p:txBody>
          <a:bodyPr wrap="square">
            <a:spAutoFit/>
          </a:bodyPr>
          <a:lstStyle/>
          <a:p>
            <a:pPr>
              <a:buNone/>
            </a:pPr>
            <a:r>
              <a:rPr lang="en-US" sz="2000" b="1" dirty="0"/>
              <a:t>Project Background:</a:t>
            </a:r>
            <a:br>
              <a:rPr lang="en-US" sz="2000" dirty="0"/>
            </a:br>
            <a:r>
              <a:rPr lang="en-US" sz="2000" dirty="0"/>
              <a:t>This project analyzed Nigerian road traffic crash data across states and quarterly periods to understand crash trends, severity, and contributing factors.</a:t>
            </a:r>
          </a:p>
          <a:p>
            <a:pPr>
              <a:buNone/>
            </a:pPr>
            <a:endParaRPr lang="en-US" sz="2000" dirty="0"/>
          </a:p>
          <a:p>
            <a:pPr>
              <a:buNone/>
            </a:pPr>
            <a:r>
              <a:rPr lang="en-US" sz="2000" b="1" dirty="0"/>
              <a:t>Objective:</a:t>
            </a:r>
            <a:br>
              <a:rPr lang="en-US" sz="2000" dirty="0"/>
            </a:br>
            <a:r>
              <a:rPr lang="en-US" sz="2000" dirty="0"/>
              <a:t>To identify locations and periods with elevated road safety risks and determine the major causes associated with road traffic crashes.</a:t>
            </a:r>
          </a:p>
          <a:p>
            <a:pPr>
              <a:buNone/>
            </a:pPr>
            <a:endParaRPr lang="en-US" sz="2000" dirty="0"/>
          </a:p>
          <a:p>
            <a:pPr>
              <a:buNone/>
            </a:pPr>
            <a:r>
              <a:rPr lang="en-US" sz="2000" b="1" dirty="0"/>
              <a:t>Key Analytical Tasks:</a:t>
            </a:r>
            <a:br>
              <a:rPr lang="en-US" sz="2000" dirty="0"/>
            </a:br>
            <a:r>
              <a:rPr lang="en-US" sz="2000" dirty="0"/>
              <a:t>Data cleaning and state-name standardization; crash trend analysis; state and regional comparison; injury and fatality assessment; vehicle involvement analysis; crash-cause analysis; seasonal patterns; weather-related crash analysis; and recommendations.</a:t>
            </a:r>
          </a:p>
          <a:p>
            <a:pPr>
              <a:buNone/>
            </a:pPr>
            <a:endParaRPr lang="en-US" sz="2000" dirty="0"/>
          </a:p>
          <a:p>
            <a:pPr>
              <a:buNone/>
            </a:pPr>
            <a:r>
              <a:rPr lang="en-US" sz="2000" b="1" dirty="0"/>
              <a:t>Key Variables:</a:t>
            </a:r>
            <a:br>
              <a:rPr lang="en-US" sz="2000" dirty="0"/>
            </a:br>
            <a:r>
              <a:rPr lang="en-US" sz="2000" dirty="0"/>
              <a:t>State, quarter, year, total crashes, injuries, fatalities, vehicles involved, speed violation (SPV), dangerous driving (DAD), fatigue (FTQ), poor weather (PWR), and other causes.</a:t>
            </a:r>
          </a:p>
        </p:txBody>
      </p:sp>
    </p:spTree>
    <p:extLst>
      <p:ext uri="{BB962C8B-B14F-4D97-AF65-F5344CB8AC3E}">
        <p14:creationId xmlns:p14="http://schemas.microsoft.com/office/powerpoint/2010/main" val="3864051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DC8A37CF-2813-36F7-6D8D-9B04EE60A1D5}"/>
              </a:ext>
            </a:extLst>
          </p:cNvPr>
          <p:cNvSpPr txBox="1"/>
          <p:nvPr/>
        </p:nvSpPr>
        <p:spPr>
          <a:xfrm>
            <a:off x="0" y="0"/>
            <a:ext cx="12192000" cy="520700"/>
          </a:xfrm>
          <a:prstGeom prst="rect">
            <a:avLst/>
          </a:prstGeom>
          <a:solidFill>
            <a:schemeClr val="bg2">
              <a:lumMod val="5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bg1"/>
                </a:solidFill>
              </a:rPr>
              <a:t>ANALYSIS</a:t>
            </a:r>
          </a:p>
        </p:txBody>
      </p:sp>
      <p:sp>
        <p:nvSpPr>
          <p:cNvPr id="5" name="TextBox 4">
            <a:extLst>
              <a:ext uri="{FF2B5EF4-FFF2-40B4-BE49-F238E27FC236}">
                <a16:creationId xmlns:a16="http://schemas.microsoft.com/office/drawing/2014/main" id="{3A3D2587-CDCC-4688-5CE9-B9C408B601DF}"/>
              </a:ext>
            </a:extLst>
          </p:cNvPr>
          <p:cNvSpPr txBox="1"/>
          <p:nvPr/>
        </p:nvSpPr>
        <p:spPr>
          <a:xfrm>
            <a:off x="446567" y="721932"/>
            <a:ext cx="11461898" cy="4401205"/>
          </a:xfrm>
          <a:prstGeom prst="rect">
            <a:avLst/>
          </a:prstGeom>
          <a:noFill/>
        </p:spPr>
        <p:txBody>
          <a:bodyPr wrap="square">
            <a:spAutoFit/>
          </a:bodyPr>
          <a:lstStyle/>
          <a:p>
            <a:r>
              <a:rPr lang="en-US" sz="2000" dirty="0"/>
              <a:t>The cleaned road traffic crash dataset was analyzed using </a:t>
            </a:r>
            <a:r>
              <a:rPr lang="en-US" sz="2000" b="1" dirty="0"/>
              <a:t>Microsoft Excel, PivotTables, calculated fields, and charts</a:t>
            </a:r>
            <a:r>
              <a:rPr lang="en-US" sz="2000" dirty="0"/>
              <a:t> to examine crash patterns, severity, causes, geographic differences, and changes over time. Crash frequency was compared across </a:t>
            </a:r>
            <a:r>
              <a:rPr lang="en-US" sz="2000" b="1" dirty="0"/>
              <a:t>states, regions, years, and quarters</a:t>
            </a:r>
            <a:r>
              <a:rPr lang="en-US" sz="2000" dirty="0"/>
              <a:t>, while injuries, fatalities, and vehicles involved were assessed to understand the severity of road traffic incidents.</a:t>
            </a:r>
          </a:p>
          <a:p>
            <a:r>
              <a:rPr lang="en-US" sz="2000" dirty="0"/>
              <a:t>Major crash causes, including </a:t>
            </a:r>
            <a:r>
              <a:rPr lang="en-US" sz="2000" b="1" dirty="0"/>
              <a:t>Speed Violations (SPV), Dangerous Driving (DAD), Fatigue (FTQ), Poor Weather (PWR), and Other Factors</a:t>
            </a:r>
            <a:r>
              <a:rPr lang="en-US" sz="2000" dirty="0"/>
              <a:t>, were analyzed nationally and across individual states to identify the leading contributors to road traffic crashes and geographic hotspots.</a:t>
            </a:r>
          </a:p>
          <a:p>
            <a:r>
              <a:rPr lang="en-US" sz="2000" dirty="0"/>
              <a:t>Time-based analysis was conducted to identify </a:t>
            </a:r>
            <a:r>
              <a:rPr lang="en-US" sz="2000" b="1" dirty="0"/>
              <a:t>yearly and quarterly trends</a:t>
            </a:r>
            <a:r>
              <a:rPr lang="en-US" sz="2000" dirty="0"/>
              <a:t>, highlighting periods with unusually high or low crash activity. Weather-related crashes were examined separately to determine how poor weather varied across states and periods and whether it was associated with changes in crash outcomes.</a:t>
            </a:r>
          </a:p>
          <a:p>
            <a:r>
              <a:rPr lang="en-US" sz="2000" dirty="0"/>
              <a:t>The analysis also compared </a:t>
            </a:r>
            <a:r>
              <a:rPr lang="en-US" sz="2000" b="1" dirty="0"/>
              <a:t>vehicles involved with injuries and fatalities</a:t>
            </a:r>
            <a:r>
              <a:rPr lang="en-US" sz="2000" dirty="0"/>
              <a:t> to understand the relationship between crash exposure and severity. Visualizations were used to highlight high-risk locations, leading crash causes, seasonal patterns, and changes in crash outcomes over time.</a:t>
            </a:r>
          </a:p>
        </p:txBody>
      </p:sp>
    </p:spTree>
    <p:extLst>
      <p:ext uri="{BB962C8B-B14F-4D97-AF65-F5344CB8AC3E}">
        <p14:creationId xmlns:p14="http://schemas.microsoft.com/office/powerpoint/2010/main" val="267370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7A2E57-73CC-8BB5-5620-E8BC228BEDA4}"/>
              </a:ext>
            </a:extLst>
          </p:cNvPr>
          <p:cNvSpPr txBox="1"/>
          <p:nvPr/>
        </p:nvSpPr>
        <p:spPr>
          <a:xfrm>
            <a:off x="905356" y="3261124"/>
            <a:ext cx="4687370" cy="2931892"/>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sz="1400" dirty="0"/>
          </a:p>
          <a:p>
            <a:r>
              <a:rPr lang="en-US" sz="1400" dirty="0"/>
              <a:t>The quarterly analysis revealed that </a:t>
            </a:r>
            <a:r>
              <a:rPr lang="en-US" sz="1400" b="1" dirty="0"/>
              <a:t>Q4 2022</a:t>
            </a:r>
            <a:r>
              <a:rPr lang="en-US" sz="1400" dirty="0"/>
              <a:t> experienced the highest number of road traffic crashes (</a:t>
            </a:r>
            <a:r>
              <a:rPr lang="en-US" sz="1400" b="1" dirty="0"/>
              <a:t>3,611</a:t>
            </a:r>
            <a:r>
              <a:rPr lang="en-US" sz="1400" dirty="0"/>
              <a:t>), while </a:t>
            </a:r>
            <a:r>
              <a:rPr lang="en-US" sz="1400" b="1" dirty="0"/>
              <a:t>Q3 2023</a:t>
            </a:r>
            <a:r>
              <a:rPr lang="en-US" sz="1400" dirty="0"/>
              <a:t> recorded the lowest (</a:t>
            </a:r>
            <a:r>
              <a:rPr lang="en-US" sz="1400" b="1" dirty="0"/>
              <a:t>2,181</a:t>
            </a:r>
            <a:r>
              <a:rPr lang="en-US" sz="1400" dirty="0"/>
              <a:t>). These findings indicate that road traffic crashes varied across both geographical locations and time periods. States and quarters with higher crash rates should be prioritized for targeted road safety campaigns, stricter traffic law enforcement, and improved transport infrastructure to reduce crash frequency and improve public safety.</a:t>
            </a:r>
          </a:p>
          <a:p>
            <a:endParaRPr lang="en-US" sz="1400" dirty="0"/>
          </a:p>
        </p:txBody>
      </p:sp>
      <p:sp>
        <p:nvSpPr>
          <p:cNvPr id="4" name="TextBox 1">
            <a:extLst>
              <a:ext uri="{FF2B5EF4-FFF2-40B4-BE49-F238E27FC236}">
                <a16:creationId xmlns:a16="http://schemas.microsoft.com/office/drawing/2014/main" id="{CB927247-7FDB-C364-B3A4-B055BBD7B9C8}"/>
              </a:ext>
            </a:extLst>
          </p:cNvPr>
          <p:cNvSpPr txBox="1"/>
          <p:nvPr/>
        </p:nvSpPr>
        <p:spPr>
          <a:xfrm>
            <a:off x="0" y="0"/>
            <a:ext cx="12192000" cy="520700"/>
          </a:xfrm>
          <a:prstGeom prst="rect">
            <a:avLst/>
          </a:prstGeom>
          <a:solidFill>
            <a:schemeClr val="bg2">
              <a:lumMod val="5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bg1"/>
                </a:solidFill>
              </a:rPr>
              <a:t>KEY FINDINGS &amp; VISUALISATIONS</a:t>
            </a:r>
          </a:p>
        </p:txBody>
      </p:sp>
      <p:graphicFrame>
        <p:nvGraphicFramePr>
          <p:cNvPr id="6" name="Chart 5">
            <a:extLst>
              <a:ext uri="{FF2B5EF4-FFF2-40B4-BE49-F238E27FC236}">
                <a16:creationId xmlns:a16="http://schemas.microsoft.com/office/drawing/2014/main" id="{4A723459-FB8B-7331-7CDF-DA3D2FF3C9C1}"/>
              </a:ext>
            </a:extLst>
          </p:cNvPr>
          <p:cNvGraphicFramePr>
            <a:graphicFrameLocks/>
          </p:cNvGraphicFramePr>
          <p:nvPr>
            <p:extLst>
              <p:ext uri="{D42A27DB-BD31-4B8C-83A1-F6EECF244321}">
                <p14:modId xmlns:p14="http://schemas.microsoft.com/office/powerpoint/2010/main" val="3564977757"/>
              </p:ext>
            </p:extLst>
          </p:nvPr>
        </p:nvGraphicFramePr>
        <p:xfrm>
          <a:off x="905356" y="870971"/>
          <a:ext cx="4687370" cy="226398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3">
            <a:extLst>
              <a:ext uri="{FF2B5EF4-FFF2-40B4-BE49-F238E27FC236}">
                <a16:creationId xmlns:a16="http://schemas.microsoft.com/office/drawing/2014/main" id="{D1AD5847-BD3C-7990-0FFC-A85652B494F2}"/>
              </a:ext>
            </a:extLst>
          </p:cNvPr>
          <p:cNvSpPr txBox="1"/>
          <p:nvPr/>
        </p:nvSpPr>
        <p:spPr>
          <a:xfrm>
            <a:off x="5761062" y="3261124"/>
            <a:ext cx="5547449" cy="2931892"/>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sz="1400" dirty="0"/>
          </a:p>
          <a:p>
            <a:r>
              <a:rPr lang="en-US" sz="1400" dirty="0"/>
              <a:t>The trend analysis of </a:t>
            </a:r>
            <a:r>
              <a:rPr lang="en-US" sz="1400" b="1" dirty="0"/>
              <a:t>total road traffic crashes</a:t>
            </a:r>
            <a:r>
              <a:rPr lang="en-US" sz="1400" dirty="0"/>
              <a:t> and </a:t>
            </a:r>
            <a:r>
              <a:rPr lang="en-US" sz="1400" b="1" dirty="0"/>
              <a:t>fatalities</a:t>
            </a:r>
            <a:r>
              <a:rPr lang="en-US" sz="1400" dirty="0"/>
              <a:t> from </a:t>
            </a:r>
            <a:r>
              <a:rPr lang="en-US" sz="1400" b="1" dirty="0"/>
              <a:t>Q4 2020 to Q1 2024</a:t>
            </a:r>
            <a:r>
              <a:rPr lang="en-US" sz="1400" dirty="0"/>
              <a:t> showed that both indicators fluctuated throughout the study period rather than following a consistent upward or downward trend. Total crashes remained consistently higher than fatalities across all quarters, with the highest crash levels observed around </a:t>
            </a:r>
            <a:r>
              <a:rPr lang="en-US" sz="1400" b="1" dirty="0"/>
              <a:t>Q4 2022</a:t>
            </a:r>
            <a:r>
              <a:rPr lang="en-US" sz="1400" dirty="0"/>
              <a:t> and a noticeable decline during </a:t>
            </a:r>
            <a:r>
              <a:rPr lang="en-US" sz="1400" b="1" dirty="0"/>
              <a:t>Q3 2023</a:t>
            </a:r>
            <a:r>
              <a:rPr lang="en-US" sz="1400" dirty="0"/>
              <a:t> before increasing again towards </a:t>
            </a:r>
            <a:r>
              <a:rPr lang="en-US" sz="1400" b="1" dirty="0"/>
              <a:t>Q1 2024</a:t>
            </a:r>
            <a:r>
              <a:rPr lang="en-US" sz="1400" dirty="0"/>
              <a:t>. Fatalities followed a similar pattern, with periods of higher crash occurrences generally corresponding to higher numbers of road traffic deaths. These findings suggest that road safety conditions varied over time and highlight the need for continuous monitoring and targeted road safety interventions during periods with increased crash activity to reduce fatalities and improve overall road safety outcomes.</a:t>
            </a:r>
          </a:p>
        </p:txBody>
      </p:sp>
      <p:graphicFrame>
        <p:nvGraphicFramePr>
          <p:cNvPr id="9" name="Chart 8">
            <a:extLst>
              <a:ext uri="{FF2B5EF4-FFF2-40B4-BE49-F238E27FC236}">
                <a16:creationId xmlns:a16="http://schemas.microsoft.com/office/drawing/2014/main" id="{CC66C606-E596-77D8-7B4B-421614AEF392}"/>
              </a:ext>
            </a:extLst>
          </p:cNvPr>
          <p:cNvGraphicFramePr>
            <a:graphicFrameLocks/>
          </p:cNvGraphicFramePr>
          <p:nvPr>
            <p:extLst>
              <p:ext uri="{D42A27DB-BD31-4B8C-83A1-F6EECF244321}">
                <p14:modId xmlns:p14="http://schemas.microsoft.com/office/powerpoint/2010/main" val="1283194348"/>
              </p:ext>
            </p:extLst>
          </p:nvPr>
        </p:nvGraphicFramePr>
        <p:xfrm>
          <a:off x="5761062" y="870971"/>
          <a:ext cx="5547449" cy="216716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52888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6D91E615-1DA8-33BE-C371-86503D03DC35}"/>
              </a:ext>
            </a:extLst>
          </p:cNvPr>
          <p:cNvSpPr txBox="1"/>
          <p:nvPr/>
        </p:nvSpPr>
        <p:spPr>
          <a:xfrm>
            <a:off x="440674" y="3646582"/>
            <a:ext cx="11292289" cy="3000673"/>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sz="1600" dirty="0"/>
          </a:p>
          <a:p>
            <a:r>
              <a:rPr lang="en-US" sz="1600" dirty="0"/>
              <a:t>The relationship between the </a:t>
            </a:r>
            <a:r>
              <a:rPr lang="en-US" sz="1600" b="1" dirty="0"/>
              <a:t>number of vehicles involved</a:t>
            </a:r>
            <a:r>
              <a:rPr lang="en-US" sz="1600" dirty="0"/>
              <a:t> and </a:t>
            </a:r>
            <a:r>
              <a:rPr lang="en-US" sz="1600" b="1" dirty="0"/>
              <a:t>crash outcomes</a:t>
            </a:r>
            <a:r>
              <a:rPr lang="en-US" sz="1600" dirty="0"/>
              <a:t> was analyzed by comparing vehicle involvement with the number of crashes, injuries, and fatalities. The analysis showed that crashes involving </a:t>
            </a:r>
            <a:r>
              <a:rPr lang="en-US" sz="1600" b="1" dirty="0"/>
              <a:t>100–199 vehicles</a:t>
            </a:r>
            <a:r>
              <a:rPr lang="en-US" sz="1600" dirty="0"/>
              <a:t> recorded the highest number of </a:t>
            </a:r>
            <a:r>
              <a:rPr lang="en-US" sz="1600" b="1" dirty="0"/>
              <a:t>injuries (45,613)</a:t>
            </a:r>
            <a:r>
              <a:rPr lang="en-US" sz="1600" dirty="0"/>
              <a:t>, </a:t>
            </a:r>
            <a:r>
              <a:rPr lang="en-US" sz="1600" b="1" dirty="0"/>
              <a:t>fatalities (8,146)</a:t>
            </a:r>
            <a:r>
              <a:rPr lang="en-US" sz="1600" dirty="0"/>
              <a:t>, and </a:t>
            </a:r>
            <a:r>
              <a:rPr lang="en-US" sz="1600" b="1" dirty="0"/>
              <a:t>total crashes (14,460)</a:t>
            </a:r>
            <a:r>
              <a:rPr lang="en-US" sz="1600" dirty="0"/>
              <a:t>. Similarly, crashes involving </a:t>
            </a:r>
            <a:r>
              <a:rPr lang="en-US" sz="1600" b="1" dirty="0"/>
              <a:t>0–99 vehicles</a:t>
            </a:r>
            <a:r>
              <a:rPr lang="en-US" sz="1600" dirty="0"/>
              <a:t> also contributed substantially to crash outcomes, recording </a:t>
            </a:r>
            <a:r>
              <a:rPr lang="en-US" sz="1600" b="1" dirty="0"/>
              <a:t>44,916 injuries</a:t>
            </a:r>
            <a:r>
              <a:rPr lang="en-US" sz="1600" dirty="0"/>
              <a:t>, </a:t>
            </a:r>
            <a:r>
              <a:rPr lang="en-US" sz="1600" b="1" dirty="0"/>
              <a:t>7,488 fatalities</a:t>
            </a:r>
            <a:r>
              <a:rPr lang="en-US" sz="1600" dirty="0"/>
              <a:t>, and </a:t>
            </a:r>
            <a:r>
              <a:rPr lang="en-US" sz="1600" b="1" dirty="0"/>
              <a:t>14,342 crashes</a:t>
            </a:r>
            <a:r>
              <a:rPr lang="en-US" sz="1600" dirty="0"/>
              <a:t>. In contrast, crashes involving </a:t>
            </a:r>
            <a:r>
              <a:rPr lang="en-US" sz="1600" b="1" dirty="0"/>
              <a:t>600–699 vehicles</a:t>
            </a:r>
            <a:r>
              <a:rPr lang="en-US" sz="1600" dirty="0"/>
              <a:t> recorded the lowest numbers of injuries (</a:t>
            </a:r>
            <a:r>
              <a:rPr lang="en-US" sz="1600" b="1" dirty="0"/>
              <a:t>667</a:t>
            </a:r>
            <a:r>
              <a:rPr lang="en-US" sz="1600" dirty="0"/>
              <a:t>), fatalities (</a:t>
            </a:r>
            <a:r>
              <a:rPr lang="en-US" sz="1600" b="1" dirty="0"/>
              <a:t>100</a:t>
            </a:r>
            <a:r>
              <a:rPr lang="en-US" sz="1600" dirty="0"/>
              <a:t>), and total crashes (</a:t>
            </a:r>
            <a:r>
              <a:rPr lang="en-US" sz="1600" b="1" dirty="0"/>
              <a:t>382</a:t>
            </a:r>
            <a:r>
              <a:rPr lang="en-US" sz="1600" dirty="0"/>
              <a:t>). Overall, the findings indicate that crash outcomes were most severe within the </a:t>
            </a:r>
            <a:r>
              <a:rPr lang="en-US" sz="1600" b="1" dirty="0"/>
              <a:t>0–199 vehicle involvement categories</a:t>
            </a:r>
            <a:r>
              <a:rPr lang="en-US" sz="1600" dirty="0"/>
              <a:t>, suggesting that these categories accounted for the greatest road safety burden during the study period. These results highlight the need for targeted interventions aimed at reducing crashes involving multiple vehicles through improved traffic management, stricter enforcement of road safety regulations, and enhanced driver awareness programs.</a:t>
            </a:r>
          </a:p>
        </p:txBody>
      </p:sp>
      <p:graphicFrame>
        <p:nvGraphicFramePr>
          <p:cNvPr id="6" name="Chart 5">
            <a:extLst>
              <a:ext uri="{FF2B5EF4-FFF2-40B4-BE49-F238E27FC236}">
                <a16:creationId xmlns:a16="http://schemas.microsoft.com/office/drawing/2014/main" id="{224D615F-0750-F1A4-9315-9685A2ABFBE2}"/>
              </a:ext>
            </a:extLst>
          </p:cNvPr>
          <p:cNvGraphicFramePr>
            <a:graphicFrameLocks/>
          </p:cNvGraphicFramePr>
          <p:nvPr>
            <p:extLst>
              <p:ext uri="{D42A27DB-BD31-4B8C-83A1-F6EECF244321}">
                <p14:modId xmlns:p14="http://schemas.microsoft.com/office/powerpoint/2010/main" val="293549485"/>
              </p:ext>
            </p:extLst>
          </p:nvPr>
        </p:nvGraphicFramePr>
        <p:xfrm>
          <a:off x="440674" y="653452"/>
          <a:ext cx="11292289" cy="2775547"/>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1">
            <a:extLst>
              <a:ext uri="{FF2B5EF4-FFF2-40B4-BE49-F238E27FC236}">
                <a16:creationId xmlns:a16="http://schemas.microsoft.com/office/drawing/2014/main" id="{25895878-66FF-7826-2C1C-3FA019849B06}"/>
              </a:ext>
            </a:extLst>
          </p:cNvPr>
          <p:cNvSpPr txBox="1"/>
          <p:nvPr/>
        </p:nvSpPr>
        <p:spPr>
          <a:xfrm>
            <a:off x="0" y="0"/>
            <a:ext cx="12192000" cy="520700"/>
          </a:xfrm>
          <a:prstGeom prst="rect">
            <a:avLst/>
          </a:prstGeom>
          <a:solidFill>
            <a:schemeClr val="bg2">
              <a:lumMod val="5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bg1"/>
                </a:solidFill>
              </a:rPr>
              <a:t>KEY FINDINGS &amp; VISUALISATIONS</a:t>
            </a:r>
          </a:p>
        </p:txBody>
      </p:sp>
    </p:spTree>
    <p:extLst>
      <p:ext uri="{BB962C8B-B14F-4D97-AF65-F5344CB8AC3E}">
        <p14:creationId xmlns:p14="http://schemas.microsoft.com/office/powerpoint/2010/main" val="1519742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720BBA-F6A6-EE2C-DB91-FE9CD16B2A35}"/>
              </a:ext>
            </a:extLst>
          </p:cNvPr>
          <p:cNvSpPr txBox="1"/>
          <p:nvPr/>
        </p:nvSpPr>
        <p:spPr>
          <a:xfrm>
            <a:off x="5267861" y="665933"/>
            <a:ext cx="6732753" cy="5809295"/>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sz="1800" dirty="0"/>
          </a:p>
          <a:p>
            <a:r>
              <a:rPr lang="en-US" sz="1800" dirty="0"/>
              <a:t>The analysis examined the major causes of road traffic crashes across Nigerian states using </a:t>
            </a:r>
            <a:r>
              <a:rPr lang="en-US" sz="1800" b="1" dirty="0"/>
              <a:t>Speed Violation (SPV)</a:t>
            </a:r>
            <a:r>
              <a:rPr lang="en-US" sz="1800" dirty="0"/>
              <a:t>, </a:t>
            </a:r>
            <a:r>
              <a:rPr lang="en-US" sz="1800" b="1" dirty="0"/>
              <a:t>Driving Under the Influence (DAD)</a:t>
            </a:r>
            <a:r>
              <a:rPr lang="en-US" sz="1800" dirty="0"/>
              <a:t>, </a:t>
            </a:r>
            <a:r>
              <a:rPr lang="en-US" sz="1800" b="1" dirty="0"/>
              <a:t>Poor Weather (PWR)</a:t>
            </a:r>
            <a:r>
              <a:rPr lang="en-US" sz="1800" dirty="0"/>
              <a:t>, </a:t>
            </a:r>
            <a:r>
              <a:rPr lang="en-US" sz="1800" b="1" dirty="0"/>
              <a:t>Fatigue (FTQ)</a:t>
            </a:r>
            <a:r>
              <a:rPr lang="en-US" sz="1800" dirty="0"/>
              <a:t>, and </a:t>
            </a:r>
            <a:r>
              <a:rPr lang="en-US" sz="1800" b="1" dirty="0"/>
              <a:t>Other Factors</a:t>
            </a:r>
            <a:r>
              <a:rPr lang="en-US" sz="1800" dirty="0"/>
              <a:t>. Overall, </a:t>
            </a:r>
            <a:r>
              <a:rPr lang="en-US" sz="1800" b="1" dirty="0"/>
              <a:t>Other Factors</a:t>
            </a:r>
            <a:r>
              <a:rPr lang="en-US" sz="1800" dirty="0"/>
              <a:t> recorded the highest number of crashes nationally (</a:t>
            </a:r>
            <a:r>
              <a:rPr lang="en-US" sz="1800" b="1" dirty="0"/>
              <a:t>19,914</a:t>
            </a:r>
            <a:r>
              <a:rPr lang="en-US" sz="1800" dirty="0"/>
              <a:t>), followed closely by </a:t>
            </a:r>
            <a:r>
              <a:rPr lang="en-US" sz="1800" b="1" dirty="0"/>
              <a:t>Speed Violations (SPV)</a:t>
            </a:r>
            <a:r>
              <a:rPr lang="en-US" sz="1800" dirty="0"/>
              <a:t> with </a:t>
            </a:r>
            <a:r>
              <a:rPr lang="en-US" sz="1800" b="1" dirty="0"/>
              <a:t>19,634</a:t>
            </a:r>
            <a:r>
              <a:rPr lang="en-US" sz="1800" dirty="0"/>
              <a:t> cases. </a:t>
            </a:r>
            <a:r>
              <a:rPr lang="en-US" sz="1800" b="1" dirty="0"/>
              <a:t>Fatigue (FTQ)</a:t>
            </a:r>
            <a:r>
              <a:rPr lang="en-US" sz="1800" dirty="0"/>
              <a:t> accounted for </a:t>
            </a:r>
            <a:r>
              <a:rPr lang="en-US" sz="1800" b="1" dirty="0"/>
              <a:t>12,341</a:t>
            </a:r>
            <a:r>
              <a:rPr lang="en-US" sz="1800" dirty="0"/>
              <a:t> crashes, while </a:t>
            </a:r>
            <a:r>
              <a:rPr lang="en-US" sz="1800" b="1" dirty="0"/>
              <a:t>Poor Weather (PWR)</a:t>
            </a:r>
            <a:r>
              <a:rPr lang="en-US" sz="1800" dirty="0"/>
              <a:t> (</a:t>
            </a:r>
            <a:r>
              <a:rPr lang="en-US" sz="1800" b="1" dirty="0"/>
              <a:t>184</a:t>
            </a:r>
            <a:r>
              <a:rPr lang="en-US" sz="1800" dirty="0"/>
              <a:t>) and </a:t>
            </a:r>
            <a:r>
              <a:rPr lang="en-US" sz="1800" b="1" dirty="0"/>
              <a:t>Driving Under the Influence (DAD)</a:t>
            </a:r>
            <a:r>
              <a:rPr lang="en-US" sz="1800" dirty="0"/>
              <a:t> (</a:t>
            </a:r>
            <a:r>
              <a:rPr lang="en-US" sz="1800" b="1" dirty="0"/>
              <a:t>73</a:t>
            </a:r>
            <a:r>
              <a:rPr lang="en-US" sz="1800" dirty="0"/>
              <a:t>) contributed comparatively fewer crashes. At the state level, the </a:t>
            </a:r>
            <a:r>
              <a:rPr lang="en-US" sz="1800" b="1" dirty="0"/>
              <a:t>Federal Capital Territory (FCT)</a:t>
            </a:r>
            <a:r>
              <a:rPr lang="en-US" sz="1800" dirty="0"/>
              <a:t> recorded notably high crash counts associated with both </a:t>
            </a:r>
            <a:r>
              <a:rPr lang="en-US" sz="1800" b="1" dirty="0"/>
              <a:t>Speed Violations</a:t>
            </a:r>
            <a:r>
              <a:rPr lang="en-US" sz="1800" dirty="0"/>
              <a:t> and </a:t>
            </a:r>
            <a:r>
              <a:rPr lang="en-US" sz="1800" b="1" dirty="0"/>
              <a:t>Other Factors</a:t>
            </a:r>
            <a:r>
              <a:rPr lang="en-US" sz="1800" dirty="0"/>
              <a:t>, while </a:t>
            </a:r>
            <a:r>
              <a:rPr lang="en-US" sz="1800" b="1" dirty="0"/>
              <a:t>Ogun</a:t>
            </a:r>
            <a:r>
              <a:rPr lang="en-US" sz="1800" dirty="0"/>
              <a:t> also reported a high number of speed-related crashes. These findings indicate that </a:t>
            </a:r>
            <a:r>
              <a:rPr lang="en-US" sz="1800" b="1" dirty="0"/>
              <a:t>speed violations and other contributing factors remain the leading causes of road traffic crashes in Nigeria</a:t>
            </a:r>
            <a:r>
              <a:rPr lang="en-US" sz="1800" dirty="0"/>
              <a:t>. Strengthening speed enforcement, improving driver education, addressing other operational risk factors, and implementing targeted road safety campaigns in high-risk states could significantly reduce crash incidence and improve road safety outcomes.</a:t>
            </a:r>
          </a:p>
        </p:txBody>
      </p:sp>
      <p:graphicFrame>
        <p:nvGraphicFramePr>
          <p:cNvPr id="4" name="Chart 3">
            <a:extLst>
              <a:ext uri="{FF2B5EF4-FFF2-40B4-BE49-F238E27FC236}">
                <a16:creationId xmlns:a16="http://schemas.microsoft.com/office/drawing/2014/main" id="{2C1811E7-4163-B8D5-29AA-54D409649F4D}"/>
              </a:ext>
            </a:extLst>
          </p:cNvPr>
          <p:cNvGraphicFramePr>
            <a:graphicFrameLocks/>
          </p:cNvGraphicFramePr>
          <p:nvPr>
            <p:extLst>
              <p:ext uri="{D42A27DB-BD31-4B8C-83A1-F6EECF244321}">
                <p14:modId xmlns:p14="http://schemas.microsoft.com/office/powerpoint/2010/main" val="2882090393"/>
              </p:ext>
            </p:extLst>
          </p:nvPr>
        </p:nvGraphicFramePr>
        <p:xfrm>
          <a:off x="191386" y="665933"/>
          <a:ext cx="4877517" cy="6021945"/>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1">
            <a:extLst>
              <a:ext uri="{FF2B5EF4-FFF2-40B4-BE49-F238E27FC236}">
                <a16:creationId xmlns:a16="http://schemas.microsoft.com/office/drawing/2014/main" id="{F0593BDB-1277-5CA8-E3AA-72E7FEBB6045}"/>
              </a:ext>
            </a:extLst>
          </p:cNvPr>
          <p:cNvSpPr txBox="1"/>
          <p:nvPr/>
        </p:nvSpPr>
        <p:spPr>
          <a:xfrm>
            <a:off x="0" y="0"/>
            <a:ext cx="12192000" cy="520700"/>
          </a:xfrm>
          <a:prstGeom prst="rect">
            <a:avLst/>
          </a:prstGeom>
          <a:solidFill>
            <a:schemeClr val="bg2">
              <a:lumMod val="5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bg1"/>
                </a:solidFill>
              </a:rPr>
              <a:t>KEY FINDINGS &amp; VISUALISATIONS</a:t>
            </a:r>
          </a:p>
        </p:txBody>
      </p:sp>
    </p:spTree>
    <p:extLst>
      <p:ext uri="{BB962C8B-B14F-4D97-AF65-F5344CB8AC3E}">
        <p14:creationId xmlns:p14="http://schemas.microsoft.com/office/powerpoint/2010/main" val="2263955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B436F5-A933-0FBB-F04B-CC1F91541745}"/>
              </a:ext>
            </a:extLst>
          </p:cNvPr>
          <p:cNvSpPr txBox="1"/>
          <p:nvPr/>
        </p:nvSpPr>
        <p:spPr>
          <a:xfrm>
            <a:off x="82693" y="623906"/>
            <a:ext cx="11936710" cy="2273530"/>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400" dirty="0"/>
              <a:t>Weather-related crashes were </a:t>
            </a:r>
            <a:r>
              <a:rPr lang="en-US" sz="1400" dirty="0" err="1"/>
              <a:t>analysed</a:t>
            </a:r>
            <a:r>
              <a:rPr lang="en-US" sz="1400" dirty="0"/>
              <a:t> using the </a:t>
            </a:r>
            <a:r>
              <a:rPr lang="en-US" sz="1400" b="1" dirty="0"/>
              <a:t>Poor Weather (PWR)</a:t>
            </a:r>
            <a:r>
              <a:rPr lang="en-US" sz="1400" dirty="0"/>
              <a:t> indicator to examine regional and seasonal variations in road traffic crashes. The regional analysis showed that </a:t>
            </a:r>
            <a:r>
              <a:rPr lang="en-US" sz="1400" b="1" dirty="0"/>
              <a:t>Niger State</a:t>
            </a:r>
            <a:r>
              <a:rPr lang="en-US" sz="1400" dirty="0"/>
              <a:t> recorded the highest number of weather-related crashes (</a:t>
            </a:r>
            <a:r>
              <a:rPr lang="en-US" sz="1400" b="1" dirty="0"/>
              <a:t>64</a:t>
            </a:r>
            <a:r>
              <a:rPr lang="en-US" sz="1400" dirty="0"/>
              <a:t>), followed by </a:t>
            </a:r>
            <a:r>
              <a:rPr lang="en-US" sz="1400" b="1" dirty="0"/>
              <a:t>Oyo (22)</a:t>
            </a:r>
            <a:r>
              <a:rPr lang="en-US" sz="1400" dirty="0"/>
              <a:t>, </a:t>
            </a:r>
            <a:r>
              <a:rPr lang="en-US" sz="1400" b="1" dirty="0"/>
              <a:t>Kaduna (19)</a:t>
            </a:r>
            <a:r>
              <a:rPr lang="en-US" sz="1400" dirty="0"/>
              <a:t>, </a:t>
            </a:r>
            <a:r>
              <a:rPr lang="en-US" sz="1400" b="1" dirty="0"/>
              <a:t>FCT (12)</a:t>
            </a:r>
            <a:r>
              <a:rPr lang="en-US" sz="1400" dirty="0"/>
              <a:t>, and </a:t>
            </a:r>
            <a:r>
              <a:rPr lang="en-US" sz="1400" b="1" dirty="0"/>
              <a:t>Lagos (11)</a:t>
            </a:r>
            <a:r>
              <a:rPr lang="en-US" sz="1400" dirty="0"/>
              <a:t>. Several states, including </a:t>
            </a:r>
            <a:r>
              <a:rPr lang="en-US" sz="1400" b="1" dirty="0"/>
              <a:t>Rivers, Zamfara, Benue, Adamawa, Ebonyi, Ogun, Kwara, Enugu, Yobe, Borno, Ekiti, and Gombe</a:t>
            </a:r>
            <a:r>
              <a:rPr lang="en-US" sz="1400" dirty="0"/>
              <a:t>, recorded no weather-related crashes during the study period.</a:t>
            </a:r>
          </a:p>
          <a:p>
            <a:r>
              <a:rPr lang="en-US" sz="1400" dirty="0"/>
              <a:t>The seasonal analysis indicated that weather-related crashes varied across the quarters. </a:t>
            </a:r>
            <a:r>
              <a:rPr lang="en-US" sz="1400" b="1" dirty="0"/>
              <a:t>Q2 2022</a:t>
            </a:r>
            <a:r>
              <a:rPr lang="en-US" sz="1400" dirty="0"/>
              <a:t> recorded the highest number of weather-related crashes (</a:t>
            </a:r>
            <a:r>
              <a:rPr lang="en-US" sz="1400" b="1" dirty="0"/>
              <a:t>42</a:t>
            </a:r>
            <a:r>
              <a:rPr lang="en-US" sz="1400" dirty="0"/>
              <a:t>), followed by </a:t>
            </a:r>
            <a:r>
              <a:rPr lang="en-US" sz="1400" b="1" dirty="0"/>
              <a:t>Q3 2021 (38)</a:t>
            </a:r>
            <a:r>
              <a:rPr lang="en-US" sz="1400" dirty="0"/>
              <a:t> and </a:t>
            </a:r>
            <a:r>
              <a:rPr lang="en-US" sz="1400" b="1" dirty="0"/>
              <a:t>Q3 2022 (31)</a:t>
            </a:r>
            <a:r>
              <a:rPr lang="en-US" sz="1400" dirty="0"/>
              <a:t>. In contrast, </a:t>
            </a:r>
            <a:r>
              <a:rPr lang="en-US" sz="1400" b="1" dirty="0"/>
              <a:t>Q2 2021</a:t>
            </a:r>
            <a:r>
              <a:rPr lang="en-US" sz="1400" dirty="0"/>
              <a:t> recorded no weather-related crashes, while relatively low numbers were observed in </a:t>
            </a:r>
            <a:r>
              <a:rPr lang="en-US" sz="1400" b="1" dirty="0"/>
              <a:t>Q1 2021 (3)</a:t>
            </a:r>
            <a:r>
              <a:rPr lang="en-US" sz="1400" dirty="0"/>
              <a:t>, </a:t>
            </a:r>
            <a:r>
              <a:rPr lang="en-US" sz="1400" b="1" dirty="0"/>
              <a:t>Q1 2023 (3)</a:t>
            </a:r>
            <a:r>
              <a:rPr lang="en-US" sz="1400" dirty="0"/>
              <a:t>, and </a:t>
            </a:r>
            <a:r>
              <a:rPr lang="en-US" sz="1400" b="1" dirty="0"/>
              <a:t>Q3 2023 (4)</a:t>
            </a:r>
            <a:r>
              <a:rPr lang="en-US" sz="1400" dirty="0"/>
              <a:t>. Overall, although </a:t>
            </a:r>
            <a:r>
              <a:rPr lang="en-US" sz="1400" b="1" dirty="0"/>
              <a:t>poor weather contributed only 184 crashes nationally</a:t>
            </a:r>
            <a:r>
              <a:rPr lang="en-US" sz="1400" dirty="0"/>
              <a:t>, the findings suggest that adverse weather conditions have a greater impact in certain states and during specific periods of the year. These results highlight the need for improved road maintenance, weather advisory systems, and targeted road safety campaigns in regions that are more vulnerable to weather-related crashes.</a:t>
            </a:r>
          </a:p>
          <a:p>
            <a:endParaRPr lang="en-US" sz="1400" dirty="0"/>
          </a:p>
        </p:txBody>
      </p:sp>
      <p:sp>
        <p:nvSpPr>
          <p:cNvPr id="4" name="TextBox 1">
            <a:extLst>
              <a:ext uri="{FF2B5EF4-FFF2-40B4-BE49-F238E27FC236}">
                <a16:creationId xmlns:a16="http://schemas.microsoft.com/office/drawing/2014/main" id="{0356B501-9E63-FBF2-A7CE-BCA9E8BEF32E}"/>
              </a:ext>
            </a:extLst>
          </p:cNvPr>
          <p:cNvSpPr txBox="1"/>
          <p:nvPr/>
        </p:nvSpPr>
        <p:spPr>
          <a:xfrm>
            <a:off x="0" y="0"/>
            <a:ext cx="12192000" cy="520700"/>
          </a:xfrm>
          <a:prstGeom prst="rect">
            <a:avLst/>
          </a:prstGeom>
          <a:solidFill>
            <a:schemeClr val="bg2">
              <a:lumMod val="5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bg1"/>
                </a:solidFill>
              </a:rPr>
              <a:t>KEY FINDINGS &amp; VISUALISATIONS</a:t>
            </a:r>
          </a:p>
        </p:txBody>
      </p:sp>
      <p:graphicFrame>
        <p:nvGraphicFramePr>
          <p:cNvPr id="6" name="Chart 5">
            <a:extLst>
              <a:ext uri="{FF2B5EF4-FFF2-40B4-BE49-F238E27FC236}">
                <a16:creationId xmlns:a16="http://schemas.microsoft.com/office/drawing/2014/main" id="{A2342A35-15E5-8D2F-05C2-BE70C9DABF59}"/>
              </a:ext>
            </a:extLst>
          </p:cNvPr>
          <p:cNvGraphicFramePr>
            <a:graphicFrameLocks/>
          </p:cNvGraphicFramePr>
          <p:nvPr>
            <p:extLst>
              <p:ext uri="{D42A27DB-BD31-4B8C-83A1-F6EECF244321}">
                <p14:modId xmlns:p14="http://schemas.microsoft.com/office/powerpoint/2010/main" val="281830995"/>
              </p:ext>
            </p:extLst>
          </p:nvPr>
        </p:nvGraphicFramePr>
        <p:xfrm>
          <a:off x="82692" y="3018064"/>
          <a:ext cx="7662604" cy="371041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9925AA1C-81BA-ADF1-4620-0E233BF862C2}"/>
              </a:ext>
            </a:extLst>
          </p:cNvPr>
          <p:cNvGraphicFramePr>
            <a:graphicFrameLocks/>
          </p:cNvGraphicFramePr>
          <p:nvPr>
            <p:extLst>
              <p:ext uri="{D42A27DB-BD31-4B8C-83A1-F6EECF244321}">
                <p14:modId xmlns:p14="http://schemas.microsoft.com/office/powerpoint/2010/main" val="960925879"/>
              </p:ext>
            </p:extLst>
          </p:nvPr>
        </p:nvGraphicFramePr>
        <p:xfrm>
          <a:off x="7871617" y="3018064"/>
          <a:ext cx="4147786" cy="371041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37749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F60E7F4D-7822-9D74-FB4C-FAB85DBE33B1}"/>
              </a:ext>
            </a:extLst>
          </p:cNvPr>
          <p:cNvSpPr txBox="1"/>
          <p:nvPr/>
        </p:nvSpPr>
        <p:spPr>
          <a:xfrm>
            <a:off x="0" y="0"/>
            <a:ext cx="12192000" cy="520700"/>
          </a:xfrm>
          <a:prstGeom prst="rect">
            <a:avLst/>
          </a:prstGeom>
          <a:solidFill>
            <a:schemeClr val="bg2">
              <a:lumMod val="5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bg1"/>
                </a:solidFill>
              </a:rPr>
              <a:t>NIGERIA ROAD TRAFFIC CRASH ANALYSIS DASHBOARD</a:t>
            </a:r>
          </a:p>
        </p:txBody>
      </p:sp>
      <p:graphicFrame>
        <p:nvGraphicFramePr>
          <p:cNvPr id="4" name="Chart 3">
            <a:extLst>
              <a:ext uri="{FF2B5EF4-FFF2-40B4-BE49-F238E27FC236}">
                <a16:creationId xmlns:a16="http://schemas.microsoft.com/office/drawing/2014/main" id="{420510FB-AA15-D9ED-640A-BE8DA5AE0A8F}"/>
              </a:ext>
            </a:extLst>
          </p:cNvPr>
          <p:cNvGraphicFramePr>
            <a:graphicFrameLocks/>
          </p:cNvGraphicFramePr>
          <p:nvPr>
            <p:extLst>
              <p:ext uri="{D42A27DB-BD31-4B8C-83A1-F6EECF244321}">
                <p14:modId xmlns:p14="http://schemas.microsoft.com/office/powerpoint/2010/main" val="1722838468"/>
              </p:ext>
            </p:extLst>
          </p:nvPr>
        </p:nvGraphicFramePr>
        <p:xfrm>
          <a:off x="65384" y="1663546"/>
          <a:ext cx="3581199" cy="226398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CFD2DED5-EA66-CFFF-5534-136CE82D2A9E}"/>
              </a:ext>
            </a:extLst>
          </p:cNvPr>
          <p:cNvGraphicFramePr>
            <a:graphicFrameLocks/>
          </p:cNvGraphicFramePr>
          <p:nvPr>
            <p:extLst>
              <p:ext uri="{D42A27DB-BD31-4B8C-83A1-F6EECF244321}">
                <p14:modId xmlns:p14="http://schemas.microsoft.com/office/powerpoint/2010/main" val="307769878"/>
              </p:ext>
            </p:extLst>
          </p:nvPr>
        </p:nvGraphicFramePr>
        <p:xfrm>
          <a:off x="65384" y="4175393"/>
          <a:ext cx="6968246" cy="258896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E60E781A-705E-D99E-F0D5-7D61908F6664}"/>
              </a:ext>
            </a:extLst>
          </p:cNvPr>
          <p:cNvGraphicFramePr>
            <a:graphicFrameLocks/>
          </p:cNvGraphicFramePr>
          <p:nvPr>
            <p:extLst>
              <p:ext uri="{D42A27DB-BD31-4B8C-83A1-F6EECF244321}">
                <p14:modId xmlns:p14="http://schemas.microsoft.com/office/powerpoint/2010/main" val="246300992"/>
              </p:ext>
            </p:extLst>
          </p:nvPr>
        </p:nvGraphicFramePr>
        <p:xfrm>
          <a:off x="3778785" y="1663546"/>
          <a:ext cx="3254845" cy="226398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 name="Table 1">
            <a:extLst>
              <a:ext uri="{FF2B5EF4-FFF2-40B4-BE49-F238E27FC236}">
                <a16:creationId xmlns:a16="http://schemas.microsoft.com/office/drawing/2014/main" id="{B7C8CA68-E3BC-8CE5-296A-C817E1EA37DD}"/>
              </a:ext>
            </a:extLst>
          </p:cNvPr>
          <p:cNvGraphicFramePr>
            <a:graphicFrameLocks noGrp="1"/>
          </p:cNvGraphicFramePr>
          <p:nvPr>
            <p:extLst>
              <p:ext uri="{D42A27DB-BD31-4B8C-83A1-F6EECF244321}">
                <p14:modId xmlns:p14="http://schemas.microsoft.com/office/powerpoint/2010/main" val="2887289544"/>
              </p:ext>
            </p:extLst>
          </p:nvPr>
        </p:nvGraphicFramePr>
        <p:xfrm>
          <a:off x="1255323" y="825423"/>
          <a:ext cx="1219200" cy="5334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1000236068"/>
                    </a:ext>
                  </a:extLst>
                </a:gridCol>
              </a:tblGrid>
              <a:tr h="234950">
                <a:tc>
                  <a:txBody>
                    <a:bodyPr/>
                    <a:lstStyle/>
                    <a:p>
                      <a:pPr algn="ctr" fontAlgn="b">
                        <a:buNone/>
                      </a:pPr>
                      <a:r>
                        <a:rPr lang="en-US" sz="1400" u="none" strike="noStrike">
                          <a:solidFill>
                            <a:schemeClr val="bg1"/>
                          </a:solidFill>
                          <a:effectLst/>
                        </a:rPr>
                        <a:t>Total Crashes</a:t>
                      </a:r>
                      <a:endParaRPr lang="en-US" sz="1400" b="0" i="0" u="none" strike="noStrike">
                        <a:solidFill>
                          <a:schemeClr val="bg1"/>
                        </a:solidFill>
                        <a:effectLst/>
                        <a:latin typeface="Calibri" panose="020F0502020204030204" pitchFamily="34" charset="0"/>
                      </a:endParaRPr>
                    </a:p>
                  </a:txBody>
                  <a:tcPr marL="6350" marR="6350" marT="6350" marB="0" anchor="b">
                    <a:solidFill>
                      <a:schemeClr val="bg2">
                        <a:lumMod val="50000"/>
                      </a:schemeClr>
                    </a:solidFill>
                  </a:tcPr>
                </a:tc>
                <a:extLst>
                  <a:ext uri="{0D108BD9-81ED-4DB2-BD59-A6C34878D82A}">
                    <a16:rowId xmlns:a16="http://schemas.microsoft.com/office/drawing/2014/main" val="1480804472"/>
                  </a:ext>
                </a:extLst>
              </a:tr>
              <a:tr h="298450">
                <a:tc>
                  <a:txBody>
                    <a:bodyPr/>
                    <a:lstStyle/>
                    <a:p>
                      <a:pPr algn="ctr" fontAlgn="b">
                        <a:buNone/>
                      </a:pPr>
                      <a:r>
                        <a:rPr lang="en-US" sz="1800" u="none" strike="noStrike" dirty="0">
                          <a:solidFill>
                            <a:schemeClr val="bg1"/>
                          </a:solidFill>
                          <a:effectLst/>
                        </a:rPr>
                        <a:t>43,262</a:t>
                      </a:r>
                      <a:endParaRPr lang="en-US" sz="1800" b="1" i="0" u="none" strike="noStrike" dirty="0">
                        <a:solidFill>
                          <a:schemeClr val="bg1"/>
                        </a:solidFill>
                        <a:effectLst/>
                        <a:latin typeface="Calibri" panose="020F0502020204030204" pitchFamily="34" charset="0"/>
                      </a:endParaRPr>
                    </a:p>
                  </a:txBody>
                  <a:tcPr marL="6350" marR="6350" marT="6350" marB="0" anchor="b">
                    <a:solidFill>
                      <a:schemeClr val="bg2">
                        <a:lumMod val="50000"/>
                      </a:schemeClr>
                    </a:solidFill>
                  </a:tcPr>
                </a:tc>
                <a:extLst>
                  <a:ext uri="{0D108BD9-81ED-4DB2-BD59-A6C34878D82A}">
                    <a16:rowId xmlns:a16="http://schemas.microsoft.com/office/drawing/2014/main" val="4070373671"/>
                  </a:ext>
                </a:extLst>
              </a:tr>
            </a:tbl>
          </a:graphicData>
        </a:graphic>
      </p:graphicFrame>
      <p:graphicFrame>
        <p:nvGraphicFramePr>
          <p:cNvPr id="14" name="Table 13">
            <a:extLst>
              <a:ext uri="{FF2B5EF4-FFF2-40B4-BE49-F238E27FC236}">
                <a16:creationId xmlns:a16="http://schemas.microsoft.com/office/drawing/2014/main" id="{C9E4012F-539B-8349-FC8F-75AC75E2AE45}"/>
              </a:ext>
            </a:extLst>
          </p:cNvPr>
          <p:cNvGraphicFramePr>
            <a:graphicFrameLocks noGrp="1"/>
          </p:cNvGraphicFramePr>
          <p:nvPr>
            <p:extLst>
              <p:ext uri="{D42A27DB-BD31-4B8C-83A1-F6EECF244321}">
                <p14:modId xmlns:p14="http://schemas.microsoft.com/office/powerpoint/2010/main" val="2815830095"/>
              </p:ext>
            </p:extLst>
          </p:nvPr>
        </p:nvGraphicFramePr>
        <p:xfrm>
          <a:off x="2882746" y="825422"/>
          <a:ext cx="1219200" cy="5334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3298396627"/>
                    </a:ext>
                  </a:extLst>
                </a:gridCol>
              </a:tblGrid>
              <a:tr h="234950">
                <a:tc>
                  <a:txBody>
                    <a:bodyPr/>
                    <a:lstStyle/>
                    <a:p>
                      <a:pPr algn="ctr" fontAlgn="ctr">
                        <a:buNone/>
                      </a:pPr>
                      <a:r>
                        <a:rPr lang="en-US" sz="1400" u="none" strike="noStrike" dirty="0">
                          <a:solidFill>
                            <a:schemeClr val="bg1"/>
                          </a:solidFill>
                          <a:effectLst/>
                        </a:rPr>
                        <a:t>Total Injured</a:t>
                      </a:r>
                      <a:endParaRPr lang="en-US" sz="1400" b="0" i="0" u="none" strike="noStrike" dirty="0">
                        <a:solidFill>
                          <a:schemeClr val="bg1"/>
                        </a:solidFill>
                        <a:effectLst/>
                        <a:latin typeface="Calibri" panose="020F0502020204030204" pitchFamily="34" charset="0"/>
                      </a:endParaRPr>
                    </a:p>
                  </a:txBody>
                  <a:tcPr marL="6350" marR="6350" marT="6350" marB="0" anchor="ctr">
                    <a:solidFill>
                      <a:schemeClr val="bg2">
                        <a:lumMod val="50000"/>
                      </a:schemeClr>
                    </a:solidFill>
                  </a:tcPr>
                </a:tc>
                <a:extLst>
                  <a:ext uri="{0D108BD9-81ED-4DB2-BD59-A6C34878D82A}">
                    <a16:rowId xmlns:a16="http://schemas.microsoft.com/office/drawing/2014/main" val="3311328437"/>
                  </a:ext>
                </a:extLst>
              </a:tr>
              <a:tr h="298450">
                <a:tc>
                  <a:txBody>
                    <a:bodyPr/>
                    <a:lstStyle/>
                    <a:p>
                      <a:pPr algn="ctr" fontAlgn="b">
                        <a:buNone/>
                      </a:pPr>
                      <a:r>
                        <a:rPr lang="en-US" sz="1800" u="none" strike="noStrike" dirty="0">
                          <a:solidFill>
                            <a:schemeClr val="bg1"/>
                          </a:solidFill>
                          <a:effectLst/>
                        </a:rPr>
                        <a:t>27,237</a:t>
                      </a:r>
                      <a:endParaRPr lang="en-US" sz="1800" b="1" i="0" u="none" strike="noStrike" dirty="0">
                        <a:solidFill>
                          <a:schemeClr val="bg1"/>
                        </a:solidFill>
                        <a:effectLst/>
                        <a:latin typeface="Calibri" panose="020F0502020204030204" pitchFamily="34" charset="0"/>
                      </a:endParaRPr>
                    </a:p>
                  </a:txBody>
                  <a:tcPr marL="6350" marR="6350" marT="6350" marB="0" anchor="b">
                    <a:solidFill>
                      <a:schemeClr val="bg2">
                        <a:lumMod val="50000"/>
                      </a:schemeClr>
                    </a:solidFill>
                  </a:tcPr>
                </a:tc>
                <a:extLst>
                  <a:ext uri="{0D108BD9-81ED-4DB2-BD59-A6C34878D82A}">
                    <a16:rowId xmlns:a16="http://schemas.microsoft.com/office/drawing/2014/main" val="245261300"/>
                  </a:ext>
                </a:extLst>
              </a:tr>
            </a:tbl>
          </a:graphicData>
        </a:graphic>
      </p:graphicFrame>
      <p:graphicFrame>
        <p:nvGraphicFramePr>
          <p:cNvPr id="15" name="Table 14">
            <a:extLst>
              <a:ext uri="{FF2B5EF4-FFF2-40B4-BE49-F238E27FC236}">
                <a16:creationId xmlns:a16="http://schemas.microsoft.com/office/drawing/2014/main" id="{883C1912-4229-4349-AC32-C337B30ECD73}"/>
              </a:ext>
            </a:extLst>
          </p:cNvPr>
          <p:cNvGraphicFramePr>
            <a:graphicFrameLocks noGrp="1"/>
          </p:cNvGraphicFramePr>
          <p:nvPr>
            <p:extLst>
              <p:ext uri="{D42A27DB-BD31-4B8C-83A1-F6EECF244321}">
                <p14:modId xmlns:p14="http://schemas.microsoft.com/office/powerpoint/2010/main" val="1516328040"/>
              </p:ext>
            </p:extLst>
          </p:nvPr>
        </p:nvGraphicFramePr>
        <p:xfrm>
          <a:off x="4510169" y="825423"/>
          <a:ext cx="1219200" cy="5334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360258274"/>
                    </a:ext>
                  </a:extLst>
                </a:gridCol>
              </a:tblGrid>
              <a:tr h="234950">
                <a:tc>
                  <a:txBody>
                    <a:bodyPr/>
                    <a:lstStyle/>
                    <a:p>
                      <a:pPr algn="ctr" fontAlgn="b">
                        <a:buNone/>
                      </a:pPr>
                      <a:r>
                        <a:rPr lang="en-US" sz="1400" u="none" strike="noStrike">
                          <a:solidFill>
                            <a:schemeClr val="bg1"/>
                          </a:solidFill>
                          <a:effectLst/>
                        </a:rPr>
                        <a:t>Total Fatalities</a:t>
                      </a:r>
                      <a:endParaRPr lang="en-US" sz="1400" b="0" i="0" u="none" strike="noStrike">
                        <a:solidFill>
                          <a:schemeClr val="bg1"/>
                        </a:solidFill>
                        <a:effectLst/>
                        <a:latin typeface="Calibri" panose="020F0502020204030204" pitchFamily="34" charset="0"/>
                      </a:endParaRPr>
                    </a:p>
                  </a:txBody>
                  <a:tcPr marL="6350" marR="6350" marT="6350" marB="0" anchor="b">
                    <a:solidFill>
                      <a:schemeClr val="bg2">
                        <a:lumMod val="50000"/>
                      </a:schemeClr>
                    </a:solidFill>
                  </a:tcPr>
                </a:tc>
                <a:extLst>
                  <a:ext uri="{0D108BD9-81ED-4DB2-BD59-A6C34878D82A}">
                    <a16:rowId xmlns:a16="http://schemas.microsoft.com/office/drawing/2014/main" val="4246258281"/>
                  </a:ext>
                </a:extLst>
              </a:tr>
              <a:tr h="298450">
                <a:tc>
                  <a:txBody>
                    <a:bodyPr/>
                    <a:lstStyle/>
                    <a:p>
                      <a:pPr algn="ctr" fontAlgn="b">
                        <a:buNone/>
                      </a:pPr>
                      <a:r>
                        <a:rPr lang="en-US" sz="1800" u="none" strike="noStrike" dirty="0">
                          <a:solidFill>
                            <a:schemeClr val="bg1"/>
                          </a:solidFill>
                          <a:effectLst/>
                        </a:rPr>
                        <a:t>21,031</a:t>
                      </a:r>
                      <a:endParaRPr lang="en-US" sz="1800" b="1" i="0" u="none" strike="noStrike" dirty="0">
                        <a:solidFill>
                          <a:schemeClr val="bg1"/>
                        </a:solidFill>
                        <a:effectLst/>
                        <a:latin typeface="Calibri" panose="020F0502020204030204" pitchFamily="34" charset="0"/>
                      </a:endParaRPr>
                    </a:p>
                  </a:txBody>
                  <a:tcPr marL="6350" marR="6350" marT="6350" marB="0" anchor="b">
                    <a:solidFill>
                      <a:schemeClr val="bg2">
                        <a:lumMod val="50000"/>
                      </a:schemeClr>
                    </a:solidFill>
                  </a:tcPr>
                </a:tc>
                <a:extLst>
                  <a:ext uri="{0D108BD9-81ED-4DB2-BD59-A6C34878D82A}">
                    <a16:rowId xmlns:a16="http://schemas.microsoft.com/office/drawing/2014/main" val="2141009430"/>
                  </a:ext>
                </a:extLst>
              </a:tr>
            </a:tbl>
          </a:graphicData>
        </a:graphic>
      </p:graphicFrame>
      <p:graphicFrame>
        <p:nvGraphicFramePr>
          <p:cNvPr id="16" name="Chart 15">
            <a:extLst>
              <a:ext uri="{FF2B5EF4-FFF2-40B4-BE49-F238E27FC236}">
                <a16:creationId xmlns:a16="http://schemas.microsoft.com/office/drawing/2014/main" id="{FD778910-38A0-E869-976E-0F1E66529FC0}"/>
              </a:ext>
            </a:extLst>
          </p:cNvPr>
          <p:cNvGraphicFramePr>
            <a:graphicFrameLocks/>
          </p:cNvGraphicFramePr>
          <p:nvPr>
            <p:extLst>
              <p:ext uri="{D42A27DB-BD31-4B8C-83A1-F6EECF244321}">
                <p14:modId xmlns:p14="http://schemas.microsoft.com/office/powerpoint/2010/main" val="1041584729"/>
              </p:ext>
            </p:extLst>
          </p:nvPr>
        </p:nvGraphicFramePr>
        <p:xfrm>
          <a:off x="7249099" y="825423"/>
          <a:ext cx="4877517" cy="593893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022466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A47666D5-F3BC-2D98-2E24-C7EA4CA60BF8}"/>
              </a:ext>
            </a:extLst>
          </p:cNvPr>
          <p:cNvSpPr txBox="1"/>
          <p:nvPr/>
        </p:nvSpPr>
        <p:spPr>
          <a:xfrm>
            <a:off x="0" y="0"/>
            <a:ext cx="12192000" cy="520700"/>
          </a:xfrm>
          <a:prstGeom prst="rect">
            <a:avLst/>
          </a:prstGeom>
          <a:solidFill>
            <a:schemeClr val="bg2">
              <a:lumMod val="5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bg1"/>
                </a:solidFill>
              </a:rPr>
              <a:t>NIGERIA ROAD TRAFFIC CRASH ANALYSIS DASHBOARD</a:t>
            </a:r>
          </a:p>
        </p:txBody>
      </p:sp>
      <p:graphicFrame>
        <p:nvGraphicFramePr>
          <p:cNvPr id="4" name="Chart 3">
            <a:extLst>
              <a:ext uri="{FF2B5EF4-FFF2-40B4-BE49-F238E27FC236}">
                <a16:creationId xmlns:a16="http://schemas.microsoft.com/office/drawing/2014/main" id="{88ED3DF0-C47B-7F65-8AD6-CCB86BF0A208}"/>
              </a:ext>
            </a:extLst>
          </p:cNvPr>
          <p:cNvGraphicFramePr>
            <a:graphicFrameLocks/>
          </p:cNvGraphicFramePr>
          <p:nvPr>
            <p:extLst>
              <p:ext uri="{D42A27DB-BD31-4B8C-83A1-F6EECF244321}">
                <p14:modId xmlns:p14="http://schemas.microsoft.com/office/powerpoint/2010/main" val="3990149193"/>
              </p:ext>
            </p:extLst>
          </p:nvPr>
        </p:nvGraphicFramePr>
        <p:xfrm>
          <a:off x="82692" y="3018064"/>
          <a:ext cx="7662604" cy="371041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8FE860C7-D30E-EDAB-F765-A2A13A27E97D}"/>
              </a:ext>
            </a:extLst>
          </p:cNvPr>
          <p:cNvGraphicFramePr>
            <a:graphicFrameLocks/>
          </p:cNvGraphicFramePr>
          <p:nvPr>
            <p:extLst>
              <p:ext uri="{D42A27DB-BD31-4B8C-83A1-F6EECF244321}">
                <p14:modId xmlns:p14="http://schemas.microsoft.com/office/powerpoint/2010/main" val="3227825340"/>
              </p:ext>
            </p:extLst>
          </p:nvPr>
        </p:nvGraphicFramePr>
        <p:xfrm>
          <a:off x="82692" y="685800"/>
          <a:ext cx="3552874" cy="216716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B8520B4F-FE56-0306-0E00-38A5F8891053}"/>
              </a:ext>
            </a:extLst>
          </p:cNvPr>
          <p:cNvGraphicFramePr>
            <a:graphicFrameLocks/>
          </p:cNvGraphicFramePr>
          <p:nvPr>
            <p:extLst>
              <p:ext uri="{D42A27DB-BD31-4B8C-83A1-F6EECF244321}">
                <p14:modId xmlns:p14="http://schemas.microsoft.com/office/powerpoint/2010/main" val="697391909"/>
              </p:ext>
            </p:extLst>
          </p:nvPr>
        </p:nvGraphicFramePr>
        <p:xfrm>
          <a:off x="7918932" y="685800"/>
          <a:ext cx="4190376" cy="60426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a:extLst>
              <a:ext uri="{FF2B5EF4-FFF2-40B4-BE49-F238E27FC236}">
                <a16:creationId xmlns:a16="http://schemas.microsoft.com/office/drawing/2014/main" id="{600081AD-4898-554D-D18E-C3192E20C1ED}"/>
              </a:ext>
            </a:extLst>
          </p:cNvPr>
          <p:cNvGraphicFramePr>
            <a:graphicFrameLocks/>
          </p:cNvGraphicFramePr>
          <p:nvPr>
            <p:extLst>
              <p:ext uri="{D42A27DB-BD31-4B8C-83A1-F6EECF244321}">
                <p14:modId xmlns:p14="http://schemas.microsoft.com/office/powerpoint/2010/main" val="623368095"/>
              </p:ext>
            </p:extLst>
          </p:nvPr>
        </p:nvGraphicFramePr>
        <p:xfrm>
          <a:off x="3809202" y="685800"/>
          <a:ext cx="3936094" cy="216716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825350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000E7AC2-5EC1-7D8E-768A-FA364D122CEC}"/>
              </a:ext>
            </a:extLst>
          </p:cNvPr>
          <p:cNvSpPr txBox="1"/>
          <p:nvPr/>
        </p:nvSpPr>
        <p:spPr>
          <a:xfrm>
            <a:off x="0" y="0"/>
            <a:ext cx="12192000" cy="520700"/>
          </a:xfrm>
          <a:prstGeom prst="rect">
            <a:avLst/>
          </a:prstGeom>
          <a:solidFill>
            <a:schemeClr val="bg2">
              <a:lumMod val="5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a:solidFill>
                  <a:schemeClr val="bg1"/>
                </a:solidFill>
              </a:rPr>
              <a:t>INSIGHTS &amp; RECOMMENDATION</a:t>
            </a:r>
            <a:endParaRPr lang="en-US" sz="2800" b="1" dirty="0">
              <a:solidFill>
                <a:schemeClr val="bg1"/>
              </a:solidFill>
            </a:endParaRPr>
          </a:p>
        </p:txBody>
      </p:sp>
      <p:sp>
        <p:nvSpPr>
          <p:cNvPr id="4" name="TextBox 3">
            <a:extLst>
              <a:ext uri="{FF2B5EF4-FFF2-40B4-BE49-F238E27FC236}">
                <a16:creationId xmlns:a16="http://schemas.microsoft.com/office/drawing/2014/main" id="{2E8C7F01-B2EF-1F95-4D79-5BBC09CC80C5}"/>
              </a:ext>
            </a:extLst>
          </p:cNvPr>
          <p:cNvSpPr txBox="1"/>
          <p:nvPr/>
        </p:nvSpPr>
        <p:spPr>
          <a:xfrm>
            <a:off x="0" y="628157"/>
            <a:ext cx="12192000" cy="6186309"/>
          </a:xfrm>
          <a:prstGeom prst="rect">
            <a:avLst/>
          </a:prstGeom>
          <a:noFill/>
        </p:spPr>
        <p:txBody>
          <a:bodyPr wrap="square">
            <a:spAutoFit/>
          </a:bodyPr>
          <a:lstStyle/>
          <a:p>
            <a:pPr>
              <a:buNone/>
            </a:pPr>
            <a:r>
              <a:rPr lang="en-US" b="1" dirty="0"/>
              <a:t>Key Insights</a:t>
            </a:r>
          </a:p>
          <a:p>
            <a:pPr>
              <a:buNone/>
            </a:pPr>
            <a:r>
              <a:rPr lang="en-US" dirty="0"/>
              <a:t>The analysis recorded </a:t>
            </a:r>
            <a:r>
              <a:rPr lang="en-US" b="1" dirty="0"/>
              <a:t>43,262 road traffic crashes</a:t>
            </a:r>
            <a:r>
              <a:rPr lang="en-US" dirty="0"/>
              <a:t>, resulting in </a:t>
            </a:r>
            <a:r>
              <a:rPr lang="en-US" b="1" dirty="0"/>
              <a:t>127,237 injuries and 21,031 fatalities</a:t>
            </a:r>
            <a:r>
              <a:rPr lang="en-US" dirty="0"/>
              <a:t> during the period analyzed. Crash levels fluctuated across quarters, with </a:t>
            </a:r>
            <a:r>
              <a:rPr lang="en-US" b="1" dirty="0"/>
              <a:t>Q4 2022 recording the highest number of crashes (3,617)</a:t>
            </a:r>
            <a:r>
              <a:rPr lang="en-US" dirty="0"/>
              <a:t>, while Q3 2023 recorded the lowest (</a:t>
            </a:r>
            <a:r>
              <a:rPr lang="en-US" b="1" dirty="0"/>
              <a:t>2,187</a:t>
            </a:r>
            <a:r>
              <a:rPr lang="en-US" dirty="0"/>
              <a:t>).</a:t>
            </a:r>
          </a:p>
          <a:p>
            <a:pPr>
              <a:buNone/>
            </a:pPr>
            <a:r>
              <a:rPr lang="en-US" dirty="0"/>
              <a:t>Crash-cause analysis showed that </a:t>
            </a:r>
            <a:r>
              <a:rPr lang="en-US" b="1" dirty="0"/>
              <a:t>Other Factors and Speed Violations (SPV)</a:t>
            </a:r>
            <a:r>
              <a:rPr lang="en-US" dirty="0"/>
              <a:t> were the leading contributors nationally, followed by </a:t>
            </a:r>
            <a:r>
              <a:rPr lang="en-US" b="1" dirty="0"/>
              <a:t>Fatigue (FTQ)</a:t>
            </a:r>
            <a:r>
              <a:rPr lang="en-US" dirty="0"/>
              <a:t>, while Poor Weather (PWR) and Dangerous Driving (DAD) represented much smaller proportions of recorded causes. Geographic analysis also revealed considerable differences across states, with </a:t>
            </a:r>
            <a:r>
              <a:rPr lang="en-US" b="1" dirty="0"/>
              <a:t>FCT and Ogun</a:t>
            </a:r>
            <a:r>
              <a:rPr lang="en-US" dirty="0"/>
              <a:t> showing particularly high levels for some major crash factors.</a:t>
            </a:r>
          </a:p>
          <a:p>
            <a:pPr>
              <a:buNone/>
            </a:pPr>
            <a:r>
              <a:rPr lang="en-US" dirty="0"/>
              <a:t>Weather-related crashes were relatively uncommon, with </a:t>
            </a:r>
            <a:r>
              <a:rPr lang="en-US" b="1" dirty="0"/>
              <a:t>184 cases</a:t>
            </a:r>
            <a:r>
              <a:rPr lang="en-US" dirty="0"/>
              <a:t> recorded. However, they varied considerably by location and period, with </a:t>
            </a:r>
            <a:r>
              <a:rPr lang="en-US" b="1" dirty="0"/>
              <a:t>Niger State recording the highest number (64)</a:t>
            </a:r>
            <a:r>
              <a:rPr lang="en-US" dirty="0"/>
              <a:t> and </a:t>
            </a:r>
            <a:r>
              <a:rPr lang="en-US" b="1" dirty="0"/>
              <a:t>Q1 2022 recording the highest quarterly PWR figure (42)</a:t>
            </a:r>
            <a:r>
              <a:rPr lang="en-US" dirty="0"/>
              <a:t>.</a:t>
            </a:r>
          </a:p>
          <a:p>
            <a:pPr>
              <a:buNone/>
            </a:pPr>
            <a:endParaRPr lang="en-US" dirty="0"/>
          </a:p>
          <a:p>
            <a:pPr>
              <a:buNone/>
            </a:pPr>
            <a:r>
              <a:rPr lang="en-US" b="1" dirty="0"/>
              <a:t>Recommendations</a:t>
            </a:r>
          </a:p>
          <a:p>
            <a:pPr>
              <a:buNone/>
            </a:pPr>
            <a:r>
              <a:rPr lang="en-US" dirty="0"/>
              <a:t>Road-safety interventions should prioritize </a:t>
            </a:r>
            <a:r>
              <a:rPr lang="en-US" b="1" dirty="0"/>
              <a:t>speed management, driver education and fatigue prevention</a:t>
            </a:r>
            <a:r>
              <a:rPr lang="en-US" dirty="0"/>
              <a:t>, as these represent important contributors to crashes. Enforcement of speed limits should be strengthened through monitoring, penalties and targeted campaigns, particularly in states with high SPV figures.</a:t>
            </a:r>
          </a:p>
          <a:p>
            <a:pPr>
              <a:buNone/>
            </a:pPr>
            <a:r>
              <a:rPr lang="en-US" dirty="0"/>
              <a:t>High-risk states should receive </a:t>
            </a:r>
            <a:r>
              <a:rPr lang="en-US" b="1" dirty="0"/>
              <a:t>location-specific interventions</a:t>
            </a:r>
            <a:r>
              <a:rPr lang="en-US" dirty="0"/>
              <a:t>, including increased road-safety enforcement, improved road infrastructure and targeted public awareness campaigns. Driver rest programs and education on fatigue should also be strengthened, particularly for commercial and long-distance drivers.</a:t>
            </a:r>
          </a:p>
          <a:p>
            <a:pPr>
              <a:buNone/>
            </a:pPr>
            <a:r>
              <a:rPr lang="en-US" dirty="0"/>
              <a:t>Although weather-related crashes account for a smaller proportion of incidents, states with higher PWR figures should improve </a:t>
            </a:r>
            <a:r>
              <a:rPr lang="en-US" b="1" dirty="0"/>
              <a:t>weather warnings, road maintenance, drainage, visibility measures and driver awareness during adverse conditions</a:t>
            </a:r>
            <a:r>
              <a:rPr lang="en-US" dirty="0"/>
              <a:t>. Continuous monitoring of quarterly and state-level crash patterns will help authorities allocate resources effectively and implement preventive measures where they are most needed.</a:t>
            </a:r>
          </a:p>
        </p:txBody>
      </p:sp>
    </p:spTree>
    <p:extLst>
      <p:ext uri="{BB962C8B-B14F-4D97-AF65-F5344CB8AC3E}">
        <p14:creationId xmlns:p14="http://schemas.microsoft.com/office/powerpoint/2010/main" val="25163480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1607</Words>
  <Application>Microsoft Office PowerPoint</Application>
  <PresentationFormat>Widescreen</PresentationFormat>
  <Paragraphs>69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Akinnitire Akintunde</dc:creator>
  <cp:lastModifiedBy>Akinnitire Akintunde</cp:lastModifiedBy>
  <cp:revision>29</cp:revision>
  <dcterms:created xsi:type="dcterms:W3CDTF">2026-07-22T14:00:23Z</dcterms:created>
  <dcterms:modified xsi:type="dcterms:W3CDTF">2026-07-24T10:39:44Z</dcterms:modified>
</cp:coreProperties>
</file>