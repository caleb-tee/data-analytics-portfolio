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6" r:id="rId6"/>
    <p:sldId id="260" r:id="rId7"/>
    <p:sldId id="261" r:id="rId8"/>
    <p:sldId id="262" r:id="rId9"/>
    <p:sldId id="267"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1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Fish_store_data.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OneDrive\Desktop\data%20sets%20skillboost\Fish_store_data\Fish_store_data.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[Fish_store_data.xlsx]Fish popularity!PivotTable6</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Fish Type by Location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'Fish popularity'!$C$3:$C$4</c:f>
              <c:strCache>
                <c:ptCount val="1"/>
                <c:pt idx="0">
                  <c:v>Catfish</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popularity'!$C$5:$C$8</c:f>
              <c:numCache>
                <c:formatCode>General</c:formatCode>
                <c:ptCount val="3"/>
                <c:pt idx="0">
                  <c:v>1315</c:v>
                </c:pt>
                <c:pt idx="1">
                  <c:v>1318</c:v>
                </c:pt>
                <c:pt idx="2">
                  <c:v>1325</c:v>
                </c:pt>
              </c:numCache>
            </c:numRef>
          </c:val>
          <c:extLst>
            <c:ext xmlns:c16="http://schemas.microsoft.com/office/drawing/2014/chart" uri="{C3380CC4-5D6E-409C-BE32-E72D297353CC}">
              <c16:uniqueId val="{00000004-AD19-4A41-98B8-B74868268BB0}"/>
            </c:ext>
          </c:extLst>
        </c:ser>
        <c:ser>
          <c:idx val="1"/>
          <c:order val="1"/>
          <c:tx>
            <c:strRef>
              <c:f>'Fish popularity'!$D$3:$D$4</c:f>
              <c:strCache>
                <c:ptCount val="1"/>
                <c:pt idx="0">
                  <c:v>Mackerel</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popularity'!$D$5:$D$8</c:f>
              <c:numCache>
                <c:formatCode>General</c:formatCode>
                <c:ptCount val="3"/>
                <c:pt idx="0">
                  <c:v>1053</c:v>
                </c:pt>
                <c:pt idx="1">
                  <c:v>1271</c:v>
                </c:pt>
                <c:pt idx="2">
                  <c:v>1210</c:v>
                </c:pt>
              </c:numCache>
            </c:numRef>
          </c:val>
          <c:extLst>
            <c:ext xmlns:c16="http://schemas.microsoft.com/office/drawing/2014/chart" uri="{C3380CC4-5D6E-409C-BE32-E72D297353CC}">
              <c16:uniqueId val="{00000005-AD19-4A41-98B8-B74868268BB0}"/>
            </c:ext>
          </c:extLst>
        </c:ser>
        <c:ser>
          <c:idx val="2"/>
          <c:order val="2"/>
          <c:tx>
            <c:strRef>
              <c:f>'Fish popularity'!$E$3:$E$4</c:f>
              <c:strCache>
                <c:ptCount val="1"/>
                <c:pt idx="0">
                  <c:v>Sardine</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popularity'!$E$5:$E$8</c:f>
              <c:numCache>
                <c:formatCode>General</c:formatCode>
                <c:ptCount val="3"/>
                <c:pt idx="0">
                  <c:v>1049</c:v>
                </c:pt>
                <c:pt idx="1">
                  <c:v>1240</c:v>
                </c:pt>
                <c:pt idx="2">
                  <c:v>1113</c:v>
                </c:pt>
              </c:numCache>
            </c:numRef>
          </c:val>
          <c:extLst>
            <c:ext xmlns:c16="http://schemas.microsoft.com/office/drawing/2014/chart" uri="{C3380CC4-5D6E-409C-BE32-E72D297353CC}">
              <c16:uniqueId val="{00000006-AD19-4A41-98B8-B74868268BB0}"/>
            </c:ext>
          </c:extLst>
        </c:ser>
        <c:ser>
          <c:idx val="3"/>
          <c:order val="3"/>
          <c:tx>
            <c:strRef>
              <c:f>'Fish popularity'!$F$3:$F$4</c:f>
              <c:strCache>
                <c:ptCount val="1"/>
                <c:pt idx="0">
                  <c:v>Tilapia</c:v>
                </c:pt>
              </c:strCache>
            </c:strRef>
          </c:tx>
          <c:spPr>
            <a:solidFill>
              <a:schemeClr val="dk1">
                <a:tint val="9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popularity'!$F$5:$F$8</c:f>
              <c:numCache>
                <c:formatCode>General</c:formatCode>
                <c:ptCount val="3"/>
                <c:pt idx="0">
                  <c:v>1269</c:v>
                </c:pt>
                <c:pt idx="1">
                  <c:v>1286</c:v>
                </c:pt>
                <c:pt idx="2">
                  <c:v>1239</c:v>
                </c:pt>
              </c:numCache>
            </c:numRef>
          </c:val>
          <c:extLst>
            <c:ext xmlns:c16="http://schemas.microsoft.com/office/drawing/2014/chart" uri="{C3380CC4-5D6E-409C-BE32-E72D297353CC}">
              <c16:uniqueId val="{00000007-AD19-4A41-98B8-B74868268BB0}"/>
            </c:ext>
          </c:extLst>
        </c:ser>
        <c:dLbls>
          <c:dLblPos val="ctr"/>
          <c:showLegendKey val="0"/>
          <c:showVal val="1"/>
          <c:showCatName val="0"/>
          <c:showSerName val="0"/>
          <c:showPercent val="0"/>
          <c:showBubbleSize val="0"/>
        </c:dLbls>
        <c:gapWidth val="219"/>
        <c:overlap val="100"/>
        <c:axId val="569414088"/>
        <c:axId val="533962008"/>
      </c:barChart>
      <c:catAx>
        <c:axId val="569414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3962008"/>
        <c:crosses val="autoZero"/>
        <c:auto val="1"/>
        <c:lblAlgn val="ctr"/>
        <c:lblOffset val="100"/>
        <c:noMultiLvlLbl val="0"/>
      </c:catAx>
      <c:valAx>
        <c:axId val="53396200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Fish Type</a:t>
                </a:r>
              </a:p>
            </c:rich>
          </c:tx>
          <c:layout>
            <c:manualLayout>
              <c:xMode val="edge"/>
              <c:yMode val="edge"/>
              <c:x val="0.8540384951881016"/>
              <c:y val="0.3231248177311170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94140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[Fish_store_data.xlsx]Fish popularity!PivotTable7</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Fish Size Distribution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'Fish popularity'!$C$10:$C$11</c:f>
              <c:strCache>
                <c:ptCount val="1"/>
                <c:pt idx="0">
                  <c:v>1 kg</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popularity'!$C$12:$C$15</c:f>
              <c:numCache>
                <c:formatCode>General</c:formatCode>
                <c:ptCount val="3"/>
                <c:pt idx="0">
                  <c:v>1339</c:v>
                </c:pt>
                <c:pt idx="1">
                  <c:v>1345</c:v>
                </c:pt>
                <c:pt idx="2">
                  <c:v>1367</c:v>
                </c:pt>
              </c:numCache>
            </c:numRef>
          </c:val>
          <c:extLst>
            <c:ext xmlns:c16="http://schemas.microsoft.com/office/drawing/2014/chart" uri="{C3380CC4-5D6E-409C-BE32-E72D297353CC}">
              <c16:uniqueId val="{00000000-9CE6-4F83-A109-4F7C105CB281}"/>
            </c:ext>
          </c:extLst>
        </c:ser>
        <c:ser>
          <c:idx val="1"/>
          <c:order val="1"/>
          <c:tx>
            <c:strRef>
              <c:f>'Fish popularity'!$D$10:$D$11</c:f>
              <c:strCache>
                <c:ptCount val="1"/>
                <c:pt idx="0">
                  <c:v>1.5 kg</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popularity'!$D$12:$D$15</c:f>
              <c:numCache>
                <c:formatCode>General</c:formatCode>
                <c:ptCount val="3"/>
                <c:pt idx="0">
                  <c:v>1195</c:v>
                </c:pt>
                <c:pt idx="1">
                  <c:v>1149</c:v>
                </c:pt>
                <c:pt idx="2">
                  <c:v>1167</c:v>
                </c:pt>
              </c:numCache>
            </c:numRef>
          </c:val>
          <c:extLst>
            <c:ext xmlns:c16="http://schemas.microsoft.com/office/drawing/2014/chart" uri="{C3380CC4-5D6E-409C-BE32-E72D297353CC}">
              <c16:uniqueId val="{00000001-9CE6-4F83-A109-4F7C105CB281}"/>
            </c:ext>
          </c:extLst>
        </c:ser>
        <c:ser>
          <c:idx val="2"/>
          <c:order val="2"/>
          <c:tx>
            <c:strRef>
              <c:f>'Fish popularity'!$E$10:$E$11</c:f>
              <c:strCache>
                <c:ptCount val="1"/>
                <c:pt idx="0">
                  <c:v>2 kg</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popularity'!$E$12:$E$15</c:f>
              <c:numCache>
                <c:formatCode>General</c:formatCode>
                <c:ptCount val="3"/>
                <c:pt idx="0">
                  <c:v>1070</c:v>
                </c:pt>
                <c:pt idx="1">
                  <c:v>1291</c:v>
                </c:pt>
                <c:pt idx="2">
                  <c:v>1071</c:v>
                </c:pt>
              </c:numCache>
            </c:numRef>
          </c:val>
          <c:extLst>
            <c:ext xmlns:c16="http://schemas.microsoft.com/office/drawing/2014/chart" uri="{C3380CC4-5D6E-409C-BE32-E72D297353CC}">
              <c16:uniqueId val="{00000002-9CE6-4F83-A109-4F7C105CB281}"/>
            </c:ext>
          </c:extLst>
        </c:ser>
        <c:ser>
          <c:idx val="3"/>
          <c:order val="3"/>
          <c:tx>
            <c:strRef>
              <c:f>'Fish popularity'!$F$10:$F$11</c:f>
              <c:strCache>
                <c:ptCount val="1"/>
                <c:pt idx="0">
                  <c:v>500g</c:v>
                </c:pt>
              </c:strCache>
            </c:strRef>
          </c:tx>
          <c:spPr>
            <a:solidFill>
              <a:schemeClr val="dk1">
                <a:tint val="9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popularity'!$F$12:$F$15</c:f>
              <c:numCache>
                <c:formatCode>General</c:formatCode>
                <c:ptCount val="3"/>
                <c:pt idx="0">
                  <c:v>1082</c:v>
                </c:pt>
                <c:pt idx="1">
                  <c:v>1330</c:v>
                </c:pt>
                <c:pt idx="2">
                  <c:v>1282</c:v>
                </c:pt>
              </c:numCache>
            </c:numRef>
          </c:val>
          <c:extLst>
            <c:ext xmlns:c16="http://schemas.microsoft.com/office/drawing/2014/chart" uri="{C3380CC4-5D6E-409C-BE32-E72D297353CC}">
              <c16:uniqueId val="{00000003-9CE6-4F83-A109-4F7C105CB281}"/>
            </c:ext>
          </c:extLst>
        </c:ser>
        <c:dLbls>
          <c:dLblPos val="ctr"/>
          <c:showLegendKey val="0"/>
          <c:showVal val="1"/>
          <c:showCatName val="0"/>
          <c:showSerName val="0"/>
          <c:showPercent val="0"/>
          <c:showBubbleSize val="0"/>
        </c:dLbls>
        <c:gapWidth val="219"/>
        <c:overlap val="100"/>
        <c:axId val="437854648"/>
        <c:axId val="437853568"/>
      </c:barChart>
      <c:catAx>
        <c:axId val="437854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Fish Size</a:t>
                </a:r>
              </a:p>
            </c:rich>
          </c:tx>
          <c:layout>
            <c:manualLayout>
              <c:xMode val="edge"/>
              <c:yMode val="edge"/>
              <c:x val="0.8573973366643618"/>
              <c:y val="0.3370137066200058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7853568"/>
        <c:crosses val="autoZero"/>
        <c:auto val="1"/>
        <c:lblAlgn val="ctr"/>
        <c:lblOffset val="100"/>
        <c:noMultiLvlLbl val="0"/>
      </c:catAx>
      <c:valAx>
        <c:axId val="437853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7854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lt1">
          <a:shade val="50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[Fish_store_data.xlsx]Supplier performance !PivotTable9</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 by Supplier Information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'Supplier performance '!$F$3</c:f>
              <c:strCache>
                <c:ptCount val="1"/>
                <c:pt idx="0">
                  <c:v>Total</c:v>
                </c:pt>
              </c:strCache>
            </c:strRef>
          </c:tx>
          <c:spPr>
            <a:solidFill>
              <a:schemeClr val="dk1">
                <a:tint val="88500"/>
              </a:schemeClr>
            </a:solidFill>
            <a:ln>
              <a:noFill/>
            </a:ln>
            <a:effectLst/>
          </c:spPr>
          <c:invertIfNegative val="0"/>
          <c:cat>
            <c:strRef>
              <c:f>'Supplier performance '!$E$4:$E$10</c:f>
              <c:strCache>
                <c:ptCount val="6"/>
                <c:pt idx="0">
                  <c:v>ABC Fisheries</c:v>
                </c:pt>
                <c:pt idx="1">
                  <c:v>Abuja Fish Co.</c:v>
                </c:pt>
                <c:pt idx="2">
                  <c:v>Lagos Sea Foods</c:v>
                </c:pt>
                <c:pt idx="3">
                  <c:v>North Marine</c:v>
                </c:pt>
                <c:pt idx="4">
                  <c:v>Rivers Aqua</c:v>
                </c:pt>
                <c:pt idx="5">
                  <c:v>(blank)</c:v>
                </c:pt>
              </c:strCache>
            </c:strRef>
          </c:cat>
          <c:val>
            <c:numRef>
              <c:f>'Supplier performance '!$F$4:$F$10</c:f>
              <c:numCache>
                <c:formatCode>General</c:formatCode>
                <c:ptCount val="6"/>
                <c:pt idx="0">
                  <c:v>4868578</c:v>
                </c:pt>
                <c:pt idx="1">
                  <c:v>4733737</c:v>
                </c:pt>
                <c:pt idx="2">
                  <c:v>4541446</c:v>
                </c:pt>
                <c:pt idx="3">
                  <c:v>3583045</c:v>
                </c:pt>
                <c:pt idx="4">
                  <c:v>4676498</c:v>
                </c:pt>
              </c:numCache>
            </c:numRef>
          </c:val>
          <c:extLst>
            <c:ext xmlns:c16="http://schemas.microsoft.com/office/drawing/2014/chart" uri="{C3380CC4-5D6E-409C-BE32-E72D297353CC}">
              <c16:uniqueId val="{00000000-447E-4573-88EF-DB2D6B02C2FC}"/>
            </c:ext>
          </c:extLst>
        </c:ser>
        <c:dLbls>
          <c:showLegendKey val="0"/>
          <c:showVal val="0"/>
          <c:showCatName val="0"/>
          <c:showSerName val="0"/>
          <c:showPercent val="0"/>
          <c:showBubbleSize val="0"/>
        </c:dLbls>
        <c:gapWidth val="219"/>
        <c:overlap val="-27"/>
        <c:axId val="435247728"/>
        <c:axId val="435250968"/>
      </c:barChart>
      <c:catAx>
        <c:axId val="435247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250968"/>
        <c:crosses val="autoZero"/>
        <c:auto val="1"/>
        <c:lblAlgn val="ctr"/>
        <c:lblOffset val="100"/>
        <c:noMultiLvlLbl val="0"/>
      </c:catAx>
      <c:valAx>
        <c:axId val="435250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2477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[Fish_store_data.xlsx]Supplier performance !PivotTable8</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Profit by Supplier Information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'Supplier performance '!$C$3</c:f>
              <c:strCache>
                <c:ptCount val="1"/>
                <c:pt idx="0">
                  <c:v>Total</c:v>
                </c:pt>
              </c:strCache>
            </c:strRef>
          </c:tx>
          <c:spPr>
            <a:solidFill>
              <a:schemeClr val="dk1">
                <a:tint val="88500"/>
              </a:schemeClr>
            </a:solidFill>
            <a:ln>
              <a:noFill/>
            </a:ln>
            <a:effectLst/>
          </c:spPr>
          <c:invertIfNegative val="0"/>
          <c:cat>
            <c:strRef>
              <c:f>'Supplier performance '!$B$4:$B$10</c:f>
              <c:strCache>
                <c:ptCount val="6"/>
                <c:pt idx="0">
                  <c:v>ABC Fisheries</c:v>
                </c:pt>
                <c:pt idx="1">
                  <c:v>Abuja Fish Co.</c:v>
                </c:pt>
                <c:pt idx="2">
                  <c:v>Lagos Sea Foods</c:v>
                </c:pt>
                <c:pt idx="3">
                  <c:v>North Marine</c:v>
                </c:pt>
                <c:pt idx="4">
                  <c:v>Rivers Aqua</c:v>
                </c:pt>
                <c:pt idx="5">
                  <c:v>(blank)</c:v>
                </c:pt>
              </c:strCache>
            </c:strRef>
          </c:cat>
          <c:val>
            <c:numRef>
              <c:f>'Supplier performance '!$C$4:$C$10</c:f>
              <c:numCache>
                <c:formatCode>General</c:formatCode>
                <c:ptCount val="6"/>
                <c:pt idx="0">
                  <c:v>770811</c:v>
                </c:pt>
                <c:pt idx="1">
                  <c:v>779224</c:v>
                </c:pt>
                <c:pt idx="2">
                  <c:v>718111</c:v>
                </c:pt>
                <c:pt idx="3">
                  <c:v>621503</c:v>
                </c:pt>
                <c:pt idx="4">
                  <c:v>740919</c:v>
                </c:pt>
              </c:numCache>
            </c:numRef>
          </c:val>
          <c:extLst>
            <c:ext xmlns:c16="http://schemas.microsoft.com/office/drawing/2014/chart" uri="{C3380CC4-5D6E-409C-BE32-E72D297353CC}">
              <c16:uniqueId val="{00000000-D91A-4238-A482-9B7383946455}"/>
            </c:ext>
          </c:extLst>
        </c:ser>
        <c:dLbls>
          <c:showLegendKey val="0"/>
          <c:showVal val="0"/>
          <c:showCatName val="0"/>
          <c:showSerName val="0"/>
          <c:showPercent val="0"/>
          <c:showBubbleSize val="0"/>
        </c:dLbls>
        <c:gapWidth val="219"/>
        <c:overlap val="-27"/>
        <c:axId val="370350672"/>
        <c:axId val="534118888"/>
      </c:barChart>
      <c:catAx>
        <c:axId val="370350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4118888"/>
        <c:crosses val="autoZero"/>
        <c:auto val="1"/>
        <c:lblAlgn val="ctr"/>
        <c:lblOffset val="100"/>
        <c:noMultiLvlLbl val="0"/>
      </c:catAx>
      <c:valAx>
        <c:axId val="534118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03506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[Fish_store_data.xlsx]Online vs In-Store Sales!PivotTable1</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Perfomance Distribution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w="19050">
            <a:solidFill>
              <a:schemeClr val="lt1"/>
            </a:solidFill>
          </a:ln>
          <a:effectLst/>
        </c:spPr>
      </c:pivotFmt>
      <c:pivotFmt>
        <c:idx val="3"/>
        <c:spPr>
          <a:solidFill>
            <a:schemeClr val="dk1">
              <a:tint val="88500"/>
            </a:schemeClr>
          </a:solidFill>
          <a:ln w="19050">
            <a:solidFill>
              <a:schemeClr val="lt1"/>
            </a:solidFill>
          </a:ln>
          <a:effectLst/>
        </c:spPr>
      </c:pivotFmt>
      <c:pivotFmt>
        <c:idx val="4"/>
        <c:spPr>
          <a:solidFill>
            <a:schemeClr val="dk1">
              <a:tint val="88500"/>
            </a:schemeClr>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w="19050">
            <a:solidFill>
              <a:schemeClr val="lt1"/>
            </a:solidFill>
          </a:ln>
          <a:effectLst/>
        </c:spPr>
      </c:pivotFmt>
      <c:pivotFmt>
        <c:idx val="6"/>
        <c:spPr>
          <a:solidFill>
            <a:schemeClr val="dk1">
              <a:tint val="88500"/>
            </a:schemeClr>
          </a:solidFill>
          <a:ln w="19050">
            <a:solidFill>
              <a:schemeClr val="lt1"/>
            </a:solidFill>
          </a:ln>
          <a:effectLst/>
        </c:spPr>
      </c:pivotFmt>
    </c:pivotFmts>
    <c:plotArea>
      <c:layout/>
      <c:doughnutChart>
        <c:varyColors val="1"/>
        <c:ser>
          <c:idx val="0"/>
          <c:order val="0"/>
          <c:tx>
            <c:strRef>
              <c:f>'Online vs In-Store Sales'!$C$4</c:f>
              <c:strCache>
                <c:ptCount val="1"/>
                <c:pt idx="0">
                  <c:v>Total</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566E-453C-9139-1938C50E833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566E-453C-9139-1938C50E833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'Online vs In-Store Sales'!$B$5:$B$7</c:f>
              <c:strCache>
                <c:ptCount val="2"/>
                <c:pt idx="0">
                  <c:v>In-store</c:v>
                </c:pt>
                <c:pt idx="1">
                  <c:v>Online</c:v>
                </c:pt>
              </c:strCache>
            </c:strRef>
          </c:cat>
          <c:val>
            <c:numRef>
              <c:f>'Online vs In-Store Sales'!$C$5:$C$7</c:f>
              <c:numCache>
                <c:formatCode>General</c:formatCode>
                <c:ptCount val="2"/>
                <c:pt idx="0">
                  <c:v>11151688</c:v>
                </c:pt>
                <c:pt idx="1">
                  <c:v>11251616</c:v>
                </c:pt>
              </c:numCache>
            </c:numRef>
          </c:val>
          <c:extLst>
            <c:ext xmlns:c16="http://schemas.microsoft.com/office/drawing/2014/chart" uri="{C3380CC4-5D6E-409C-BE32-E72D297353CC}">
              <c16:uniqueId val="{00000005-4702-4A57-BC8D-07BFB59B08C6}"/>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[Fish_store_data.xlsx]Impact of Discounting on Sales!PivotTable2</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sales by Discount Amount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Discounting on Sales'!$C$5</c:f>
              <c:strCache>
                <c:ptCount val="1"/>
                <c:pt idx="0">
                  <c:v>Total</c:v>
                </c:pt>
              </c:strCache>
            </c:strRef>
          </c:tx>
          <c:spPr>
            <a:solidFill>
              <a:schemeClr val="dk1">
                <a:tint val="88500"/>
              </a:schemeClr>
            </a:solidFill>
            <a:ln>
              <a:noFill/>
            </a:ln>
            <a:effectLst/>
          </c:spPr>
          <c:invertIfNegative val="0"/>
          <c:cat>
            <c:strRef>
              <c:f>'Impact of Discounting on Sales'!$B$6:$B$10</c:f>
              <c:strCache>
                <c:ptCount val="4"/>
                <c:pt idx="0">
                  <c:v>0</c:v>
                </c:pt>
                <c:pt idx="1">
                  <c:v>50</c:v>
                </c:pt>
                <c:pt idx="2">
                  <c:v>100</c:v>
                </c:pt>
                <c:pt idx="3">
                  <c:v>200</c:v>
                </c:pt>
              </c:strCache>
            </c:strRef>
          </c:cat>
          <c:val>
            <c:numRef>
              <c:f>'Impact of Discounting on Sales'!$C$6:$C$10</c:f>
              <c:numCache>
                <c:formatCode>General</c:formatCode>
                <c:ptCount val="4"/>
                <c:pt idx="0">
                  <c:v>5523038</c:v>
                </c:pt>
                <c:pt idx="1">
                  <c:v>5874233</c:v>
                </c:pt>
                <c:pt idx="2">
                  <c:v>5651954</c:v>
                </c:pt>
                <c:pt idx="3">
                  <c:v>5354079</c:v>
                </c:pt>
              </c:numCache>
            </c:numRef>
          </c:val>
          <c:extLst>
            <c:ext xmlns:c16="http://schemas.microsoft.com/office/drawing/2014/chart" uri="{C3380CC4-5D6E-409C-BE32-E72D297353CC}">
              <c16:uniqueId val="{00000001-04C4-46FB-AB47-93C6FC43CC93}"/>
            </c:ext>
          </c:extLst>
        </c:ser>
        <c:dLbls>
          <c:showLegendKey val="0"/>
          <c:showVal val="0"/>
          <c:showCatName val="0"/>
          <c:showSerName val="0"/>
          <c:showPercent val="0"/>
          <c:showBubbleSize val="0"/>
        </c:dLbls>
        <c:gapWidth val="219"/>
        <c:overlap val="-27"/>
        <c:axId val="571724448"/>
        <c:axId val="571724808"/>
      </c:barChart>
      <c:catAx>
        <c:axId val="571724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1724808"/>
        <c:crosses val="autoZero"/>
        <c:auto val="1"/>
        <c:lblAlgn val="ctr"/>
        <c:lblOffset val="100"/>
        <c:noMultiLvlLbl val="0"/>
      </c:catAx>
      <c:valAx>
        <c:axId val="571724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17244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[Fish_store_data.xlsx]Customer Segmentation!PivotTable10</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Location by Purchase</a:t>
            </a:r>
            <a:r>
              <a:rPr lang="en-US" baseline="0"/>
              <a:t> Frequency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'Customer Segmentation'!$C$3:$C$4</c:f>
              <c:strCache>
                <c:ptCount val="1"/>
                <c:pt idx="0">
                  <c:v>Biweekly</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'Customer Segmentation'!$B$5:$B$8</c:f>
              <c:strCache>
                <c:ptCount val="3"/>
                <c:pt idx="0">
                  <c:v>Abuja</c:v>
                </c:pt>
                <c:pt idx="1">
                  <c:v>Lagos</c:v>
                </c:pt>
                <c:pt idx="2">
                  <c:v>Port Harcourt</c:v>
                </c:pt>
              </c:strCache>
            </c:strRef>
          </c:cat>
          <c:val>
            <c:numRef>
              <c:f>'Customer Segmentation'!$C$5:$C$8</c:f>
              <c:numCache>
                <c:formatCode>General</c:formatCode>
                <c:ptCount val="3"/>
                <c:pt idx="0">
                  <c:v>191</c:v>
                </c:pt>
                <c:pt idx="1">
                  <c:v>206</c:v>
                </c:pt>
                <c:pt idx="2">
                  <c:v>207</c:v>
                </c:pt>
              </c:numCache>
            </c:numRef>
          </c:val>
          <c:extLst>
            <c:ext xmlns:c16="http://schemas.microsoft.com/office/drawing/2014/chart" uri="{C3380CC4-5D6E-409C-BE32-E72D297353CC}">
              <c16:uniqueId val="{00000003-0E87-4901-B1B3-21B65BEF7FFD}"/>
            </c:ext>
          </c:extLst>
        </c:ser>
        <c:ser>
          <c:idx val="1"/>
          <c:order val="1"/>
          <c:tx>
            <c:strRef>
              <c:f>'Customer Segmentation'!$D$3:$D$4</c:f>
              <c:strCache>
                <c:ptCount val="1"/>
                <c:pt idx="0">
                  <c:v>Monthly</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'Customer Segmentation'!$B$5:$B$8</c:f>
              <c:strCache>
                <c:ptCount val="3"/>
                <c:pt idx="0">
                  <c:v>Abuja</c:v>
                </c:pt>
                <c:pt idx="1">
                  <c:v>Lagos</c:v>
                </c:pt>
                <c:pt idx="2">
                  <c:v>Port Harcourt</c:v>
                </c:pt>
              </c:strCache>
            </c:strRef>
          </c:cat>
          <c:val>
            <c:numRef>
              <c:f>'Customer Segmentation'!$D$5:$D$8</c:f>
              <c:numCache>
                <c:formatCode>General</c:formatCode>
                <c:ptCount val="3"/>
                <c:pt idx="0">
                  <c:v>208</c:v>
                </c:pt>
                <c:pt idx="1">
                  <c:v>211</c:v>
                </c:pt>
                <c:pt idx="2">
                  <c:v>192</c:v>
                </c:pt>
              </c:numCache>
            </c:numRef>
          </c:val>
          <c:extLst>
            <c:ext xmlns:c16="http://schemas.microsoft.com/office/drawing/2014/chart" uri="{C3380CC4-5D6E-409C-BE32-E72D297353CC}">
              <c16:uniqueId val="{00000004-0E87-4901-B1B3-21B65BEF7FFD}"/>
            </c:ext>
          </c:extLst>
        </c:ser>
        <c:ser>
          <c:idx val="2"/>
          <c:order val="2"/>
          <c:tx>
            <c:strRef>
              <c:f>'Customer Segmentation'!$E$3:$E$4</c:f>
              <c:strCache>
                <c:ptCount val="1"/>
                <c:pt idx="0">
                  <c:v>Weekly</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'Customer Segmentation'!$B$5:$B$8</c:f>
              <c:strCache>
                <c:ptCount val="3"/>
                <c:pt idx="0">
                  <c:v>Abuja</c:v>
                </c:pt>
                <c:pt idx="1">
                  <c:v>Lagos</c:v>
                </c:pt>
                <c:pt idx="2">
                  <c:v>Port Harcourt</c:v>
                </c:pt>
              </c:strCache>
            </c:strRef>
          </c:cat>
          <c:val>
            <c:numRef>
              <c:f>'Customer Segmentation'!$E$5:$E$8</c:f>
              <c:numCache>
                <c:formatCode>General</c:formatCode>
                <c:ptCount val="3"/>
                <c:pt idx="0">
                  <c:v>197</c:v>
                </c:pt>
                <c:pt idx="1">
                  <c:v>206</c:v>
                </c:pt>
                <c:pt idx="2">
                  <c:v>208</c:v>
                </c:pt>
              </c:numCache>
            </c:numRef>
          </c:val>
          <c:extLst>
            <c:ext xmlns:c16="http://schemas.microsoft.com/office/drawing/2014/chart" uri="{C3380CC4-5D6E-409C-BE32-E72D297353CC}">
              <c16:uniqueId val="{00000005-0E87-4901-B1B3-21B65BEF7FFD}"/>
            </c:ext>
          </c:extLst>
        </c:ser>
        <c:dLbls>
          <c:dLblPos val="ctr"/>
          <c:showLegendKey val="0"/>
          <c:showVal val="1"/>
          <c:showCatName val="0"/>
          <c:showSerName val="0"/>
          <c:showPercent val="0"/>
          <c:showBubbleSize val="0"/>
        </c:dLbls>
        <c:gapWidth val="219"/>
        <c:overlap val="100"/>
        <c:axId val="443043584"/>
        <c:axId val="533961288"/>
      </c:barChart>
      <c:catAx>
        <c:axId val="4430435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800" b="0" i="0" u="none" strike="noStrike" kern="1200" baseline="0">
                    <a:solidFill>
                      <a:sysClr val="windowText" lastClr="000000">
                        <a:lumMod val="65000"/>
                        <a:lumOff val="35000"/>
                      </a:sysClr>
                    </a:solidFill>
                  </a:rPr>
                  <a:t>Purchase Frequency</a:t>
                </a:r>
                <a:endParaRPr lang="en-US"/>
              </a:p>
            </c:rich>
          </c:tx>
          <c:layout>
            <c:manualLayout>
              <c:xMode val="edge"/>
              <c:yMode val="edge"/>
              <c:x val="0.79985061242344702"/>
              <c:y val="0.374050743657042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3961288"/>
        <c:crosses val="autoZero"/>
        <c:auto val="1"/>
        <c:lblAlgn val="ctr"/>
        <c:lblOffset val="100"/>
        <c:noMultiLvlLbl val="0"/>
      </c:catAx>
      <c:valAx>
        <c:axId val="533961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30435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[Fish_store_data.xlsx]Online vs In-Store Sales!PivotTable1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Perfomance Distribution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w="19050">
            <a:solidFill>
              <a:schemeClr val="lt1"/>
            </a:solidFill>
          </a:ln>
          <a:effectLst/>
        </c:spPr>
      </c:pivotFmt>
      <c:pivotFmt>
        <c:idx val="3"/>
        <c:spPr>
          <a:solidFill>
            <a:schemeClr val="accent3"/>
          </a:solidFill>
          <a:ln w="19050">
            <a:solidFill>
              <a:schemeClr val="lt1"/>
            </a:solidFill>
          </a:ln>
          <a:effectLst/>
        </c:spPr>
      </c:pivotFmt>
      <c:pivotFmt>
        <c:idx val="4"/>
        <c:spPr>
          <a:solidFill>
            <a:schemeClr val="accent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w="19050">
            <a:solidFill>
              <a:schemeClr val="lt1"/>
            </a:solidFill>
          </a:ln>
          <a:effectLst/>
        </c:spPr>
      </c:pivotFmt>
      <c:pivotFmt>
        <c:idx val="6"/>
        <c:spPr>
          <a:solidFill>
            <a:schemeClr val="accent3"/>
          </a:solidFill>
          <a:ln w="19050">
            <a:solidFill>
              <a:schemeClr val="lt1"/>
            </a:solidFill>
          </a:ln>
          <a:effectLst/>
        </c:spPr>
      </c:pivotFmt>
    </c:pivotFmts>
    <c:plotArea>
      <c:layout/>
      <c:doughnutChart>
        <c:varyColors val="1"/>
        <c:ser>
          <c:idx val="0"/>
          <c:order val="0"/>
          <c:tx>
            <c:strRef>
              <c:f>'Online vs In-Store Sales'!$C$4</c:f>
              <c:strCache>
                <c:ptCount val="1"/>
                <c:pt idx="0">
                  <c:v>Total</c:v>
                </c:pt>
              </c:strCache>
            </c:strRef>
          </c:tx>
          <c:dPt>
            <c:idx val="0"/>
            <c:bubble3D val="0"/>
            <c:spPr>
              <a:solidFill>
                <a:schemeClr val="accent3">
                  <a:tint val="77000"/>
                </a:schemeClr>
              </a:solidFill>
              <a:ln w="19050">
                <a:solidFill>
                  <a:schemeClr val="lt1"/>
                </a:solidFill>
              </a:ln>
              <a:effectLst/>
            </c:spPr>
            <c:extLst>
              <c:ext xmlns:c16="http://schemas.microsoft.com/office/drawing/2014/chart" uri="{C3380CC4-5D6E-409C-BE32-E72D297353CC}">
                <c16:uniqueId val="{00000001-0AB9-4E3C-8D63-7C9C4BCEBF2A}"/>
              </c:ext>
            </c:extLst>
          </c:dPt>
          <c:dPt>
            <c:idx val="1"/>
            <c:bubble3D val="0"/>
            <c:spPr>
              <a:solidFill>
                <a:schemeClr val="accent3">
                  <a:shade val="76000"/>
                </a:schemeClr>
              </a:solidFill>
              <a:ln w="19050">
                <a:solidFill>
                  <a:schemeClr val="lt1"/>
                </a:solidFill>
              </a:ln>
              <a:effectLst/>
            </c:spPr>
            <c:extLst>
              <c:ext xmlns:c16="http://schemas.microsoft.com/office/drawing/2014/chart" uri="{C3380CC4-5D6E-409C-BE32-E72D297353CC}">
                <c16:uniqueId val="{00000003-0AB9-4E3C-8D63-7C9C4BCEBF2A}"/>
              </c:ext>
            </c:extLst>
          </c:dPt>
          <c:dLbls>
            <c:dLbl>
              <c:idx val="0"/>
              <c:showLegendKey val="0"/>
              <c:showVal val="1"/>
              <c:showCatName val="0"/>
              <c:showSerName val="0"/>
              <c:showPercent val="0"/>
              <c:showBubbleSize val="0"/>
              <c:extLst>
                <c:ext xmlns:c15="http://schemas.microsoft.com/office/drawing/2012/chart" uri="{CE6537A1-D6FC-4f65-9D91-7224C49458BB}">
                  <c15:layout>
                    <c:manualLayout>
                      <c:w val="0.23288635317093562"/>
                      <c:h val="0.16242488747206008"/>
                    </c:manualLayout>
                  </c15:layout>
                </c:ext>
                <c:ext xmlns:c16="http://schemas.microsoft.com/office/drawing/2014/chart" uri="{C3380CC4-5D6E-409C-BE32-E72D297353CC}">
                  <c16:uniqueId val="{00000001-0AB9-4E3C-8D63-7C9C4BCEBF2A}"/>
                </c:ext>
              </c:extLst>
            </c:dLbl>
            <c:dLbl>
              <c:idx val="1"/>
              <c:showLegendKey val="0"/>
              <c:showVal val="1"/>
              <c:showCatName val="0"/>
              <c:showSerName val="0"/>
              <c:showPercent val="0"/>
              <c:showBubbleSize val="0"/>
              <c:extLst>
                <c:ext xmlns:c15="http://schemas.microsoft.com/office/drawing/2012/chart" uri="{CE6537A1-D6FC-4f65-9D91-7224C49458BB}">
                  <c15:layout>
                    <c:manualLayout>
                      <c:w val="0.248439760551007"/>
                      <c:h val="0.16242488747206008"/>
                    </c:manualLayout>
                  </c15:layout>
                </c:ext>
                <c:ext xmlns:c16="http://schemas.microsoft.com/office/drawing/2014/chart" uri="{C3380CC4-5D6E-409C-BE32-E72D297353CC}">
                  <c16:uniqueId val="{00000003-0AB9-4E3C-8D63-7C9C4BCEBF2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'Online vs In-Store Sales'!$B$5:$B$7</c:f>
              <c:strCache>
                <c:ptCount val="2"/>
                <c:pt idx="0">
                  <c:v>In-store</c:v>
                </c:pt>
                <c:pt idx="1">
                  <c:v>Online</c:v>
                </c:pt>
              </c:strCache>
            </c:strRef>
          </c:cat>
          <c:val>
            <c:numRef>
              <c:f>'Online vs In-Store Sales'!$C$5:$C$7</c:f>
              <c:numCache>
                <c:formatCode>General</c:formatCode>
                <c:ptCount val="2"/>
                <c:pt idx="0">
                  <c:v>11151688</c:v>
                </c:pt>
                <c:pt idx="1">
                  <c:v>11251616</c:v>
                </c:pt>
              </c:numCache>
            </c:numRef>
          </c:val>
          <c:extLst>
            <c:ext xmlns:c16="http://schemas.microsoft.com/office/drawing/2014/chart" uri="{C3380CC4-5D6E-409C-BE32-E72D297353CC}">
              <c16:uniqueId val="{00000004-0AB9-4E3C-8D63-7C9C4BCEBF2A}"/>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[Fish_store_data.xlsx]Impact of Discounting on Sales!PivotTable2</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sales by Discount Amount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Discounting on Sales'!$C$5</c:f>
              <c:strCache>
                <c:ptCount val="1"/>
                <c:pt idx="0">
                  <c:v>Total</c:v>
                </c:pt>
              </c:strCache>
            </c:strRef>
          </c:tx>
          <c:spPr>
            <a:solidFill>
              <a:schemeClr val="dk1">
                <a:tint val="88500"/>
              </a:schemeClr>
            </a:solidFill>
            <a:ln>
              <a:noFill/>
            </a:ln>
            <a:effectLst/>
          </c:spPr>
          <c:invertIfNegative val="0"/>
          <c:cat>
            <c:strRef>
              <c:f>'Impact of Discounting on Sales'!$B$6:$B$10</c:f>
              <c:strCache>
                <c:ptCount val="4"/>
                <c:pt idx="0">
                  <c:v>0</c:v>
                </c:pt>
                <c:pt idx="1">
                  <c:v>50</c:v>
                </c:pt>
                <c:pt idx="2">
                  <c:v>100</c:v>
                </c:pt>
                <c:pt idx="3">
                  <c:v>200</c:v>
                </c:pt>
              </c:strCache>
            </c:strRef>
          </c:cat>
          <c:val>
            <c:numRef>
              <c:f>'Impact of Discounting on Sales'!$C$6:$C$10</c:f>
              <c:numCache>
                <c:formatCode>General</c:formatCode>
                <c:ptCount val="4"/>
                <c:pt idx="0">
                  <c:v>5523038</c:v>
                </c:pt>
                <c:pt idx="1">
                  <c:v>5874233</c:v>
                </c:pt>
                <c:pt idx="2">
                  <c:v>5651954</c:v>
                </c:pt>
                <c:pt idx="3">
                  <c:v>5354079</c:v>
                </c:pt>
              </c:numCache>
            </c:numRef>
          </c:val>
          <c:extLst>
            <c:ext xmlns:c16="http://schemas.microsoft.com/office/drawing/2014/chart" uri="{C3380CC4-5D6E-409C-BE32-E72D297353CC}">
              <c16:uniqueId val="{00000000-CEF4-4694-AD9C-9C07EF6586CD}"/>
            </c:ext>
          </c:extLst>
        </c:ser>
        <c:dLbls>
          <c:showLegendKey val="0"/>
          <c:showVal val="0"/>
          <c:showCatName val="0"/>
          <c:showSerName val="0"/>
          <c:showPercent val="0"/>
          <c:showBubbleSize val="0"/>
        </c:dLbls>
        <c:gapWidth val="219"/>
        <c:overlap val="-27"/>
        <c:axId val="571724448"/>
        <c:axId val="571724808"/>
      </c:barChart>
      <c:catAx>
        <c:axId val="571724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1724808"/>
        <c:crosses val="autoZero"/>
        <c:auto val="1"/>
        <c:lblAlgn val="ctr"/>
        <c:lblOffset val="100"/>
        <c:noMultiLvlLbl val="0"/>
      </c:catAx>
      <c:valAx>
        <c:axId val="571724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17244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[Fish_store_data.xlsx]Customer Segmentation!PivotTable10</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Location by Purchase</a:t>
            </a:r>
            <a:r>
              <a:rPr lang="en-US" baseline="0"/>
              <a:t> Frequency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'Customer Segmentation'!$C$3:$C$4</c:f>
              <c:strCache>
                <c:ptCount val="1"/>
                <c:pt idx="0">
                  <c:v>Biweekly</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'Customer Segmentation'!$B$5:$B$8</c:f>
              <c:strCache>
                <c:ptCount val="3"/>
                <c:pt idx="0">
                  <c:v>Abuja</c:v>
                </c:pt>
                <c:pt idx="1">
                  <c:v>Lagos</c:v>
                </c:pt>
                <c:pt idx="2">
                  <c:v>Port Harcourt</c:v>
                </c:pt>
              </c:strCache>
            </c:strRef>
          </c:cat>
          <c:val>
            <c:numRef>
              <c:f>'Customer Segmentation'!$C$5:$C$8</c:f>
              <c:numCache>
                <c:formatCode>General</c:formatCode>
                <c:ptCount val="3"/>
                <c:pt idx="0">
                  <c:v>191</c:v>
                </c:pt>
                <c:pt idx="1">
                  <c:v>206</c:v>
                </c:pt>
                <c:pt idx="2">
                  <c:v>207</c:v>
                </c:pt>
              </c:numCache>
            </c:numRef>
          </c:val>
          <c:extLst>
            <c:ext xmlns:c16="http://schemas.microsoft.com/office/drawing/2014/chart" uri="{C3380CC4-5D6E-409C-BE32-E72D297353CC}">
              <c16:uniqueId val="{00000000-8EE7-4EFE-ACCD-8F5AD6FE6CE4}"/>
            </c:ext>
          </c:extLst>
        </c:ser>
        <c:ser>
          <c:idx val="1"/>
          <c:order val="1"/>
          <c:tx>
            <c:strRef>
              <c:f>'Customer Segmentation'!$D$3:$D$4</c:f>
              <c:strCache>
                <c:ptCount val="1"/>
                <c:pt idx="0">
                  <c:v>Monthly</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'Customer Segmentation'!$B$5:$B$8</c:f>
              <c:strCache>
                <c:ptCount val="3"/>
                <c:pt idx="0">
                  <c:v>Abuja</c:v>
                </c:pt>
                <c:pt idx="1">
                  <c:v>Lagos</c:v>
                </c:pt>
                <c:pt idx="2">
                  <c:v>Port Harcourt</c:v>
                </c:pt>
              </c:strCache>
            </c:strRef>
          </c:cat>
          <c:val>
            <c:numRef>
              <c:f>'Customer Segmentation'!$D$5:$D$8</c:f>
              <c:numCache>
                <c:formatCode>General</c:formatCode>
                <c:ptCount val="3"/>
                <c:pt idx="0">
                  <c:v>208</c:v>
                </c:pt>
                <c:pt idx="1">
                  <c:v>211</c:v>
                </c:pt>
                <c:pt idx="2">
                  <c:v>192</c:v>
                </c:pt>
              </c:numCache>
            </c:numRef>
          </c:val>
          <c:extLst>
            <c:ext xmlns:c16="http://schemas.microsoft.com/office/drawing/2014/chart" uri="{C3380CC4-5D6E-409C-BE32-E72D297353CC}">
              <c16:uniqueId val="{00000001-8EE7-4EFE-ACCD-8F5AD6FE6CE4}"/>
            </c:ext>
          </c:extLst>
        </c:ser>
        <c:ser>
          <c:idx val="2"/>
          <c:order val="2"/>
          <c:tx>
            <c:strRef>
              <c:f>'Customer Segmentation'!$E$3:$E$4</c:f>
              <c:strCache>
                <c:ptCount val="1"/>
                <c:pt idx="0">
                  <c:v>Weekly</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'Customer Segmentation'!$B$5:$B$8</c:f>
              <c:strCache>
                <c:ptCount val="3"/>
                <c:pt idx="0">
                  <c:v>Abuja</c:v>
                </c:pt>
                <c:pt idx="1">
                  <c:v>Lagos</c:v>
                </c:pt>
                <c:pt idx="2">
                  <c:v>Port Harcourt</c:v>
                </c:pt>
              </c:strCache>
            </c:strRef>
          </c:cat>
          <c:val>
            <c:numRef>
              <c:f>'Customer Segmentation'!$E$5:$E$8</c:f>
              <c:numCache>
                <c:formatCode>General</c:formatCode>
                <c:ptCount val="3"/>
                <c:pt idx="0">
                  <c:v>197</c:v>
                </c:pt>
                <c:pt idx="1">
                  <c:v>206</c:v>
                </c:pt>
                <c:pt idx="2">
                  <c:v>208</c:v>
                </c:pt>
              </c:numCache>
            </c:numRef>
          </c:val>
          <c:extLst>
            <c:ext xmlns:c16="http://schemas.microsoft.com/office/drawing/2014/chart" uri="{C3380CC4-5D6E-409C-BE32-E72D297353CC}">
              <c16:uniqueId val="{00000002-8EE7-4EFE-ACCD-8F5AD6FE6CE4}"/>
            </c:ext>
          </c:extLst>
        </c:ser>
        <c:dLbls>
          <c:dLblPos val="ctr"/>
          <c:showLegendKey val="0"/>
          <c:showVal val="1"/>
          <c:showCatName val="0"/>
          <c:showSerName val="0"/>
          <c:showPercent val="0"/>
          <c:showBubbleSize val="0"/>
        </c:dLbls>
        <c:gapWidth val="219"/>
        <c:overlap val="100"/>
        <c:axId val="443043584"/>
        <c:axId val="533961288"/>
      </c:barChart>
      <c:catAx>
        <c:axId val="4430435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800" b="0" i="0" u="none" strike="noStrike" kern="1200" baseline="0">
                    <a:solidFill>
                      <a:sysClr val="windowText" lastClr="000000">
                        <a:lumMod val="65000"/>
                        <a:lumOff val="35000"/>
                      </a:sysClr>
                    </a:solidFill>
                  </a:rPr>
                  <a:t>Purchase Frequency</a:t>
                </a:r>
                <a:endParaRPr lang="en-US"/>
              </a:p>
            </c:rich>
          </c:tx>
          <c:layout>
            <c:manualLayout>
              <c:xMode val="edge"/>
              <c:yMode val="edge"/>
              <c:x val="0.79985061242344702"/>
              <c:y val="0.374050743657042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3961288"/>
        <c:crosses val="autoZero"/>
        <c:auto val="1"/>
        <c:lblAlgn val="ctr"/>
        <c:lblOffset val="100"/>
        <c:noMultiLvlLbl val="0"/>
      </c:catAx>
      <c:valAx>
        <c:axId val="533961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30435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lumMod val="65000"/>
          <a:lumOff val="35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[Fish_store_data.xlsx]Fish popularity!PivotTable6</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Fish Type by Location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'Fish popularity'!$C$3:$C$4</c:f>
              <c:strCache>
                <c:ptCount val="1"/>
                <c:pt idx="0">
                  <c:v>Catfish</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popularity'!$C$5:$C$8</c:f>
              <c:numCache>
                <c:formatCode>General</c:formatCode>
                <c:ptCount val="3"/>
                <c:pt idx="0">
                  <c:v>1315</c:v>
                </c:pt>
                <c:pt idx="1">
                  <c:v>1318</c:v>
                </c:pt>
                <c:pt idx="2">
                  <c:v>1325</c:v>
                </c:pt>
              </c:numCache>
            </c:numRef>
          </c:val>
          <c:extLst>
            <c:ext xmlns:c16="http://schemas.microsoft.com/office/drawing/2014/chart" uri="{C3380CC4-5D6E-409C-BE32-E72D297353CC}">
              <c16:uniqueId val="{00000000-FA2E-42F8-97B9-64E2AD3F7835}"/>
            </c:ext>
          </c:extLst>
        </c:ser>
        <c:ser>
          <c:idx val="1"/>
          <c:order val="1"/>
          <c:tx>
            <c:strRef>
              <c:f>'Fish popularity'!$D$3:$D$4</c:f>
              <c:strCache>
                <c:ptCount val="1"/>
                <c:pt idx="0">
                  <c:v>Mackerel</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9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popularity'!$D$5:$D$8</c:f>
              <c:numCache>
                <c:formatCode>General</c:formatCode>
                <c:ptCount val="3"/>
                <c:pt idx="0">
                  <c:v>1053</c:v>
                </c:pt>
                <c:pt idx="1">
                  <c:v>1271</c:v>
                </c:pt>
                <c:pt idx="2">
                  <c:v>1210</c:v>
                </c:pt>
              </c:numCache>
            </c:numRef>
          </c:val>
          <c:extLst>
            <c:ext xmlns:c16="http://schemas.microsoft.com/office/drawing/2014/chart" uri="{C3380CC4-5D6E-409C-BE32-E72D297353CC}">
              <c16:uniqueId val="{00000001-FA2E-42F8-97B9-64E2AD3F7835}"/>
            </c:ext>
          </c:extLst>
        </c:ser>
        <c:ser>
          <c:idx val="2"/>
          <c:order val="2"/>
          <c:tx>
            <c:strRef>
              <c:f>'Fish popularity'!$E$3:$E$4</c:f>
              <c:strCache>
                <c:ptCount val="1"/>
                <c:pt idx="0">
                  <c:v>Sardine</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popularity'!$E$5:$E$8</c:f>
              <c:numCache>
                <c:formatCode>General</c:formatCode>
                <c:ptCount val="3"/>
                <c:pt idx="0">
                  <c:v>1049</c:v>
                </c:pt>
                <c:pt idx="1">
                  <c:v>1240</c:v>
                </c:pt>
                <c:pt idx="2">
                  <c:v>1113</c:v>
                </c:pt>
              </c:numCache>
            </c:numRef>
          </c:val>
          <c:extLst>
            <c:ext xmlns:c16="http://schemas.microsoft.com/office/drawing/2014/chart" uri="{C3380CC4-5D6E-409C-BE32-E72D297353CC}">
              <c16:uniqueId val="{00000002-FA2E-42F8-97B9-64E2AD3F7835}"/>
            </c:ext>
          </c:extLst>
        </c:ser>
        <c:ser>
          <c:idx val="3"/>
          <c:order val="3"/>
          <c:tx>
            <c:strRef>
              <c:f>'Fish popularity'!$F$3:$F$4</c:f>
              <c:strCache>
                <c:ptCount val="1"/>
                <c:pt idx="0">
                  <c:v>Tilapia</c:v>
                </c:pt>
              </c:strCache>
            </c:strRef>
          </c:tx>
          <c:spPr>
            <a:solidFill>
              <a:schemeClr val="dk1">
                <a:tint val="9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popularity'!$B$5:$B$8</c:f>
              <c:strCache>
                <c:ptCount val="3"/>
                <c:pt idx="0">
                  <c:v>Abuja</c:v>
                </c:pt>
                <c:pt idx="1">
                  <c:v>Lagos</c:v>
                </c:pt>
                <c:pt idx="2">
                  <c:v>Port Harcourt</c:v>
                </c:pt>
              </c:strCache>
            </c:strRef>
          </c:cat>
          <c:val>
            <c:numRef>
              <c:f>'Fish popularity'!$F$5:$F$8</c:f>
              <c:numCache>
                <c:formatCode>General</c:formatCode>
                <c:ptCount val="3"/>
                <c:pt idx="0">
                  <c:v>1269</c:v>
                </c:pt>
                <c:pt idx="1">
                  <c:v>1286</c:v>
                </c:pt>
                <c:pt idx="2">
                  <c:v>1239</c:v>
                </c:pt>
              </c:numCache>
            </c:numRef>
          </c:val>
          <c:extLst>
            <c:ext xmlns:c16="http://schemas.microsoft.com/office/drawing/2014/chart" uri="{C3380CC4-5D6E-409C-BE32-E72D297353CC}">
              <c16:uniqueId val="{00000003-FA2E-42F8-97B9-64E2AD3F7835}"/>
            </c:ext>
          </c:extLst>
        </c:ser>
        <c:dLbls>
          <c:dLblPos val="ctr"/>
          <c:showLegendKey val="0"/>
          <c:showVal val="1"/>
          <c:showCatName val="0"/>
          <c:showSerName val="0"/>
          <c:showPercent val="0"/>
          <c:showBubbleSize val="0"/>
        </c:dLbls>
        <c:gapWidth val="219"/>
        <c:overlap val="100"/>
        <c:axId val="569414088"/>
        <c:axId val="533962008"/>
      </c:barChart>
      <c:catAx>
        <c:axId val="569414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3962008"/>
        <c:crosses val="autoZero"/>
        <c:auto val="1"/>
        <c:lblAlgn val="ctr"/>
        <c:lblOffset val="100"/>
        <c:noMultiLvlLbl val="0"/>
      </c:catAx>
      <c:valAx>
        <c:axId val="53396200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Fish Type</a:t>
                </a:r>
              </a:p>
            </c:rich>
          </c:tx>
          <c:layout>
            <c:manualLayout>
              <c:xMode val="edge"/>
              <c:yMode val="edge"/>
              <c:x val="0.8540384951881016"/>
              <c:y val="0.3231248177311170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94140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[Fish_store_data.xlsx]Fish popularity!PivotTable7</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Fish Size Distribution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'Fish popularity'!$C$10:$C$11</c:f>
              <c:strCache>
                <c:ptCount val="1"/>
                <c:pt idx="0">
                  <c:v>1 kg</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popularity'!$C$12:$C$15</c:f>
              <c:numCache>
                <c:formatCode>General</c:formatCode>
                <c:ptCount val="3"/>
                <c:pt idx="0">
                  <c:v>1339</c:v>
                </c:pt>
                <c:pt idx="1">
                  <c:v>1345</c:v>
                </c:pt>
                <c:pt idx="2">
                  <c:v>1367</c:v>
                </c:pt>
              </c:numCache>
            </c:numRef>
          </c:val>
          <c:extLst>
            <c:ext xmlns:c16="http://schemas.microsoft.com/office/drawing/2014/chart" uri="{C3380CC4-5D6E-409C-BE32-E72D297353CC}">
              <c16:uniqueId val="{00000000-1A48-4A10-ADC0-CBF499E8E949}"/>
            </c:ext>
          </c:extLst>
        </c:ser>
        <c:ser>
          <c:idx val="1"/>
          <c:order val="1"/>
          <c:tx>
            <c:strRef>
              <c:f>'Fish popularity'!$D$10:$D$11</c:f>
              <c:strCache>
                <c:ptCount val="1"/>
                <c:pt idx="0">
                  <c:v>1.5 kg</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popularity'!$D$12:$D$15</c:f>
              <c:numCache>
                <c:formatCode>General</c:formatCode>
                <c:ptCount val="3"/>
                <c:pt idx="0">
                  <c:v>1195</c:v>
                </c:pt>
                <c:pt idx="1">
                  <c:v>1149</c:v>
                </c:pt>
                <c:pt idx="2">
                  <c:v>1167</c:v>
                </c:pt>
              </c:numCache>
            </c:numRef>
          </c:val>
          <c:extLst>
            <c:ext xmlns:c16="http://schemas.microsoft.com/office/drawing/2014/chart" uri="{C3380CC4-5D6E-409C-BE32-E72D297353CC}">
              <c16:uniqueId val="{00000001-1A48-4A10-ADC0-CBF499E8E949}"/>
            </c:ext>
          </c:extLst>
        </c:ser>
        <c:ser>
          <c:idx val="2"/>
          <c:order val="2"/>
          <c:tx>
            <c:strRef>
              <c:f>'Fish popularity'!$E$10:$E$11</c:f>
              <c:strCache>
                <c:ptCount val="1"/>
                <c:pt idx="0">
                  <c:v>2 kg</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popularity'!$E$12:$E$15</c:f>
              <c:numCache>
                <c:formatCode>General</c:formatCode>
                <c:ptCount val="3"/>
                <c:pt idx="0">
                  <c:v>1070</c:v>
                </c:pt>
                <c:pt idx="1">
                  <c:v>1291</c:v>
                </c:pt>
                <c:pt idx="2">
                  <c:v>1071</c:v>
                </c:pt>
              </c:numCache>
            </c:numRef>
          </c:val>
          <c:extLst>
            <c:ext xmlns:c16="http://schemas.microsoft.com/office/drawing/2014/chart" uri="{C3380CC4-5D6E-409C-BE32-E72D297353CC}">
              <c16:uniqueId val="{00000002-1A48-4A10-ADC0-CBF499E8E949}"/>
            </c:ext>
          </c:extLst>
        </c:ser>
        <c:ser>
          <c:idx val="3"/>
          <c:order val="3"/>
          <c:tx>
            <c:strRef>
              <c:f>'Fish popularity'!$F$10:$F$11</c:f>
              <c:strCache>
                <c:ptCount val="1"/>
                <c:pt idx="0">
                  <c:v>500g</c:v>
                </c:pt>
              </c:strCache>
            </c:strRef>
          </c:tx>
          <c:spPr>
            <a:solidFill>
              <a:schemeClr val="dk1">
                <a:tint val="9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'Fish popularity'!$B$12:$B$15</c:f>
              <c:strCache>
                <c:ptCount val="3"/>
                <c:pt idx="0">
                  <c:v>Abuja</c:v>
                </c:pt>
                <c:pt idx="1">
                  <c:v>Lagos</c:v>
                </c:pt>
                <c:pt idx="2">
                  <c:v>Port Harcourt</c:v>
                </c:pt>
              </c:strCache>
            </c:strRef>
          </c:cat>
          <c:val>
            <c:numRef>
              <c:f>'Fish popularity'!$F$12:$F$15</c:f>
              <c:numCache>
                <c:formatCode>General</c:formatCode>
                <c:ptCount val="3"/>
                <c:pt idx="0">
                  <c:v>1082</c:v>
                </c:pt>
                <c:pt idx="1">
                  <c:v>1330</c:v>
                </c:pt>
                <c:pt idx="2">
                  <c:v>1282</c:v>
                </c:pt>
              </c:numCache>
            </c:numRef>
          </c:val>
          <c:extLst>
            <c:ext xmlns:c16="http://schemas.microsoft.com/office/drawing/2014/chart" uri="{C3380CC4-5D6E-409C-BE32-E72D297353CC}">
              <c16:uniqueId val="{00000003-1A48-4A10-ADC0-CBF499E8E949}"/>
            </c:ext>
          </c:extLst>
        </c:ser>
        <c:dLbls>
          <c:dLblPos val="ctr"/>
          <c:showLegendKey val="0"/>
          <c:showVal val="1"/>
          <c:showCatName val="0"/>
          <c:showSerName val="0"/>
          <c:showPercent val="0"/>
          <c:showBubbleSize val="0"/>
        </c:dLbls>
        <c:gapWidth val="219"/>
        <c:overlap val="100"/>
        <c:axId val="437854648"/>
        <c:axId val="437853568"/>
      </c:barChart>
      <c:catAx>
        <c:axId val="437854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Fish Size</a:t>
                </a:r>
              </a:p>
            </c:rich>
          </c:tx>
          <c:layout>
            <c:manualLayout>
              <c:xMode val="edge"/>
              <c:yMode val="edge"/>
              <c:x val="0.8573973366643618"/>
              <c:y val="0.3370137066200058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7853568"/>
        <c:crosses val="autoZero"/>
        <c:auto val="1"/>
        <c:lblAlgn val="ctr"/>
        <c:lblOffset val="100"/>
        <c:noMultiLvlLbl val="0"/>
      </c:catAx>
      <c:valAx>
        <c:axId val="437853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7854648"/>
        <c:crosses val="autoZero"/>
        <c:crossBetween val="between"/>
      </c:valAx>
      <c:spPr>
        <a:solidFill>
          <a:schemeClr val="bg1">
            <a:lumMod val="95000"/>
          </a:schemeClr>
        </a:solid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[Fish_store_data.xlsx]Supplier performance !PivotTable9</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 by Supplier Information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'Supplier performance '!$F$3</c:f>
              <c:strCache>
                <c:ptCount val="1"/>
                <c:pt idx="0">
                  <c:v>Total</c:v>
                </c:pt>
              </c:strCache>
            </c:strRef>
          </c:tx>
          <c:spPr>
            <a:solidFill>
              <a:schemeClr val="dk1">
                <a:tint val="88500"/>
              </a:schemeClr>
            </a:solidFill>
            <a:ln>
              <a:noFill/>
            </a:ln>
            <a:effectLst/>
          </c:spPr>
          <c:invertIfNegative val="0"/>
          <c:cat>
            <c:strRef>
              <c:f>'Supplier performance '!$E$4:$E$9</c:f>
              <c:strCache>
                <c:ptCount val="5"/>
                <c:pt idx="0">
                  <c:v>ABC Fisheries</c:v>
                </c:pt>
                <c:pt idx="1">
                  <c:v>Abuja Fish Co.</c:v>
                </c:pt>
                <c:pt idx="2">
                  <c:v>Lagos Sea Foods</c:v>
                </c:pt>
                <c:pt idx="3">
                  <c:v>North Marine</c:v>
                </c:pt>
                <c:pt idx="4">
                  <c:v>Rivers Aqua</c:v>
                </c:pt>
              </c:strCache>
            </c:strRef>
          </c:cat>
          <c:val>
            <c:numRef>
              <c:f>'Supplier performance '!$F$4:$F$9</c:f>
              <c:numCache>
                <c:formatCode>General</c:formatCode>
                <c:ptCount val="5"/>
                <c:pt idx="0">
                  <c:v>4868578</c:v>
                </c:pt>
                <c:pt idx="1">
                  <c:v>4733737</c:v>
                </c:pt>
                <c:pt idx="2">
                  <c:v>4541446</c:v>
                </c:pt>
                <c:pt idx="3">
                  <c:v>3583045</c:v>
                </c:pt>
                <c:pt idx="4">
                  <c:v>4676498</c:v>
                </c:pt>
              </c:numCache>
            </c:numRef>
          </c:val>
          <c:extLst>
            <c:ext xmlns:c16="http://schemas.microsoft.com/office/drawing/2014/chart" uri="{C3380CC4-5D6E-409C-BE32-E72D297353CC}">
              <c16:uniqueId val="{00000000-E8D1-4972-811F-6F47B1AD07F1}"/>
            </c:ext>
          </c:extLst>
        </c:ser>
        <c:dLbls>
          <c:showLegendKey val="0"/>
          <c:showVal val="0"/>
          <c:showCatName val="0"/>
          <c:showSerName val="0"/>
          <c:showPercent val="0"/>
          <c:showBubbleSize val="0"/>
        </c:dLbls>
        <c:gapWidth val="219"/>
        <c:overlap val="-27"/>
        <c:axId val="435247728"/>
        <c:axId val="435250968"/>
      </c:barChart>
      <c:catAx>
        <c:axId val="435247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250968"/>
        <c:crosses val="autoZero"/>
        <c:auto val="1"/>
        <c:lblAlgn val="ctr"/>
        <c:lblOffset val="100"/>
        <c:noMultiLvlLbl val="0"/>
      </c:catAx>
      <c:valAx>
        <c:axId val="435250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2477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[Fish_store_data.xlsx]Supplier performance !PivotTable8</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Profit by Supplier Information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'Supplier performance '!$C$3</c:f>
              <c:strCache>
                <c:ptCount val="1"/>
                <c:pt idx="0">
                  <c:v>Total</c:v>
                </c:pt>
              </c:strCache>
            </c:strRef>
          </c:tx>
          <c:spPr>
            <a:solidFill>
              <a:schemeClr val="dk1">
                <a:tint val="88500"/>
              </a:schemeClr>
            </a:solidFill>
            <a:ln>
              <a:noFill/>
            </a:ln>
            <a:effectLst/>
          </c:spPr>
          <c:invertIfNegative val="0"/>
          <c:cat>
            <c:strRef>
              <c:f>'Supplier performance '!$B$4:$B$9</c:f>
              <c:strCache>
                <c:ptCount val="5"/>
                <c:pt idx="0">
                  <c:v>ABC Fisheries</c:v>
                </c:pt>
                <c:pt idx="1">
                  <c:v>Abuja Fish Co.</c:v>
                </c:pt>
                <c:pt idx="2">
                  <c:v>Lagos Sea Foods</c:v>
                </c:pt>
                <c:pt idx="3">
                  <c:v>North Marine</c:v>
                </c:pt>
                <c:pt idx="4">
                  <c:v>Rivers Aqua</c:v>
                </c:pt>
              </c:strCache>
            </c:strRef>
          </c:cat>
          <c:val>
            <c:numRef>
              <c:f>'Supplier performance '!$C$4:$C$9</c:f>
              <c:numCache>
                <c:formatCode>General</c:formatCode>
                <c:ptCount val="5"/>
                <c:pt idx="0">
                  <c:v>770811</c:v>
                </c:pt>
                <c:pt idx="1">
                  <c:v>779224</c:v>
                </c:pt>
                <c:pt idx="2">
                  <c:v>718111</c:v>
                </c:pt>
                <c:pt idx="3">
                  <c:v>621503</c:v>
                </c:pt>
                <c:pt idx="4">
                  <c:v>740919</c:v>
                </c:pt>
              </c:numCache>
            </c:numRef>
          </c:val>
          <c:extLst>
            <c:ext xmlns:c16="http://schemas.microsoft.com/office/drawing/2014/chart" uri="{C3380CC4-5D6E-409C-BE32-E72D297353CC}">
              <c16:uniqueId val="{00000000-7CEB-4A4A-A8D9-09DAA2E1C9F7}"/>
            </c:ext>
          </c:extLst>
        </c:ser>
        <c:dLbls>
          <c:showLegendKey val="0"/>
          <c:showVal val="0"/>
          <c:showCatName val="0"/>
          <c:showSerName val="0"/>
          <c:showPercent val="0"/>
          <c:showBubbleSize val="0"/>
        </c:dLbls>
        <c:gapWidth val="219"/>
        <c:overlap val="-27"/>
        <c:axId val="370350672"/>
        <c:axId val="534118888"/>
      </c:barChart>
      <c:catAx>
        <c:axId val="370350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4118888"/>
        <c:crosses val="autoZero"/>
        <c:auto val="1"/>
        <c:lblAlgn val="ctr"/>
        <c:lblOffset val="100"/>
        <c:noMultiLvlLbl val="0"/>
      </c:catAx>
      <c:valAx>
        <c:axId val="534118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03506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withinLinearReversed" id="23">
  <a:schemeClr val="accent3"/>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6A4B-4C35-EDFA-84A9-7EEF1B07D8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00918B-6440-623C-E95A-B59C2B814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DFCC8A-D415-7EAC-E284-8F3785BC4942}"/>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5" name="Footer Placeholder 4">
            <a:extLst>
              <a:ext uri="{FF2B5EF4-FFF2-40B4-BE49-F238E27FC236}">
                <a16:creationId xmlns:a16="http://schemas.microsoft.com/office/drawing/2014/main" id="{8AB880B4-201E-EE40-1221-4C2E3E5D54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A841B4-3C12-3A9D-B697-67CC474C77D1}"/>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2918968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32ECB-55D1-34B5-6CB2-AC600306D1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B64446-F664-1F80-87F4-3659AD196C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8A78E-2C62-40EC-D201-E88CA4CFF7F9}"/>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5" name="Footer Placeholder 4">
            <a:extLst>
              <a:ext uri="{FF2B5EF4-FFF2-40B4-BE49-F238E27FC236}">
                <a16:creationId xmlns:a16="http://schemas.microsoft.com/office/drawing/2014/main" id="{0DF91DFF-AA57-E266-B459-02E75C0F8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90F97-8F51-8411-4408-683D6D73189A}"/>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3440287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C4B1-FE98-1EB4-80AC-5EA4EAA7B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9A18BE-6A7F-231E-6BF6-5AA6F0CA23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35BB55-8072-69F7-E961-17FA46E618E1}"/>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5" name="Footer Placeholder 4">
            <a:extLst>
              <a:ext uri="{FF2B5EF4-FFF2-40B4-BE49-F238E27FC236}">
                <a16:creationId xmlns:a16="http://schemas.microsoft.com/office/drawing/2014/main" id="{57EB1CA6-4914-42CA-DE0A-00F528CE52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95499-8170-2623-A723-2F14E4A7973F}"/>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102486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068F4-28D7-A4CF-4EC1-D69712D854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A4A3B1-91A6-36EC-0DA7-9D9CBB3576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6C0E74-F7DB-BF67-20BC-BA8D607572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D653A5-E7A7-4AAC-0DED-7AE2694E1D9E}"/>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6" name="Footer Placeholder 5">
            <a:extLst>
              <a:ext uri="{FF2B5EF4-FFF2-40B4-BE49-F238E27FC236}">
                <a16:creationId xmlns:a16="http://schemas.microsoft.com/office/drawing/2014/main" id="{9C429539-F124-7F0D-1E45-861D5A93F1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70999-2614-4AEF-E472-258E96FD0E4C}"/>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3726448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C4E64-43C5-580A-A29F-EB85DA13F5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92D617-606B-5644-8B85-929FF7D76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14EA3D-DF74-0D9E-00D6-F8A54CA106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507044-9056-30D4-3588-E760C91C9A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D3E099-5A41-1238-C1B1-923A4B1060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0EBA48-95EB-01DC-C39C-B140D2A5DFC3}"/>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8" name="Footer Placeholder 7">
            <a:extLst>
              <a:ext uri="{FF2B5EF4-FFF2-40B4-BE49-F238E27FC236}">
                <a16:creationId xmlns:a16="http://schemas.microsoft.com/office/drawing/2014/main" id="{0556F556-09AA-67AA-C4EB-3A5DD974AC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8E99B7-8970-0843-C50E-683EB5EC909C}"/>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126767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24311-9875-7CBA-0CA7-4226AA198E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D13EC8-1906-B660-139D-7031E1EB4B75}"/>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4" name="Footer Placeholder 3">
            <a:extLst>
              <a:ext uri="{FF2B5EF4-FFF2-40B4-BE49-F238E27FC236}">
                <a16:creationId xmlns:a16="http://schemas.microsoft.com/office/drawing/2014/main" id="{675CA1AE-B42A-F68A-A4A3-0E6EE722E6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A92099-21F4-29B5-0F2C-85F884EC9181}"/>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4071634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E5B04B-D795-63B2-D10D-13651A5D4EFC}"/>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3" name="Footer Placeholder 2">
            <a:extLst>
              <a:ext uri="{FF2B5EF4-FFF2-40B4-BE49-F238E27FC236}">
                <a16:creationId xmlns:a16="http://schemas.microsoft.com/office/drawing/2014/main" id="{D535007B-153D-E509-B76D-0F7E07DF2C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D3FC2A-D3FB-E32A-4185-56ADB5D8DB86}"/>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12275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4565-FEBD-A8C6-CAD1-B2A1034C8B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E7EB57-7BEA-5164-C247-3522F0ECC9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91C93D-75B6-5DA2-FBF9-459A4E45B3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F453E-76D3-CBD0-6407-0E74B06B8F17}"/>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6" name="Footer Placeholder 5">
            <a:extLst>
              <a:ext uri="{FF2B5EF4-FFF2-40B4-BE49-F238E27FC236}">
                <a16:creationId xmlns:a16="http://schemas.microsoft.com/office/drawing/2014/main" id="{77B78EE5-AF6C-7444-1B83-59F042249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23E41D-9B95-6CBB-FA8A-CC33F48BF975}"/>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22041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3B43-BC9D-D709-077A-CDA9FA383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B1F062-523C-0C75-BDDA-F21E29FB8E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AC2090-79A9-2110-27BC-67AE92C42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41827E-D43F-BEE4-4728-BB1A6CA9B215}"/>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6" name="Footer Placeholder 5">
            <a:extLst>
              <a:ext uri="{FF2B5EF4-FFF2-40B4-BE49-F238E27FC236}">
                <a16:creationId xmlns:a16="http://schemas.microsoft.com/office/drawing/2014/main" id="{80763759-BB66-3253-6916-1F25AF0743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63B57-B0E4-D32A-2B61-1FC6E7899ECC}"/>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206043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CE5E-5064-0E86-DA9A-B152A847AE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587A58-AB44-D37B-1808-28B60C6760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E67B06-FA2F-F443-0DDB-F171359385BD}"/>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5" name="Footer Placeholder 4">
            <a:extLst>
              <a:ext uri="{FF2B5EF4-FFF2-40B4-BE49-F238E27FC236}">
                <a16:creationId xmlns:a16="http://schemas.microsoft.com/office/drawing/2014/main" id="{7D701611-ED63-04BB-E16C-F9AE3A450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71863-5F55-515F-F76B-CB6A9559AB42}"/>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357682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6C81FF-902E-9F48-A6F2-76305901A7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24296B-2A9A-B00A-F30A-3D08CCC23D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180F0-7B11-9307-19BD-1200014C6DF7}"/>
              </a:ext>
            </a:extLst>
          </p:cNvPr>
          <p:cNvSpPr>
            <a:spLocks noGrp="1"/>
          </p:cNvSpPr>
          <p:nvPr>
            <p:ph type="dt" sz="half" idx="10"/>
          </p:nvPr>
        </p:nvSpPr>
        <p:spPr/>
        <p:txBody>
          <a:bodyPr/>
          <a:lstStyle/>
          <a:p>
            <a:fld id="{8386AEFD-7C66-4F69-B9EA-536550F96E69}" type="datetimeFigureOut">
              <a:rPr lang="en-US" smtClean="0"/>
              <a:t>8/3/2026</a:t>
            </a:fld>
            <a:endParaRPr lang="en-US"/>
          </a:p>
        </p:txBody>
      </p:sp>
      <p:sp>
        <p:nvSpPr>
          <p:cNvPr id="5" name="Footer Placeholder 4">
            <a:extLst>
              <a:ext uri="{FF2B5EF4-FFF2-40B4-BE49-F238E27FC236}">
                <a16:creationId xmlns:a16="http://schemas.microsoft.com/office/drawing/2014/main" id="{F0E8B935-350A-0707-3CD1-AE394EEDAE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F96E4-E943-F21A-1CCD-0C9B376A2B4C}"/>
              </a:ext>
            </a:extLst>
          </p:cNvPr>
          <p:cNvSpPr>
            <a:spLocks noGrp="1"/>
          </p:cNvSpPr>
          <p:nvPr>
            <p:ph type="sldNum" sz="quarter" idx="12"/>
          </p:nvPr>
        </p:nvSpPr>
        <p:spPr/>
        <p:txBody>
          <a:bodyPr/>
          <a:lstStyle/>
          <a:p>
            <a:fld id="{5F4A3054-6731-45D1-ADF2-D266F54A04F8}" type="slidenum">
              <a:rPr lang="en-US" smtClean="0"/>
              <a:t>‹#›</a:t>
            </a:fld>
            <a:endParaRPr lang="en-US"/>
          </a:p>
        </p:txBody>
      </p:sp>
    </p:spTree>
    <p:extLst>
      <p:ext uri="{BB962C8B-B14F-4D97-AF65-F5344CB8AC3E}">
        <p14:creationId xmlns:p14="http://schemas.microsoft.com/office/powerpoint/2010/main" val="129370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84089-C5A4-8CCB-B181-7B0CC835E9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8E6F1F-2B34-11DD-F23D-C3AEC5C985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A19A4-AAF4-B352-3BA9-8A6C88887D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AEFD-7C66-4F69-B9EA-536550F96E69}" type="datetimeFigureOut">
              <a:rPr lang="en-US" smtClean="0"/>
              <a:t>8/3/2026</a:t>
            </a:fld>
            <a:endParaRPr lang="en-US"/>
          </a:p>
        </p:txBody>
      </p:sp>
      <p:sp>
        <p:nvSpPr>
          <p:cNvPr id="5" name="Footer Placeholder 4">
            <a:extLst>
              <a:ext uri="{FF2B5EF4-FFF2-40B4-BE49-F238E27FC236}">
                <a16:creationId xmlns:a16="http://schemas.microsoft.com/office/drawing/2014/main" id="{01D0A665-372D-0578-D8DD-470942B08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6B5FAA-ABC9-729E-35C8-88BC5477DE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4A3054-6731-45D1-ADF2-D266F54A04F8}" type="slidenum">
              <a:rPr lang="en-US" smtClean="0"/>
              <a:t>‹#›</a:t>
            </a:fld>
            <a:endParaRPr lang="en-US"/>
          </a:p>
        </p:txBody>
      </p:sp>
    </p:spTree>
    <p:extLst>
      <p:ext uri="{BB962C8B-B14F-4D97-AF65-F5344CB8AC3E}">
        <p14:creationId xmlns:p14="http://schemas.microsoft.com/office/powerpoint/2010/main" val="4286633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chart" Target="../charts/chart8.xml"/><Relationship Id="rId1" Type="http://schemas.openxmlformats.org/officeDocument/2006/relationships/slideLayout" Target="../slideLayouts/slideLayout7.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9BF2EE-D56A-C473-E3B8-C788EB664DE7}"/>
              </a:ext>
            </a:extLst>
          </p:cNvPr>
          <p:cNvSpPr txBox="1"/>
          <p:nvPr/>
        </p:nvSpPr>
        <p:spPr>
          <a:xfrm>
            <a:off x="3230525" y="2598003"/>
            <a:ext cx="5730949" cy="830997"/>
          </a:xfrm>
          <a:prstGeom prst="rect">
            <a:avLst/>
          </a:prstGeom>
          <a:noFill/>
        </p:spPr>
        <p:txBody>
          <a:bodyPr wrap="square">
            <a:spAutoFit/>
          </a:bodyPr>
          <a:lstStyle/>
          <a:p>
            <a:r>
              <a:rPr lang="en-US" sz="4800" b="1" dirty="0"/>
              <a:t>FISH STORE DATA</a:t>
            </a:r>
          </a:p>
        </p:txBody>
      </p:sp>
    </p:spTree>
    <p:extLst>
      <p:ext uri="{BB962C8B-B14F-4D97-AF65-F5344CB8AC3E}">
        <p14:creationId xmlns:p14="http://schemas.microsoft.com/office/powerpoint/2010/main" val="3026078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ABE5C9B-789A-4B89-117D-C7666D58371A}"/>
              </a:ext>
            </a:extLst>
          </p:cNvPr>
          <p:cNvSpPr txBox="1"/>
          <p:nvPr/>
        </p:nvSpPr>
        <p:spPr>
          <a:xfrm>
            <a:off x="0" y="0"/>
            <a:ext cx="12192000" cy="520700"/>
          </a:xfrm>
          <a:prstGeom prst="rect">
            <a:avLst/>
          </a:prstGeom>
          <a:solidFill>
            <a:schemeClr val="bg2">
              <a:lumMod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dirty="0">
                <a:solidFill>
                  <a:schemeClr val="bg1"/>
                </a:solidFill>
              </a:rPr>
              <a:t>TABLE OF CONTENT</a:t>
            </a:r>
          </a:p>
        </p:txBody>
      </p:sp>
      <p:sp>
        <p:nvSpPr>
          <p:cNvPr id="6" name="TextBox 5">
            <a:extLst>
              <a:ext uri="{FF2B5EF4-FFF2-40B4-BE49-F238E27FC236}">
                <a16:creationId xmlns:a16="http://schemas.microsoft.com/office/drawing/2014/main" id="{38AB9CC1-22DB-BB62-487C-AE4AD0360F7A}"/>
              </a:ext>
            </a:extLst>
          </p:cNvPr>
          <p:cNvSpPr txBox="1"/>
          <p:nvPr/>
        </p:nvSpPr>
        <p:spPr>
          <a:xfrm>
            <a:off x="595423" y="737437"/>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PROJECT OVERVIEW</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DATA CLEANING &amp; PREPARATION</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ANALYSIS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KEY FINDINGS &amp; VISUALIZATIONS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DASHBOARD</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INSIGHT &amp; RECOMMENDATION</a:t>
            </a:r>
          </a:p>
        </p:txBody>
      </p:sp>
    </p:spTree>
    <p:extLst>
      <p:ext uri="{BB962C8B-B14F-4D97-AF65-F5344CB8AC3E}">
        <p14:creationId xmlns:p14="http://schemas.microsoft.com/office/powerpoint/2010/main" val="568545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58D1FD-01EB-8B30-5034-BE3D28FE5451}"/>
              </a:ext>
            </a:extLst>
          </p:cNvPr>
          <p:cNvSpPr txBox="1"/>
          <p:nvPr/>
        </p:nvSpPr>
        <p:spPr>
          <a:xfrm>
            <a:off x="226828" y="917912"/>
            <a:ext cx="11738344" cy="5940088"/>
          </a:xfrm>
          <a:prstGeom prst="rect">
            <a:avLst/>
          </a:prstGeom>
          <a:noFill/>
        </p:spPr>
        <p:txBody>
          <a:bodyPr wrap="square">
            <a:spAutoFit/>
          </a:bodyPr>
          <a:lstStyle/>
          <a:p>
            <a:r>
              <a:rPr lang="en-US" sz="1900" b="1" dirty="0"/>
              <a:t>Project Background:</a:t>
            </a:r>
            <a:br>
              <a:rPr lang="en-US" sz="1900" dirty="0"/>
            </a:br>
            <a:r>
              <a:rPr lang="en-US" sz="1900" dirty="0"/>
              <a:t>This project analyzed a Nigerian fish distribution and retail dataset covering key areas of business operations, including </a:t>
            </a:r>
            <a:r>
              <a:rPr lang="en-US" sz="1900" b="1" dirty="0"/>
              <a:t>sales, procurement, suppliers, customer locations, fish types and sizes, sales channels, discounts, and transaction values</a:t>
            </a:r>
            <a:r>
              <a:rPr lang="en-US" sz="1900" dirty="0"/>
              <a:t>. The dataset provided an opportunity to evaluate both operational performance and customer purchasing behavior across multiple dimensions.</a:t>
            </a:r>
          </a:p>
          <a:p>
            <a:endParaRPr lang="en-US" sz="1900" dirty="0"/>
          </a:p>
          <a:p>
            <a:r>
              <a:rPr lang="en-US" sz="1900" b="1" dirty="0"/>
              <a:t>Objective:</a:t>
            </a:r>
            <a:br>
              <a:rPr lang="en-US" sz="1900" dirty="0"/>
            </a:br>
            <a:r>
              <a:rPr lang="en-US" sz="1900" dirty="0"/>
              <a:t>To identify the products, suppliers, customer segments, and sales channels contributing most to business performance, while assessing profitability, customer purchasing patterns, sales trends, and the impact of discounts on revenue and quantity sold.</a:t>
            </a:r>
          </a:p>
          <a:p>
            <a:endParaRPr lang="en-US" sz="1900" dirty="0"/>
          </a:p>
          <a:p>
            <a:r>
              <a:rPr lang="en-US" sz="1900" b="1" dirty="0"/>
              <a:t>Key Analytical Tasks:</a:t>
            </a:r>
            <a:br>
              <a:rPr lang="en-US" sz="1900" dirty="0"/>
            </a:br>
            <a:r>
              <a:rPr lang="en-US" sz="1900" dirty="0"/>
              <a:t>Data cleaning and type validation; analysis of fish type and size popularity by location; profit calculation per transaction; supplier performance assessment; customer segmentation by location and purchase frequency; online versus in-store revenue comparison; discount impact analysis; and development of business insights and recommendations.</a:t>
            </a:r>
          </a:p>
          <a:p>
            <a:endParaRPr lang="en-US" sz="1900" dirty="0"/>
          </a:p>
          <a:p>
            <a:r>
              <a:rPr lang="en-US" sz="1900" b="1" dirty="0"/>
              <a:t>Key Variables:</a:t>
            </a:r>
            <a:br>
              <a:rPr lang="en-US" sz="1900" dirty="0"/>
            </a:br>
            <a:r>
              <a:rPr lang="en-US" sz="1900" dirty="0"/>
              <a:t>Transaction date, fish type, fish size, customer location, supplier, quantity sold, supply cost, sales value, profit, customer purchase frequency, sales channel, discount, and revenue.</a:t>
            </a:r>
          </a:p>
        </p:txBody>
      </p:sp>
      <p:sp>
        <p:nvSpPr>
          <p:cNvPr id="5" name="TextBox 13">
            <a:extLst>
              <a:ext uri="{FF2B5EF4-FFF2-40B4-BE49-F238E27FC236}">
                <a16:creationId xmlns:a16="http://schemas.microsoft.com/office/drawing/2014/main" id="{024E95EF-940C-86D4-51B7-3015AE461BA4}"/>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3600" b="1" dirty="0">
                <a:solidFill>
                  <a:schemeClr val="bg1"/>
                </a:solidFill>
              </a:rPr>
              <a:t>PROJECT OVERVIEW</a:t>
            </a:r>
          </a:p>
        </p:txBody>
      </p:sp>
    </p:spTree>
    <p:extLst>
      <p:ext uri="{BB962C8B-B14F-4D97-AF65-F5344CB8AC3E}">
        <p14:creationId xmlns:p14="http://schemas.microsoft.com/office/powerpoint/2010/main" val="509458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393FFA8E-8BCA-DB8F-C4AE-E1A18D916DCF}"/>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dirty="0">
                <a:solidFill>
                  <a:schemeClr val="bg1"/>
                </a:solidFill>
              </a:rPr>
              <a:t>DATA CLEANING &amp; PREPARATION</a:t>
            </a:r>
          </a:p>
        </p:txBody>
      </p:sp>
      <p:sp>
        <p:nvSpPr>
          <p:cNvPr id="4" name="TextBox 1">
            <a:extLst>
              <a:ext uri="{FF2B5EF4-FFF2-40B4-BE49-F238E27FC236}">
                <a16:creationId xmlns:a16="http://schemas.microsoft.com/office/drawing/2014/main" id="{ED5EA0BD-A07D-DCC2-BB28-B20DA5F13F21}"/>
              </a:ext>
            </a:extLst>
          </p:cNvPr>
          <p:cNvSpPr txBox="1"/>
          <p:nvPr/>
        </p:nvSpPr>
        <p:spPr>
          <a:xfrm>
            <a:off x="237460" y="1034384"/>
            <a:ext cx="11036596" cy="4420117"/>
          </a:xfrm>
          <a:prstGeom prst="rect">
            <a:avLst/>
          </a:prstGeom>
          <a:solidFill>
            <a:schemeClr val="lt1"/>
          </a:solidFill>
          <a:ln w="25400"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nSpc>
                <a:spcPct val="150000"/>
              </a:lnSpc>
            </a:pPr>
            <a:r>
              <a:rPr lang="en-US" sz="2000" dirty="0"/>
              <a:t>The dataset was reviewed to ensure it was suitable for analysis. Missing values, duplicate records, and inconsistencies were checked, and no major data quality issues were identified. Date fields, including </a:t>
            </a:r>
            <a:r>
              <a:rPr lang="en-US" sz="2000" b="1" dirty="0"/>
              <a:t>Sales Date</a:t>
            </a:r>
            <a:r>
              <a:rPr lang="en-US" sz="2000" dirty="0"/>
              <a:t> and </a:t>
            </a:r>
            <a:r>
              <a:rPr lang="en-US" sz="2000" b="1" dirty="0"/>
              <a:t>Restock Date</a:t>
            </a:r>
            <a:r>
              <a:rPr lang="en-US" sz="2000" dirty="0"/>
              <a:t>, were verified and formatted as date values to support monthly and quarterly trend analysis. Quantity fields,</a:t>
            </a:r>
            <a:r>
              <a:rPr lang="en-US" sz="2000" baseline="0" dirty="0"/>
              <a:t> </a:t>
            </a:r>
            <a:r>
              <a:rPr lang="en-US" sz="2000" dirty="0"/>
              <a:t>discount, and other numeric variables were also checked to ensure they were stored in the correct numeric format for accurate calculations.</a:t>
            </a:r>
          </a:p>
          <a:p>
            <a:pPr>
              <a:lnSpc>
                <a:spcPct val="150000"/>
              </a:lnSpc>
            </a:pPr>
            <a:r>
              <a:rPr lang="en-US" sz="2000" dirty="0"/>
              <a:t>Categorical variables, including </a:t>
            </a:r>
            <a:r>
              <a:rPr lang="en-US" sz="2000" b="1" dirty="0"/>
              <a:t>Fish Type</a:t>
            </a:r>
            <a:r>
              <a:rPr lang="en-US" sz="2000" dirty="0"/>
              <a:t>, </a:t>
            </a:r>
            <a:r>
              <a:rPr lang="en-US" sz="2000" b="1" dirty="0"/>
              <a:t>Fish Size</a:t>
            </a:r>
            <a:r>
              <a:rPr lang="en-US" sz="2000" dirty="0"/>
              <a:t>, </a:t>
            </a:r>
            <a:r>
              <a:rPr lang="en-US" sz="2000" b="1" dirty="0"/>
              <a:t>Location</a:t>
            </a:r>
            <a:r>
              <a:rPr lang="en-US" sz="2000" dirty="0"/>
              <a:t>, </a:t>
            </a:r>
            <a:r>
              <a:rPr lang="en-US" sz="2000" b="1" dirty="0"/>
              <a:t>Supplier</a:t>
            </a:r>
            <a:r>
              <a:rPr lang="en-US" sz="2000" dirty="0"/>
              <a:t>, </a:t>
            </a:r>
            <a:r>
              <a:rPr lang="en-US" sz="2000" b="1" dirty="0"/>
              <a:t>Sales Channel</a:t>
            </a:r>
            <a:r>
              <a:rPr lang="en-US" sz="2000" dirty="0"/>
              <a:t>, and </a:t>
            </a:r>
            <a:r>
              <a:rPr lang="en-US" sz="2000" b="1" dirty="0"/>
              <a:t>Customer Segment</a:t>
            </a:r>
            <a:r>
              <a:rPr lang="en-US" sz="2000" dirty="0"/>
              <a:t>, were reviewed for spelling and formatting consistency. In addition, a new variable, </a:t>
            </a:r>
            <a:r>
              <a:rPr lang="en-US" sz="2000" b="1" dirty="0"/>
              <a:t>Profit</a:t>
            </a:r>
            <a:r>
              <a:rPr lang="en-US" sz="2000" dirty="0"/>
              <a:t>, was created by subtracting the </a:t>
            </a:r>
            <a:r>
              <a:rPr lang="en-US" sz="2000" b="1" dirty="0"/>
              <a:t>Total Supply Cost</a:t>
            </a:r>
            <a:r>
              <a:rPr lang="en-US" sz="2000" dirty="0"/>
              <a:t> from the </a:t>
            </a:r>
            <a:r>
              <a:rPr lang="en-US" sz="2000" b="1" dirty="0"/>
              <a:t>Total Sales Value</a:t>
            </a:r>
            <a:r>
              <a:rPr lang="en-US" sz="2000" dirty="0"/>
              <a:t> to support profitability analysis. Following these cleaning procedures, the dataset was considered accurate, consistent, and suitable for further analysis of sales performance, customer </a:t>
            </a:r>
            <a:r>
              <a:rPr lang="en-US" sz="2000" dirty="0" err="1"/>
              <a:t>behaviour</a:t>
            </a:r>
            <a:r>
              <a:rPr lang="en-US" sz="2000" dirty="0"/>
              <a:t>, supplier performance, and business operations.</a:t>
            </a:r>
          </a:p>
          <a:p>
            <a:pPr>
              <a:lnSpc>
                <a:spcPct val="150000"/>
              </a:lnSpc>
            </a:pPr>
            <a:endParaRPr lang="en-US" sz="2000" dirty="0"/>
          </a:p>
        </p:txBody>
      </p:sp>
    </p:spTree>
    <p:extLst>
      <p:ext uri="{BB962C8B-B14F-4D97-AF65-F5344CB8AC3E}">
        <p14:creationId xmlns:p14="http://schemas.microsoft.com/office/powerpoint/2010/main" val="2407970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2D4589-B12C-E7A2-6FE4-98E8216991A0}"/>
              </a:ext>
            </a:extLst>
          </p:cNvPr>
          <p:cNvSpPr txBox="1"/>
          <p:nvPr/>
        </p:nvSpPr>
        <p:spPr>
          <a:xfrm>
            <a:off x="311889" y="917912"/>
            <a:ext cx="11738344" cy="5940088"/>
          </a:xfrm>
          <a:prstGeom prst="rect">
            <a:avLst/>
          </a:prstGeom>
          <a:noFill/>
        </p:spPr>
        <p:txBody>
          <a:bodyPr wrap="square">
            <a:spAutoFit/>
          </a:bodyPr>
          <a:lstStyle/>
          <a:p>
            <a:pPr>
              <a:buNone/>
            </a:pPr>
            <a:r>
              <a:rPr lang="en-US" sz="2000" dirty="0"/>
              <a:t>The cleaned fish distribution dataset was analyzed using </a:t>
            </a:r>
            <a:r>
              <a:rPr lang="en-US" sz="2000" b="1" dirty="0"/>
              <a:t>Microsoft Excel, PivotTables, calculated fields, and </a:t>
            </a:r>
            <a:r>
              <a:rPr lang="en-US" sz="2000" b="1" dirty="0" err="1"/>
              <a:t>PivotCharts</a:t>
            </a:r>
            <a:r>
              <a:rPr lang="en-US" sz="2000" dirty="0"/>
              <a:t> to evaluate sales performance, profitability, customer behavior, supplier performance, and distribution patterns across different locations.</a:t>
            </a:r>
          </a:p>
          <a:p>
            <a:pPr>
              <a:buNone/>
            </a:pPr>
            <a:r>
              <a:rPr lang="en-US" sz="2000" dirty="0"/>
              <a:t>Fish products were segmented by </a:t>
            </a:r>
            <a:r>
              <a:rPr lang="en-US" sz="2000" b="1" dirty="0"/>
              <a:t>fish type and size</a:t>
            </a:r>
            <a:r>
              <a:rPr lang="en-US" sz="2000" dirty="0"/>
              <a:t> to determine the most popular products across different locations. Transaction profitability was assessed by calculating </a:t>
            </a:r>
            <a:r>
              <a:rPr lang="en-US" sz="2000" b="1" dirty="0"/>
              <a:t>profit as Total Sales minus Total Supply Cost</a:t>
            </a:r>
            <a:r>
              <a:rPr lang="en-US" sz="2000" dirty="0"/>
              <a:t>, allowing profitable products, locations, and transactions to be identified. Supplier performance was also compared using sales and profitability outcomes to identify the </a:t>
            </a:r>
            <a:r>
              <a:rPr lang="en-US" sz="2000" b="1" dirty="0"/>
              <a:t>top-performing suppliers</a:t>
            </a:r>
            <a:r>
              <a:rPr lang="en-US" sz="2000" dirty="0"/>
              <a:t>.</a:t>
            </a:r>
          </a:p>
          <a:p>
            <a:pPr>
              <a:buNone/>
            </a:pPr>
            <a:endParaRPr lang="en-US" sz="2000" dirty="0"/>
          </a:p>
          <a:p>
            <a:pPr>
              <a:buNone/>
            </a:pPr>
            <a:r>
              <a:rPr lang="en-US" sz="2000" dirty="0"/>
              <a:t>Customers were analyzed by </a:t>
            </a:r>
            <a:r>
              <a:rPr lang="en-US" sz="2000" b="1" dirty="0"/>
              <a:t>location and purchase frequency</a:t>
            </a:r>
            <a:r>
              <a:rPr lang="en-US" sz="2000" dirty="0"/>
              <a:t> to identify important customer segments and areas with stronger demand. Sales performance was examined over </a:t>
            </a:r>
            <a:r>
              <a:rPr lang="en-US" sz="2000" b="1" dirty="0"/>
              <a:t>monthly and quarterly periods</a:t>
            </a:r>
            <a:r>
              <a:rPr lang="en-US" sz="2000" dirty="0"/>
              <a:t> to identify trends, peak sales periods, and fluctuations in revenue.</a:t>
            </a:r>
          </a:p>
          <a:p>
            <a:pPr>
              <a:buNone/>
            </a:pPr>
            <a:r>
              <a:rPr lang="en-US" sz="2000" dirty="0"/>
              <a:t>The analysis also compared </a:t>
            </a:r>
            <a:r>
              <a:rPr lang="en-US" sz="2000" b="1" dirty="0"/>
              <a:t>online and in-store sales channels</a:t>
            </a:r>
            <a:r>
              <a:rPr lang="en-US" sz="2000" dirty="0"/>
              <a:t> to determine which generated greater revenue. Discount levels were assessed against </a:t>
            </a:r>
            <a:r>
              <a:rPr lang="en-US" sz="2000" b="1" dirty="0"/>
              <a:t>quantity sold and sales revenue</a:t>
            </a:r>
            <a:r>
              <a:rPr lang="en-US" sz="2000" dirty="0"/>
              <a:t> to understand whether discounting was associated with increased purchasing activity.</a:t>
            </a:r>
          </a:p>
          <a:p>
            <a:pPr>
              <a:buNone/>
            </a:pPr>
            <a:endParaRPr lang="en-US" sz="2000" dirty="0"/>
          </a:p>
          <a:p>
            <a:pPr>
              <a:buNone/>
            </a:pPr>
            <a:r>
              <a:rPr lang="en-US" sz="2000" dirty="0"/>
              <a:t>The findings were summarized using charts and visualizations to highlight </a:t>
            </a:r>
            <a:r>
              <a:rPr lang="en-US" sz="2000" b="1" dirty="0"/>
              <a:t>popular fish products, profitable transactions, supplier performance, customer segments, sales trends, channel performance, and discount patterns</a:t>
            </a:r>
            <a:r>
              <a:rPr lang="en-US" sz="2000" dirty="0"/>
              <a:t>. These insights were used to develop recommendations aimed at improving </a:t>
            </a:r>
            <a:r>
              <a:rPr lang="en-US" sz="2000" b="1" dirty="0"/>
              <a:t>inventory planning, supplier selection, customer targeting, pricing, and overall profitability</a:t>
            </a:r>
            <a:r>
              <a:rPr lang="en-US" sz="2000" dirty="0"/>
              <a:t>.</a:t>
            </a:r>
          </a:p>
        </p:txBody>
      </p:sp>
      <p:sp>
        <p:nvSpPr>
          <p:cNvPr id="5" name="TextBox 13">
            <a:extLst>
              <a:ext uri="{FF2B5EF4-FFF2-40B4-BE49-F238E27FC236}">
                <a16:creationId xmlns:a16="http://schemas.microsoft.com/office/drawing/2014/main" id="{0FD4BA5D-97D3-FD99-A757-45C32070021E}"/>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dirty="0">
                <a:solidFill>
                  <a:schemeClr val="bg1"/>
                </a:solidFill>
              </a:rPr>
              <a:t>ANALYSIS</a:t>
            </a:r>
          </a:p>
        </p:txBody>
      </p:sp>
    </p:spTree>
    <p:extLst>
      <p:ext uri="{BB962C8B-B14F-4D97-AF65-F5344CB8AC3E}">
        <p14:creationId xmlns:p14="http://schemas.microsoft.com/office/powerpoint/2010/main" val="2890477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C3B56651-FDB0-622C-BD25-F30FF1D6B310}"/>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3600" dirty="0">
                <a:solidFill>
                  <a:schemeClr val="bg1"/>
                </a:solidFill>
              </a:rPr>
              <a:t>FISH POPULARITY</a:t>
            </a:r>
          </a:p>
        </p:txBody>
      </p:sp>
      <p:sp>
        <p:nvSpPr>
          <p:cNvPr id="6" name="TextBox 1">
            <a:extLst>
              <a:ext uri="{FF2B5EF4-FFF2-40B4-BE49-F238E27FC236}">
                <a16:creationId xmlns:a16="http://schemas.microsoft.com/office/drawing/2014/main" id="{C4CD5069-5C41-8663-520A-A0F5682B32CA}"/>
              </a:ext>
            </a:extLst>
          </p:cNvPr>
          <p:cNvSpPr txBox="1"/>
          <p:nvPr/>
        </p:nvSpPr>
        <p:spPr>
          <a:xfrm>
            <a:off x="233916" y="3727449"/>
            <a:ext cx="11724168" cy="2875369"/>
          </a:xfrm>
          <a:prstGeom prst="rect">
            <a:avLst/>
          </a:prstGeom>
          <a:solidFill>
            <a:schemeClr val="bg1">
              <a:lumMod val="95000"/>
            </a:schemeClr>
          </a:solidFill>
          <a:ln w="25400"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dirty="0"/>
              <a:t>The popularity of </a:t>
            </a:r>
            <a:r>
              <a:rPr lang="en-US" sz="2000" b="1" dirty="0"/>
              <a:t>fish types</a:t>
            </a:r>
            <a:r>
              <a:rPr lang="en-US" sz="2000" dirty="0"/>
              <a:t> and </a:t>
            </a:r>
            <a:r>
              <a:rPr lang="en-US" sz="2000" b="1" dirty="0"/>
              <a:t>fish sizes</a:t>
            </a:r>
            <a:r>
              <a:rPr lang="en-US" sz="2000" dirty="0"/>
              <a:t> was </a:t>
            </a:r>
            <a:r>
              <a:rPr lang="en-US" sz="2000" dirty="0" err="1"/>
              <a:t>analysed</a:t>
            </a:r>
            <a:r>
              <a:rPr lang="en-US" sz="2000" dirty="0"/>
              <a:t> across different business locations using the total quantity sold. The analysis showed that </a:t>
            </a:r>
            <a:r>
              <a:rPr lang="en-US" sz="2000" b="1" dirty="0"/>
              <a:t>Catfish</a:t>
            </a:r>
            <a:r>
              <a:rPr lang="en-US" sz="2000" dirty="0"/>
              <a:t> was the most popular fish type, recording the highest quantity sold, while </a:t>
            </a:r>
            <a:r>
              <a:rPr lang="en-US" sz="2000" b="1" dirty="0"/>
              <a:t>Mackerel</a:t>
            </a:r>
            <a:r>
              <a:rPr lang="en-US" sz="2000" dirty="0"/>
              <a:t> had the lowest overall sales. Across the locations, </a:t>
            </a:r>
            <a:r>
              <a:rPr lang="en-US" sz="2000" b="1" dirty="0"/>
              <a:t>Lagos</a:t>
            </a:r>
            <a:r>
              <a:rPr lang="en-US" sz="2000" dirty="0"/>
              <a:t> recorded the highest total quantity sold, indicating stronger customer demand compared to Abuja and Port Harcourt.</a:t>
            </a:r>
          </a:p>
          <a:p>
            <a:r>
              <a:rPr lang="en-US" sz="2000" dirty="0"/>
              <a:t>Analysis of fish sizes showed that </a:t>
            </a:r>
            <a:r>
              <a:rPr lang="en-US" sz="2000" b="1" dirty="0"/>
              <a:t>1 kg</a:t>
            </a:r>
            <a:r>
              <a:rPr lang="en-US" sz="2000" dirty="0"/>
              <a:t> fish was the most popular size, whereas </a:t>
            </a:r>
            <a:r>
              <a:rPr lang="en-US" sz="2000" b="1" dirty="0"/>
              <a:t>2 kg</a:t>
            </a:r>
            <a:r>
              <a:rPr lang="en-US" sz="2000" dirty="0"/>
              <a:t> fish recorded the lowest sales. Similar to the fish type analysis, </a:t>
            </a:r>
            <a:r>
              <a:rPr lang="en-US" sz="2000" b="1" dirty="0"/>
              <a:t>Lagos</a:t>
            </a:r>
            <a:r>
              <a:rPr lang="en-US" sz="2000" dirty="0"/>
              <a:t> achieved the highest sales across most fish sizes. These findings suggest that the business should </a:t>
            </a:r>
            <a:r>
              <a:rPr lang="en-US" sz="2000" dirty="0" err="1"/>
              <a:t>prioritise</a:t>
            </a:r>
            <a:r>
              <a:rPr lang="en-US" sz="2000" dirty="0"/>
              <a:t> stocking </a:t>
            </a:r>
            <a:r>
              <a:rPr lang="en-US" sz="2000" b="1" dirty="0"/>
              <a:t>Catfish</a:t>
            </a:r>
            <a:r>
              <a:rPr lang="en-US" sz="2000" dirty="0"/>
              <a:t> and </a:t>
            </a:r>
            <a:r>
              <a:rPr lang="en-US" sz="2000" b="1" dirty="0"/>
              <a:t>1 kg</a:t>
            </a:r>
            <a:r>
              <a:rPr lang="en-US" sz="2000" dirty="0"/>
              <a:t> fish, particularly in </a:t>
            </a:r>
            <a:r>
              <a:rPr lang="en-US" sz="2000" b="1" dirty="0"/>
              <a:t>Lagos</a:t>
            </a:r>
            <a:r>
              <a:rPr lang="en-US" sz="2000" dirty="0"/>
              <a:t>, to meet customer demand, improve inventory management, and maximize sales performance.</a:t>
            </a:r>
          </a:p>
          <a:p>
            <a:endParaRPr lang="en-US" sz="2000" dirty="0"/>
          </a:p>
        </p:txBody>
      </p:sp>
      <p:graphicFrame>
        <p:nvGraphicFramePr>
          <p:cNvPr id="7" name="Chart 6">
            <a:extLst>
              <a:ext uri="{FF2B5EF4-FFF2-40B4-BE49-F238E27FC236}">
                <a16:creationId xmlns:a16="http://schemas.microsoft.com/office/drawing/2014/main" id="{AD7C3636-B6E8-EFB3-4328-55AFAF0BC045}"/>
              </a:ext>
            </a:extLst>
          </p:cNvPr>
          <p:cNvGraphicFramePr>
            <a:graphicFrameLocks/>
          </p:cNvGraphicFramePr>
          <p:nvPr>
            <p:extLst>
              <p:ext uri="{D42A27DB-BD31-4B8C-83A1-F6EECF244321}">
                <p14:modId xmlns:p14="http://schemas.microsoft.com/office/powerpoint/2010/main" val="3510678966"/>
              </p:ext>
            </p:extLst>
          </p:nvPr>
        </p:nvGraphicFramePr>
        <p:xfrm>
          <a:off x="6251945" y="886074"/>
          <a:ext cx="5706140" cy="27431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6AFC3806-D818-8C1A-B55D-8680C8231163}"/>
              </a:ext>
            </a:extLst>
          </p:cNvPr>
          <p:cNvGraphicFramePr>
            <a:graphicFrameLocks/>
          </p:cNvGraphicFramePr>
          <p:nvPr>
            <p:extLst>
              <p:ext uri="{D42A27DB-BD31-4B8C-83A1-F6EECF244321}">
                <p14:modId xmlns:p14="http://schemas.microsoft.com/office/powerpoint/2010/main" val="2413941454"/>
              </p:ext>
            </p:extLst>
          </p:nvPr>
        </p:nvGraphicFramePr>
        <p:xfrm>
          <a:off x="233916" y="886075"/>
          <a:ext cx="5862084"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11327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AE39AFB4-D7FC-F1A2-6CD9-D45EE6B6B40B}"/>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3600" dirty="0">
                <a:solidFill>
                  <a:schemeClr val="bg1"/>
                </a:solidFill>
              </a:rPr>
              <a:t>SUPPLIER PERFORMANCE</a:t>
            </a:r>
          </a:p>
        </p:txBody>
      </p:sp>
      <p:sp>
        <p:nvSpPr>
          <p:cNvPr id="6" name="TextBox 1">
            <a:extLst>
              <a:ext uri="{FF2B5EF4-FFF2-40B4-BE49-F238E27FC236}">
                <a16:creationId xmlns:a16="http://schemas.microsoft.com/office/drawing/2014/main" id="{17E5E59C-C9FD-D826-A914-95C340DFC3E2}"/>
              </a:ext>
            </a:extLst>
          </p:cNvPr>
          <p:cNvSpPr txBox="1"/>
          <p:nvPr/>
        </p:nvSpPr>
        <p:spPr>
          <a:xfrm>
            <a:off x="6889898" y="1060153"/>
            <a:ext cx="5007934" cy="5404439"/>
          </a:xfrm>
          <a:prstGeom prst="rect">
            <a:avLst/>
          </a:prstGeom>
          <a:solidFill>
            <a:schemeClr val="bg1">
              <a:lumMod val="95000"/>
            </a:schemeClr>
          </a:solidFill>
          <a:ln w="25400"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dirty="0"/>
              <a:t>Supplier performance was evaluated using </a:t>
            </a:r>
            <a:r>
              <a:rPr lang="en-US" sz="2000" b="1" dirty="0"/>
              <a:t>total profit</a:t>
            </a:r>
            <a:r>
              <a:rPr lang="en-US" sz="2000" dirty="0"/>
              <a:t> and </a:t>
            </a:r>
            <a:r>
              <a:rPr lang="en-US" sz="2000" b="1" dirty="0"/>
              <a:t>total sales value</a:t>
            </a:r>
            <a:r>
              <a:rPr lang="en-US" sz="2000" dirty="0"/>
              <a:t>. The analysis showed that </a:t>
            </a:r>
            <a:r>
              <a:rPr lang="en-US" sz="2000" b="1" dirty="0"/>
              <a:t>Abuja Fish Co.</a:t>
            </a:r>
            <a:r>
              <a:rPr lang="en-US" sz="2000" dirty="0"/>
              <a:t> was the top-performing supplier, generating the highest total profit and the highest total sales value. </a:t>
            </a:r>
            <a:r>
              <a:rPr lang="en-US" sz="2000" b="1" dirty="0"/>
              <a:t>ABC Fisheries</a:t>
            </a:r>
            <a:r>
              <a:rPr lang="en-US" sz="2000" dirty="0"/>
              <a:t> and </a:t>
            </a:r>
            <a:r>
              <a:rPr lang="en-US" sz="2000" b="1" dirty="0"/>
              <a:t>Rivers Aqua</a:t>
            </a:r>
            <a:r>
              <a:rPr lang="en-US" sz="2000" dirty="0"/>
              <a:t> also recorded strong sales outcomes, while </a:t>
            </a:r>
            <a:r>
              <a:rPr lang="en-US" sz="2000" b="1" dirty="0"/>
              <a:t>North Marine</a:t>
            </a:r>
            <a:r>
              <a:rPr lang="en-US" sz="2000" dirty="0"/>
              <a:t> generated the lowest profit and sales among the listed suppliers. These findings indicate that </a:t>
            </a:r>
            <a:r>
              <a:rPr lang="en-US" sz="2000" b="1" dirty="0"/>
              <a:t>Abuja Fish Co.</a:t>
            </a:r>
            <a:r>
              <a:rPr lang="en-US" sz="2000" dirty="0"/>
              <a:t> makes the greatest contribution to the business's financial performance. To maximize profitability and maintain a reliable supply chain, the business should strengthen relationships with high-performing suppliers while reviewing opportunities to improve the performance of lower-performing suppliers.</a:t>
            </a:r>
          </a:p>
        </p:txBody>
      </p:sp>
      <p:graphicFrame>
        <p:nvGraphicFramePr>
          <p:cNvPr id="2" name="Chart 1">
            <a:extLst>
              <a:ext uri="{FF2B5EF4-FFF2-40B4-BE49-F238E27FC236}">
                <a16:creationId xmlns:a16="http://schemas.microsoft.com/office/drawing/2014/main" id="{99194488-0A0C-3C08-1658-FEA288813CF9}"/>
              </a:ext>
            </a:extLst>
          </p:cNvPr>
          <p:cNvGraphicFramePr>
            <a:graphicFrameLocks/>
          </p:cNvGraphicFramePr>
          <p:nvPr>
            <p:extLst>
              <p:ext uri="{D42A27DB-BD31-4B8C-83A1-F6EECF244321}">
                <p14:modId xmlns:p14="http://schemas.microsoft.com/office/powerpoint/2010/main" val="1067856972"/>
              </p:ext>
            </p:extLst>
          </p:nvPr>
        </p:nvGraphicFramePr>
        <p:xfrm>
          <a:off x="199063" y="3535326"/>
          <a:ext cx="6425021" cy="292926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758579B3-C4C2-7663-CC41-0CA0D4512382}"/>
              </a:ext>
            </a:extLst>
          </p:cNvPr>
          <p:cNvGraphicFramePr>
            <a:graphicFrameLocks/>
          </p:cNvGraphicFramePr>
          <p:nvPr>
            <p:extLst>
              <p:ext uri="{D42A27DB-BD31-4B8C-83A1-F6EECF244321}">
                <p14:modId xmlns:p14="http://schemas.microsoft.com/office/powerpoint/2010/main" val="3044368719"/>
              </p:ext>
            </p:extLst>
          </p:nvPr>
        </p:nvGraphicFramePr>
        <p:xfrm>
          <a:off x="199064" y="1060153"/>
          <a:ext cx="6425020" cy="229973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32022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28406412-5E2B-6705-A08E-1AA986997649}"/>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lvl="1" algn="ctr">
              <a:lnSpc>
                <a:spcPct val="150000"/>
              </a:lnSpc>
            </a:pPr>
            <a:r>
              <a:rPr lang="en-US" sz="3600" dirty="0">
                <a:solidFill>
                  <a:schemeClr val="bg1"/>
                </a:solidFill>
              </a:rPr>
              <a:t>CUSTOMER SEGMENMTATION</a:t>
            </a:r>
          </a:p>
        </p:txBody>
      </p:sp>
      <p:sp>
        <p:nvSpPr>
          <p:cNvPr id="6" name="TextBox 5">
            <a:extLst>
              <a:ext uri="{FF2B5EF4-FFF2-40B4-BE49-F238E27FC236}">
                <a16:creationId xmlns:a16="http://schemas.microsoft.com/office/drawing/2014/main" id="{36600FF8-4A59-8CA4-CA09-4592653D6FA5}"/>
              </a:ext>
            </a:extLst>
          </p:cNvPr>
          <p:cNvSpPr txBox="1"/>
          <p:nvPr/>
        </p:nvSpPr>
        <p:spPr>
          <a:xfrm>
            <a:off x="165985" y="4154867"/>
            <a:ext cx="11785010" cy="2585323"/>
          </a:xfrm>
          <a:prstGeom prst="rect">
            <a:avLst/>
          </a:prstGeom>
          <a:solidFill>
            <a:schemeClr val="bg1">
              <a:lumMod val="95000"/>
            </a:schemeClr>
          </a:solidFill>
          <a:ln>
            <a:noFill/>
          </a:ln>
        </p:spPr>
        <p:txBody>
          <a:bodyPr wrap="square">
            <a:spAutoFit/>
          </a:bodyPr>
          <a:lstStyle/>
          <a:p>
            <a:pPr>
              <a:buNone/>
            </a:pPr>
            <a:r>
              <a:rPr lang="en-US" b="1" dirty="0"/>
              <a:t>Sales Channel:</a:t>
            </a:r>
            <a:r>
              <a:rPr lang="en-US" dirty="0"/>
              <a:t> In-store and online sales are </a:t>
            </a:r>
            <a:r>
              <a:rPr lang="en-US" b="1" dirty="0"/>
              <a:t>almost evenly distributed</a:t>
            </a:r>
            <a:r>
              <a:rPr lang="en-US" dirty="0"/>
              <a:t>, suggesting that both channels make important contributions to the business. Neither channel appears to dominate significantly, so maintaining both channels would support wider customer reach.</a:t>
            </a:r>
          </a:p>
          <a:p>
            <a:pPr>
              <a:buNone/>
            </a:pPr>
            <a:r>
              <a:rPr lang="en-US" b="1" dirty="0"/>
              <a:t>Discount Impact:</a:t>
            </a:r>
            <a:r>
              <a:rPr lang="en-US" dirty="0"/>
              <a:t> The </a:t>
            </a:r>
            <a:r>
              <a:rPr lang="en-US" b="1" dirty="0"/>
              <a:t>₦50 discount level generated the highest total sales</a:t>
            </a:r>
            <a:r>
              <a:rPr lang="en-US" dirty="0"/>
              <a:t>, at approximately ₦5.9 million. Sales were lower at ₦100 and ₦200 discount levels, suggesting that </a:t>
            </a:r>
            <a:r>
              <a:rPr lang="en-US" b="1" dirty="0"/>
              <a:t>larger discounts do not necessarily generate higher revenue</a:t>
            </a:r>
            <a:r>
              <a:rPr lang="en-US" dirty="0"/>
              <a:t>. A moderate discount may therefore be more effective.</a:t>
            </a:r>
          </a:p>
          <a:p>
            <a:pPr>
              <a:buNone/>
            </a:pPr>
            <a:r>
              <a:rPr lang="en-US" b="1" dirty="0"/>
              <a:t>Customer Purchase Frequency:</a:t>
            </a:r>
            <a:r>
              <a:rPr lang="en-US" dirty="0"/>
              <a:t> Purchasing behavior was relatively balanced across </a:t>
            </a:r>
            <a:r>
              <a:rPr lang="en-US" b="1" dirty="0"/>
              <a:t>Abuja, Lagos and Port Harcourt</a:t>
            </a:r>
            <a:r>
              <a:rPr lang="en-US" dirty="0"/>
              <a:t>. Lagos recorded slightly higher overall purchase activity, while weekly, monthly and biweekly customers were distributed fairly evenly across the three locations.</a:t>
            </a:r>
          </a:p>
        </p:txBody>
      </p:sp>
      <p:graphicFrame>
        <p:nvGraphicFramePr>
          <p:cNvPr id="7" name="Chart 6">
            <a:extLst>
              <a:ext uri="{FF2B5EF4-FFF2-40B4-BE49-F238E27FC236}">
                <a16:creationId xmlns:a16="http://schemas.microsoft.com/office/drawing/2014/main" id="{42128AF2-2149-123B-75BC-999A4EB97C23}"/>
              </a:ext>
            </a:extLst>
          </p:cNvPr>
          <p:cNvGraphicFramePr>
            <a:graphicFrameLocks/>
          </p:cNvGraphicFramePr>
          <p:nvPr>
            <p:extLst>
              <p:ext uri="{D42A27DB-BD31-4B8C-83A1-F6EECF244321}">
                <p14:modId xmlns:p14="http://schemas.microsoft.com/office/powerpoint/2010/main" val="165104700"/>
              </p:ext>
            </p:extLst>
          </p:nvPr>
        </p:nvGraphicFramePr>
        <p:xfrm>
          <a:off x="165985" y="875856"/>
          <a:ext cx="3491615" cy="31219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70480B5E-4198-49D8-AE21-3C293BD3589B}"/>
              </a:ext>
            </a:extLst>
          </p:cNvPr>
          <p:cNvGraphicFramePr>
            <a:graphicFrameLocks/>
          </p:cNvGraphicFramePr>
          <p:nvPr>
            <p:extLst>
              <p:ext uri="{D42A27DB-BD31-4B8C-83A1-F6EECF244321}">
                <p14:modId xmlns:p14="http://schemas.microsoft.com/office/powerpoint/2010/main" val="1032581517"/>
              </p:ext>
            </p:extLst>
          </p:nvPr>
        </p:nvGraphicFramePr>
        <p:xfrm>
          <a:off x="3821371" y="875245"/>
          <a:ext cx="3780907" cy="31219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CCF5671A-5C94-4155-AD38-9F4D32504725}"/>
              </a:ext>
            </a:extLst>
          </p:cNvPr>
          <p:cNvGraphicFramePr>
            <a:graphicFrameLocks/>
          </p:cNvGraphicFramePr>
          <p:nvPr>
            <p:extLst>
              <p:ext uri="{D42A27DB-BD31-4B8C-83A1-F6EECF244321}">
                <p14:modId xmlns:p14="http://schemas.microsoft.com/office/powerpoint/2010/main" val="3409959752"/>
              </p:ext>
            </p:extLst>
          </p:nvPr>
        </p:nvGraphicFramePr>
        <p:xfrm>
          <a:off x="7766049" y="875857"/>
          <a:ext cx="4184946" cy="312137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219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D5998532-A3C4-DCAC-F195-768F0BC6F103}"/>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lvl="1" algn="ctr">
              <a:lnSpc>
                <a:spcPct val="150000"/>
              </a:lnSpc>
            </a:pPr>
            <a:r>
              <a:rPr lang="en-US" sz="3600" b="1" dirty="0">
                <a:solidFill>
                  <a:schemeClr val="bg1"/>
                </a:solidFill>
              </a:rPr>
              <a:t>FISH DISTRIBUTION RETAIL ANALYSIS DASHBOARD</a:t>
            </a:r>
          </a:p>
        </p:txBody>
      </p:sp>
      <p:graphicFrame>
        <p:nvGraphicFramePr>
          <p:cNvPr id="5" name="Chart 4">
            <a:extLst>
              <a:ext uri="{FF2B5EF4-FFF2-40B4-BE49-F238E27FC236}">
                <a16:creationId xmlns:a16="http://schemas.microsoft.com/office/drawing/2014/main" id="{D2E3D706-AEF0-B5BC-482D-BBE7D9CB6DDB}"/>
              </a:ext>
            </a:extLst>
          </p:cNvPr>
          <p:cNvGraphicFramePr>
            <a:graphicFrameLocks/>
          </p:cNvGraphicFramePr>
          <p:nvPr>
            <p:extLst>
              <p:ext uri="{D42A27DB-BD31-4B8C-83A1-F6EECF244321}">
                <p14:modId xmlns:p14="http://schemas.microsoft.com/office/powerpoint/2010/main" val="1934614780"/>
              </p:ext>
            </p:extLst>
          </p:nvPr>
        </p:nvGraphicFramePr>
        <p:xfrm>
          <a:off x="3169983" y="2008266"/>
          <a:ext cx="2625894" cy="22383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568199AC-13B7-79F9-A897-AC5FA338AEF2}"/>
              </a:ext>
            </a:extLst>
          </p:cNvPr>
          <p:cNvGraphicFramePr>
            <a:graphicFrameLocks/>
          </p:cNvGraphicFramePr>
          <p:nvPr>
            <p:extLst>
              <p:ext uri="{D42A27DB-BD31-4B8C-83A1-F6EECF244321}">
                <p14:modId xmlns:p14="http://schemas.microsoft.com/office/powerpoint/2010/main" val="642744035"/>
              </p:ext>
            </p:extLst>
          </p:nvPr>
        </p:nvGraphicFramePr>
        <p:xfrm>
          <a:off x="5906214" y="2008264"/>
          <a:ext cx="2940936" cy="22383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FBE7807-77E8-F2E4-67A6-30147B1BBD5D}"/>
              </a:ext>
            </a:extLst>
          </p:cNvPr>
          <p:cNvGraphicFramePr>
            <a:graphicFrameLocks/>
          </p:cNvGraphicFramePr>
          <p:nvPr>
            <p:extLst>
              <p:ext uri="{D42A27DB-BD31-4B8C-83A1-F6EECF244321}">
                <p14:modId xmlns:p14="http://schemas.microsoft.com/office/powerpoint/2010/main" val="908061990"/>
              </p:ext>
            </p:extLst>
          </p:nvPr>
        </p:nvGraphicFramePr>
        <p:xfrm>
          <a:off x="8957487" y="2008266"/>
          <a:ext cx="3068528" cy="22383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7956C613-3201-1C61-897A-D2943327E0AB}"/>
              </a:ext>
            </a:extLst>
          </p:cNvPr>
          <p:cNvGraphicFramePr>
            <a:graphicFrameLocks/>
          </p:cNvGraphicFramePr>
          <p:nvPr>
            <p:extLst>
              <p:ext uri="{D42A27DB-BD31-4B8C-83A1-F6EECF244321}">
                <p14:modId xmlns:p14="http://schemas.microsoft.com/office/powerpoint/2010/main" val="129425794"/>
              </p:ext>
            </p:extLst>
          </p:nvPr>
        </p:nvGraphicFramePr>
        <p:xfrm>
          <a:off x="7893244" y="4389236"/>
          <a:ext cx="4132769" cy="237878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Chart 16">
            <a:extLst>
              <a:ext uri="{FF2B5EF4-FFF2-40B4-BE49-F238E27FC236}">
                <a16:creationId xmlns:a16="http://schemas.microsoft.com/office/drawing/2014/main" id="{40682D22-B67E-C913-CE3C-8A58B25A5B35}"/>
              </a:ext>
            </a:extLst>
          </p:cNvPr>
          <p:cNvGraphicFramePr>
            <a:graphicFrameLocks/>
          </p:cNvGraphicFramePr>
          <p:nvPr>
            <p:extLst>
              <p:ext uri="{D42A27DB-BD31-4B8C-83A1-F6EECF244321}">
                <p14:modId xmlns:p14="http://schemas.microsoft.com/office/powerpoint/2010/main" val="948279851"/>
              </p:ext>
            </p:extLst>
          </p:nvPr>
        </p:nvGraphicFramePr>
        <p:xfrm>
          <a:off x="159168" y="4389239"/>
          <a:ext cx="3917073" cy="237878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Chart 17">
            <a:extLst>
              <a:ext uri="{FF2B5EF4-FFF2-40B4-BE49-F238E27FC236}">
                <a16:creationId xmlns:a16="http://schemas.microsoft.com/office/drawing/2014/main" id="{99194488-0A0C-3C08-1658-FEA288813CF9}"/>
              </a:ext>
            </a:extLst>
          </p:cNvPr>
          <p:cNvGraphicFramePr>
            <a:graphicFrameLocks/>
          </p:cNvGraphicFramePr>
          <p:nvPr>
            <p:extLst>
              <p:ext uri="{D42A27DB-BD31-4B8C-83A1-F6EECF244321}">
                <p14:modId xmlns:p14="http://schemas.microsoft.com/office/powerpoint/2010/main" val="2521703173"/>
              </p:ext>
            </p:extLst>
          </p:nvPr>
        </p:nvGraphicFramePr>
        <p:xfrm>
          <a:off x="4203568" y="4389240"/>
          <a:ext cx="3562350" cy="237878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Chart 18">
            <a:extLst>
              <a:ext uri="{FF2B5EF4-FFF2-40B4-BE49-F238E27FC236}">
                <a16:creationId xmlns:a16="http://schemas.microsoft.com/office/drawing/2014/main" id="{758579B3-C4C2-7663-CC41-0CA0D4512382}"/>
              </a:ext>
            </a:extLst>
          </p:cNvPr>
          <p:cNvGraphicFramePr>
            <a:graphicFrameLocks/>
          </p:cNvGraphicFramePr>
          <p:nvPr>
            <p:extLst>
              <p:ext uri="{D42A27DB-BD31-4B8C-83A1-F6EECF244321}">
                <p14:modId xmlns:p14="http://schemas.microsoft.com/office/powerpoint/2010/main" val="2582232061"/>
              </p:ext>
            </p:extLst>
          </p:nvPr>
        </p:nvGraphicFramePr>
        <p:xfrm>
          <a:off x="159168" y="2008266"/>
          <a:ext cx="2900477" cy="223837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0" name="Table 19">
            <a:extLst>
              <a:ext uri="{FF2B5EF4-FFF2-40B4-BE49-F238E27FC236}">
                <a16:creationId xmlns:a16="http://schemas.microsoft.com/office/drawing/2014/main" id="{92D89831-E1C3-6E21-005C-0BA1A2D43EFF}"/>
              </a:ext>
            </a:extLst>
          </p:cNvPr>
          <p:cNvGraphicFramePr>
            <a:graphicFrameLocks noGrp="1"/>
          </p:cNvGraphicFramePr>
          <p:nvPr>
            <p:extLst>
              <p:ext uri="{D42A27DB-BD31-4B8C-83A1-F6EECF244321}">
                <p14:modId xmlns:p14="http://schemas.microsoft.com/office/powerpoint/2010/main" val="1626726659"/>
              </p:ext>
            </p:extLst>
          </p:nvPr>
        </p:nvGraphicFramePr>
        <p:xfrm>
          <a:off x="558952" y="1136008"/>
          <a:ext cx="1770099" cy="515620"/>
        </p:xfrm>
        <a:graphic>
          <a:graphicData uri="http://schemas.openxmlformats.org/drawingml/2006/table">
            <a:tbl>
              <a:tblPr>
                <a:tableStyleId>{5C22544A-7EE6-4342-B048-85BDC9FD1C3A}</a:tableStyleId>
              </a:tblPr>
              <a:tblGrid>
                <a:gridCol w="1770099">
                  <a:extLst>
                    <a:ext uri="{9D8B030D-6E8A-4147-A177-3AD203B41FA5}">
                      <a16:colId xmlns:a16="http://schemas.microsoft.com/office/drawing/2014/main" val="1853238571"/>
                    </a:ext>
                  </a:extLst>
                </a:gridCol>
              </a:tblGrid>
              <a:tr h="234950">
                <a:tc>
                  <a:txBody>
                    <a:bodyPr/>
                    <a:lstStyle/>
                    <a:p>
                      <a:pPr algn="ctr" fontAlgn="b">
                        <a:buNone/>
                      </a:pPr>
                      <a:r>
                        <a:rPr lang="en-US" sz="1400" u="none" strike="noStrike">
                          <a:solidFill>
                            <a:schemeClr val="bg1"/>
                          </a:solidFill>
                          <a:effectLst/>
                        </a:rPr>
                        <a:t>Total Sales Revenue</a:t>
                      </a:r>
                      <a:endParaRPr lang="en-US" sz="1400" b="0" i="0" u="none" strike="noStrike">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2423209267"/>
                  </a:ext>
                </a:extLst>
              </a:tr>
              <a:tr h="0">
                <a:tc>
                  <a:txBody>
                    <a:bodyPr/>
                    <a:lstStyle/>
                    <a:p>
                      <a:pPr algn="ctr" fontAlgn="ctr">
                        <a:buNone/>
                      </a:pPr>
                      <a:r>
                        <a:rPr lang="en-US" sz="1800" u="none" strike="noStrike" dirty="0">
                          <a:solidFill>
                            <a:schemeClr val="bg1"/>
                          </a:solidFill>
                          <a:effectLst/>
                        </a:rPr>
                        <a:t>22403304</a:t>
                      </a:r>
                      <a:endParaRPr lang="en-US" sz="1800" b="1" i="0" u="none" strike="noStrike" dirty="0">
                        <a:solidFill>
                          <a:schemeClr val="bg1"/>
                        </a:solidFill>
                        <a:effectLst/>
                        <a:latin typeface="Calibri" panose="020F0502020204030204" pitchFamily="34" charset="0"/>
                      </a:endParaRPr>
                    </a:p>
                  </a:txBody>
                  <a:tcPr marL="6350" marR="6350" marT="6350" marB="0" anchor="ctr">
                    <a:solidFill>
                      <a:schemeClr val="bg2">
                        <a:lumMod val="50000"/>
                      </a:schemeClr>
                    </a:solidFill>
                  </a:tcPr>
                </a:tc>
                <a:extLst>
                  <a:ext uri="{0D108BD9-81ED-4DB2-BD59-A6C34878D82A}">
                    <a16:rowId xmlns:a16="http://schemas.microsoft.com/office/drawing/2014/main" val="4224395776"/>
                  </a:ext>
                </a:extLst>
              </a:tr>
            </a:tbl>
          </a:graphicData>
        </a:graphic>
      </p:graphicFrame>
      <p:graphicFrame>
        <p:nvGraphicFramePr>
          <p:cNvPr id="21" name="Table 20">
            <a:extLst>
              <a:ext uri="{FF2B5EF4-FFF2-40B4-BE49-F238E27FC236}">
                <a16:creationId xmlns:a16="http://schemas.microsoft.com/office/drawing/2014/main" id="{B89BB417-354D-AFAA-D5C2-4EE485FB6852}"/>
              </a:ext>
            </a:extLst>
          </p:cNvPr>
          <p:cNvGraphicFramePr>
            <a:graphicFrameLocks noGrp="1"/>
          </p:cNvGraphicFramePr>
          <p:nvPr>
            <p:extLst>
              <p:ext uri="{D42A27DB-BD31-4B8C-83A1-F6EECF244321}">
                <p14:modId xmlns:p14="http://schemas.microsoft.com/office/powerpoint/2010/main" val="1471050217"/>
              </p:ext>
            </p:extLst>
          </p:nvPr>
        </p:nvGraphicFramePr>
        <p:xfrm>
          <a:off x="2611548" y="1112636"/>
          <a:ext cx="1663699" cy="515620"/>
        </p:xfrm>
        <a:graphic>
          <a:graphicData uri="http://schemas.openxmlformats.org/drawingml/2006/table">
            <a:tbl>
              <a:tblPr>
                <a:tableStyleId>{5C22544A-7EE6-4342-B048-85BDC9FD1C3A}</a:tableStyleId>
              </a:tblPr>
              <a:tblGrid>
                <a:gridCol w="1663699">
                  <a:extLst>
                    <a:ext uri="{9D8B030D-6E8A-4147-A177-3AD203B41FA5}">
                      <a16:colId xmlns:a16="http://schemas.microsoft.com/office/drawing/2014/main" val="3425262592"/>
                    </a:ext>
                  </a:extLst>
                </a:gridCol>
              </a:tblGrid>
              <a:tr h="234950">
                <a:tc>
                  <a:txBody>
                    <a:bodyPr/>
                    <a:lstStyle/>
                    <a:p>
                      <a:pPr algn="ctr" fontAlgn="b">
                        <a:buNone/>
                      </a:pPr>
                      <a:r>
                        <a:rPr lang="en-US" sz="1400" u="none" strike="noStrike">
                          <a:solidFill>
                            <a:schemeClr val="bg1"/>
                          </a:solidFill>
                          <a:effectLst/>
                        </a:rPr>
                        <a:t>Total Profit</a:t>
                      </a:r>
                      <a:endParaRPr lang="en-US" sz="1400" b="0" i="0" u="none" strike="noStrike">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2411279187"/>
                  </a:ext>
                </a:extLst>
              </a:tr>
              <a:tr h="0">
                <a:tc>
                  <a:txBody>
                    <a:bodyPr/>
                    <a:lstStyle/>
                    <a:p>
                      <a:pPr algn="ctr" fontAlgn="ctr">
                        <a:buNone/>
                      </a:pPr>
                      <a:r>
                        <a:rPr lang="en-US" sz="1800" u="none" strike="noStrike" dirty="0">
                          <a:solidFill>
                            <a:schemeClr val="bg1"/>
                          </a:solidFill>
                          <a:effectLst/>
                        </a:rPr>
                        <a:t>3630568</a:t>
                      </a:r>
                      <a:endParaRPr lang="en-US" sz="1800" b="1" i="0" u="none" strike="noStrike" dirty="0">
                        <a:solidFill>
                          <a:schemeClr val="bg1"/>
                        </a:solidFill>
                        <a:effectLst/>
                        <a:latin typeface="Calibri" panose="020F0502020204030204" pitchFamily="34" charset="0"/>
                      </a:endParaRPr>
                    </a:p>
                  </a:txBody>
                  <a:tcPr marL="6350" marR="6350" marT="6350" marB="0" anchor="ctr">
                    <a:solidFill>
                      <a:schemeClr val="bg2">
                        <a:lumMod val="50000"/>
                      </a:schemeClr>
                    </a:solidFill>
                  </a:tcPr>
                </a:tc>
                <a:extLst>
                  <a:ext uri="{0D108BD9-81ED-4DB2-BD59-A6C34878D82A}">
                    <a16:rowId xmlns:a16="http://schemas.microsoft.com/office/drawing/2014/main" val="3366153559"/>
                  </a:ext>
                </a:extLst>
              </a:tr>
            </a:tbl>
          </a:graphicData>
        </a:graphic>
      </p:graphicFrame>
      <p:graphicFrame>
        <p:nvGraphicFramePr>
          <p:cNvPr id="22" name="Table 21">
            <a:extLst>
              <a:ext uri="{FF2B5EF4-FFF2-40B4-BE49-F238E27FC236}">
                <a16:creationId xmlns:a16="http://schemas.microsoft.com/office/drawing/2014/main" id="{64B3B399-9BB8-37C5-2304-5134D6772341}"/>
              </a:ext>
            </a:extLst>
          </p:cNvPr>
          <p:cNvGraphicFramePr>
            <a:graphicFrameLocks noGrp="1"/>
          </p:cNvGraphicFramePr>
          <p:nvPr>
            <p:extLst>
              <p:ext uri="{D42A27DB-BD31-4B8C-83A1-F6EECF244321}">
                <p14:modId xmlns:p14="http://schemas.microsoft.com/office/powerpoint/2010/main" val="1184740513"/>
              </p:ext>
            </p:extLst>
          </p:nvPr>
        </p:nvGraphicFramePr>
        <p:xfrm>
          <a:off x="6364241" y="1095438"/>
          <a:ext cx="1663700" cy="515620"/>
        </p:xfrm>
        <a:graphic>
          <a:graphicData uri="http://schemas.openxmlformats.org/drawingml/2006/table">
            <a:tbl>
              <a:tblPr>
                <a:tableStyleId>{5C22544A-7EE6-4342-B048-85BDC9FD1C3A}</a:tableStyleId>
              </a:tblPr>
              <a:tblGrid>
                <a:gridCol w="1663700">
                  <a:extLst>
                    <a:ext uri="{9D8B030D-6E8A-4147-A177-3AD203B41FA5}">
                      <a16:colId xmlns:a16="http://schemas.microsoft.com/office/drawing/2014/main" val="3556197866"/>
                    </a:ext>
                  </a:extLst>
                </a:gridCol>
              </a:tblGrid>
              <a:tr h="234950">
                <a:tc>
                  <a:txBody>
                    <a:bodyPr/>
                    <a:lstStyle/>
                    <a:p>
                      <a:pPr algn="ctr" fontAlgn="ctr">
                        <a:buNone/>
                      </a:pPr>
                      <a:r>
                        <a:rPr lang="en-US" sz="1400" u="none" strike="noStrike" dirty="0">
                          <a:solidFill>
                            <a:schemeClr val="bg1"/>
                          </a:solidFill>
                          <a:effectLst/>
                        </a:rPr>
                        <a:t>Best Selling Fish Type</a:t>
                      </a:r>
                      <a:endParaRPr lang="en-US" sz="1400" b="0" i="0" u="none" strike="noStrike" dirty="0">
                        <a:solidFill>
                          <a:schemeClr val="bg1"/>
                        </a:solidFill>
                        <a:effectLst/>
                        <a:latin typeface="Calibri" panose="020F0502020204030204" pitchFamily="34" charset="0"/>
                      </a:endParaRPr>
                    </a:p>
                  </a:txBody>
                  <a:tcPr marL="6350" marR="6350" marT="6350" marB="0" anchor="ctr">
                    <a:solidFill>
                      <a:schemeClr val="tx1">
                        <a:lumMod val="50000"/>
                        <a:lumOff val="50000"/>
                      </a:schemeClr>
                    </a:solidFill>
                  </a:tcPr>
                </a:tc>
                <a:extLst>
                  <a:ext uri="{0D108BD9-81ED-4DB2-BD59-A6C34878D82A}">
                    <a16:rowId xmlns:a16="http://schemas.microsoft.com/office/drawing/2014/main" val="4098870310"/>
                  </a:ext>
                </a:extLst>
              </a:tr>
              <a:tr h="0">
                <a:tc>
                  <a:txBody>
                    <a:bodyPr/>
                    <a:lstStyle/>
                    <a:p>
                      <a:pPr algn="ctr" fontAlgn="b">
                        <a:buNone/>
                      </a:pPr>
                      <a:r>
                        <a:rPr lang="en-US" sz="1800" u="none" strike="noStrike" dirty="0">
                          <a:solidFill>
                            <a:schemeClr val="bg1"/>
                          </a:solidFill>
                          <a:effectLst/>
                        </a:rPr>
                        <a:t>Catfish</a:t>
                      </a:r>
                      <a:endParaRPr lang="en-US" sz="1800" b="1" i="0" u="none" strike="noStrike" dirty="0">
                        <a:solidFill>
                          <a:schemeClr val="bg1"/>
                        </a:solidFill>
                        <a:effectLst/>
                        <a:latin typeface="Calibri" panose="020F0502020204030204" pitchFamily="34" charset="0"/>
                      </a:endParaRPr>
                    </a:p>
                  </a:txBody>
                  <a:tcPr marL="6350" marR="6350" marT="6350" marB="0" anchor="b">
                    <a:solidFill>
                      <a:schemeClr val="tx1">
                        <a:lumMod val="50000"/>
                        <a:lumOff val="50000"/>
                      </a:schemeClr>
                    </a:solidFill>
                  </a:tcPr>
                </a:tc>
                <a:extLst>
                  <a:ext uri="{0D108BD9-81ED-4DB2-BD59-A6C34878D82A}">
                    <a16:rowId xmlns:a16="http://schemas.microsoft.com/office/drawing/2014/main" val="4157193255"/>
                  </a:ext>
                </a:extLst>
              </a:tr>
            </a:tbl>
          </a:graphicData>
        </a:graphic>
      </p:graphicFrame>
      <p:graphicFrame>
        <p:nvGraphicFramePr>
          <p:cNvPr id="23" name="Table 22">
            <a:extLst>
              <a:ext uri="{FF2B5EF4-FFF2-40B4-BE49-F238E27FC236}">
                <a16:creationId xmlns:a16="http://schemas.microsoft.com/office/drawing/2014/main" id="{6DB975F7-9EDA-75BE-3722-289A41A6EBF1}"/>
              </a:ext>
            </a:extLst>
          </p:cNvPr>
          <p:cNvGraphicFramePr>
            <a:graphicFrameLocks noGrp="1"/>
          </p:cNvGraphicFramePr>
          <p:nvPr>
            <p:extLst>
              <p:ext uri="{D42A27DB-BD31-4B8C-83A1-F6EECF244321}">
                <p14:modId xmlns:p14="http://schemas.microsoft.com/office/powerpoint/2010/main" val="4128063230"/>
              </p:ext>
            </p:extLst>
          </p:nvPr>
        </p:nvGraphicFramePr>
        <p:xfrm>
          <a:off x="4557744" y="1097295"/>
          <a:ext cx="1524000" cy="515620"/>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974228130"/>
                    </a:ext>
                  </a:extLst>
                </a:gridCol>
              </a:tblGrid>
              <a:tr h="234950">
                <a:tc>
                  <a:txBody>
                    <a:bodyPr/>
                    <a:lstStyle/>
                    <a:p>
                      <a:pPr algn="l" fontAlgn="b">
                        <a:buNone/>
                      </a:pPr>
                      <a:r>
                        <a:rPr lang="en-US" sz="1400" u="none" strike="noStrike">
                          <a:solidFill>
                            <a:schemeClr val="bg1"/>
                          </a:solidFill>
                          <a:effectLst/>
                        </a:rPr>
                        <a:t>Total Transactions</a:t>
                      </a:r>
                      <a:endParaRPr lang="en-US" sz="1400" b="0" i="0" u="none" strike="noStrike">
                        <a:solidFill>
                          <a:schemeClr val="bg1"/>
                        </a:solidFill>
                        <a:effectLst/>
                        <a:latin typeface="Calibri" panose="020F0502020204030204" pitchFamily="34" charset="0"/>
                      </a:endParaRPr>
                    </a:p>
                  </a:txBody>
                  <a:tcPr marL="6350" marR="6350" marT="6350" marB="0" anchor="b">
                    <a:solidFill>
                      <a:schemeClr val="tx1">
                        <a:lumMod val="50000"/>
                        <a:lumOff val="50000"/>
                      </a:schemeClr>
                    </a:solidFill>
                  </a:tcPr>
                </a:tc>
                <a:extLst>
                  <a:ext uri="{0D108BD9-81ED-4DB2-BD59-A6C34878D82A}">
                    <a16:rowId xmlns:a16="http://schemas.microsoft.com/office/drawing/2014/main" val="3156435966"/>
                  </a:ext>
                </a:extLst>
              </a:tr>
              <a:tr h="0">
                <a:tc>
                  <a:txBody>
                    <a:bodyPr/>
                    <a:lstStyle/>
                    <a:p>
                      <a:pPr algn="ctr" fontAlgn="ctr">
                        <a:buNone/>
                      </a:pPr>
                      <a:r>
                        <a:rPr lang="en-US" sz="1800" u="none" strike="noStrike" dirty="0">
                          <a:solidFill>
                            <a:schemeClr val="bg1"/>
                          </a:solidFill>
                          <a:effectLst/>
                        </a:rPr>
                        <a:t>1826</a:t>
                      </a:r>
                      <a:endParaRPr lang="en-US" sz="1800" b="1" i="0" u="none" strike="noStrike" dirty="0">
                        <a:solidFill>
                          <a:schemeClr val="bg1"/>
                        </a:solidFill>
                        <a:effectLst/>
                        <a:latin typeface="Calibri" panose="020F0502020204030204" pitchFamily="34" charset="0"/>
                      </a:endParaRPr>
                    </a:p>
                  </a:txBody>
                  <a:tcPr marL="6350" marR="6350" marT="6350" marB="0" anchor="ctr">
                    <a:solidFill>
                      <a:schemeClr val="tx1">
                        <a:lumMod val="50000"/>
                        <a:lumOff val="50000"/>
                      </a:schemeClr>
                    </a:solidFill>
                  </a:tcPr>
                </a:tc>
                <a:extLst>
                  <a:ext uri="{0D108BD9-81ED-4DB2-BD59-A6C34878D82A}">
                    <a16:rowId xmlns:a16="http://schemas.microsoft.com/office/drawing/2014/main" val="606885928"/>
                  </a:ext>
                </a:extLst>
              </a:tr>
            </a:tbl>
          </a:graphicData>
        </a:graphic>
      </p:graphicFrame>
      <p:graphicFrame>
        <p:nvGraphicFramePr>
          <p:cNvPr id="24" name="Table 23">
            <a:extLst>
              <a:ext uri="{FF2B5EF4-FFF2-40B4-BE49-F238E27FC236}">
                <a16:creationId xmlns:a16="http://schemas.microsoft.com/office/drawing/2014/main" id="{393B5D2F-7F63-5F7B-1537-BDDAEEB07C34}"/>
              </a:ext>
            </a:extLst>
          </p:cNvPr>
          <p:cNvGraphicFramePr>
            <a:graphicFrameLocks noGrp="1"/>
          </p:cNvGraphicFramePr>
          <p:nvPr>
            <p:extLst>
              <p:ext uri="{D42A27DB-BD31-4B8C-83A1-F6EECF244321}">
                <p14:modId xmlns:p14="http://schemas.microsoft.com/office/powerpoint/2010/main" val="573997843"/>
              </p:ext>
            </p:extLst>
          </p:nvPr>
        </p:nvGraphicFramePr>
        <p:xfrm>
          <a:off x="8310438" y="1111162"/>
          <a:ext cx="1358900" cy="515620"/>
        </p:xfrm>
        <a:graphic>
          <a:graphicData uri="http://schemas.openxmlformats.org/drawingml/2006/table">
            <a:tbl>
              <a:tblPr>
                <a:tableStyleId>{5C22544A-7EE6-4342-B048-85BDC9FD1C3A}</a:tableStyleId>
              </a:tblPr>
              <a:tblGrid>
                <a:gridCol w="1358900">
                  <a:extLst>
                    <a:ext uri="{9D8B030D-6E8A-4147-A177-3AD203B41FA5}">
                      <a16:colId xmlns:a16="http://schemas.microsoft.com/office/drawing/2014/main" val="3155504519"/>
                    </a:ext>
                  </a:extLst>
                </a:gridCol>
              </a:tblGrid>
              <a:tr h="234950">
                <a:tc>
                  <a:txBody>
                    <a:bodyPr/>
                    <a:lstStyle/>
                    <a:p>
                      <a:pPr algn="ctr" fontAlgn="ctr">
                        <a:buNone/>
                      </a:pPr>
                      <a:r>
                        <a:rPr lang="en-US" sz="1400" u="none" strike="noStrike" dirty="0">
                          <a:solidFill>
                            <a:schemeClr val="bg1"/>
                          </a:solidFill>
                          <a:effectLst/>
                        </a:rPr>
                        <a:t>Top Performing</a:t>
                      </a:r>
                      <a:endParaRPr lang="en-US" sz="1400" b="0" i="0" u="none" strike="noStrike" dirty="0">
                        <a:solidFill>
                          <a:schemeClr val="bg1"/>
                        </a:solidFill>
                        <a:effectLst/>
                        <a:latin typeface="Calibri" panose="020F0502020204030204" pitchFamily="34" charset="0"/>
                      </a:endParaRPr>
                    </a:p>
                  </a:txBody>
                  <a:tcPr marL="6350" marR="6350" marT="6350" marB="0" anchor="ctr">
                    <a:solidFill>
                      <a:schemeClr val="tx1">
                        <a:lumMod val="50000"/>
                        <a:lumOff val="50000"/>
                      </a:schemeClr>
                    </a:solidFill>
                  </a:tcPr>
                </a:tc>
                <a:extLst>
                  <a:ext uri="{0D108BD9-81ED-4DB2-BD59-A6C34878D82A}">
                    <a16:rowId xmlns:a16="http://schemas.microsoft.com/office/drawing/2014/main" val="1668462107"/>
                  </a:ext>
                </a:extLst>
              </a:tr>
              <a:tr h="0">
                <a:tc>
                  <a:txBody>
                    <a:bodyPr/>
                    <a:lstStyle/>
                    <a:p>
                      <a:pPr algn="ctr" fontAlgn="ctr">
                        <a:buNone/>
                      </a:pPr>
                      <a:r>
                        <a:rPr lang="en-US" sz="1800" u="none" strike="noStrike" dirty="0">
                          <a:solidFill>
                            <a:schemeClr val="bg1"/>
                          </a:solidFill>
                          <a:effectLst/>
                        </a:rPr>
                        <a:t>ABC Fisheries</a:t>
                      </a:r>
                      <a:endParaRPr lang="en-US" sz="1800" b="1" i="0" u="none" strike="noStrike" dirty="0">
                        <a:solidFill>
                          <a:schemeClr val="bg1"/>
                        </a:solidFill>
                        <a:effectLst/>
                        <a:latin typeface="Calibri" panose="020F0502020204030204" pitchFamily="34" charset="0"/>
                      </a:endParaRPr>
                    </a:p>
                  </a:txBody>
                  <a:tcPr marL="6350" marR="6350" marT="6350" marB="0" anchor="ctr">
                    <a:solidFill>
                      <a:schemeClr val="tx1">
                        <a:lumMod val="50000"/>
                        <a:lumOff val="50000"/>
                      </a:schemeClr>
                    </a:solidFill>
                  </a:tcPr>
                </a:tc>
                <a:extLst>
                  <a:ext uri="{0D108BD9-81ED-4DB2-BD59-A6C34878D82A}">
                    <a16:rowId xmlns:a16="http://schemas.microsoft.com/office/drawing/2014/main" val="4142746640"/>
                  </a:ext>
                </a:extLst>
              </a:tr>
            </a:tbl>
          </a:graphicData>
        </a:graphic>
      </p:graphicFrame>
      <p:graphicFrame>
        <p:nvGraphicFramePr>
          <p:cNvPr id="25" name="Table 24">
            <a:extLst>
              <a:ext uri="{FF2B5EF4-FFF2-40B4-BE49-F238E27FC236}">
                <a16:creationId xmlns:a16="http://schemas.microsoft.com/office/drawing/2014/main" id="{4265E8EC-678F-0AD0-F9EC-E08EB28570F7}"/>
              </a:ext>
            </a:extLst>
          </p:cNvPr>
          <p:cNvGraphicFramePr>
            <a:graphicFrameLocks noGrp="1"/>
          </p:cNvGraphicFramePr>
          <p:nvPr>
            <p:extLst>
              <p:ext uri="{D42A27DB-BD31-4B8C-83A1-F6EECF244321}">
                <p14:modId xmlns:p14="http://schemas.microsoft.com/office/powerpoint/2010/main" val="996878589"/>
              </p:ext>
            </p:extLst>
          </p:nvPr>
        </p:nvGraphicFramePr>
        <p:xfrm>
          <a:off x="9951835" y="1111162"/>
          <a:ext cx="1663700" cy="515620"/>
        </p:xfrm>
        <a:graphic>
          <a:graphicData uri="http://schemas.openxmlformats.org/drawingml/2006/table">
            <a:tbl>
              <a:tblPr>
                <a:tableStyleId>{5C22544A-7EE6-4342-B048-85BDC9FD1C3A}</a:tableStyleId>
              </a:tblPr>
              <a:tblGrid>
                <a:gridCol w="1663700">
                  <a:extLst>
                    <a:ext uri="{9D8B030D-6E8A-4147-A177-3AD203B41FA5}">
                      <a16:colId xmlns:a16="http://schemas.microsoft.com/office/drawing/2014/main" val="4229846734"/>
                    </a:ext>
                  </a:extLst>
                </a:gridCol>
              </a:tblGrid>
              <a:tr h="234950">
                <a:tc>
                  <a:txBody>
                    <a:bodyPr/>
                    <a:lstStyle/>
                    <a:p>
                      <a:pPr algn="ctr" fontAlgn="b">
                        <a:buNone/>
                      </a:pPr>
                      <a:r>
                        <a:rPr lang="en-US" sz="1400" u="none" strike="noStrike">
                          <a:solidFill>
                            <a:schemeClr val="bg1"/>
                          </a:solidFill>
                          <a:effectLst/>
                        </a:rPr>
                        <a:t>Top Sales Location</a:t>
                      </a:r>
                      <a:endParaRPr lang="en-US" sz="1400" b="0" i="0" u="none" strike="noStrike">
                        <a:solidFill>
                          <a:schemeClr val="bg1"/>
                        </a:solidFill>
                        <a:effectLst/>
                        <a:latin typeface="Calibri" panose="020F0502020204030204" pitchFamily="34" charset="0"/>
                      </a:endParaRPr>
                    </a:p>
                  </a:txBody>
                  <a:tcPr marL="6350" marR="6350" marT="6350" marB="0" anchor="b">
                    <a:solidFill>
                      <a:schemeClr val="tx1">
                        <a:lumMod val="50000"/>
                        <a:lumOff val="50000"/>
                      </a:schemeClr>
                    </a:solidFill>
                  </a:tcPr>
                </a:tc>
                <a:extLst>
                  <a:ext uri="{0D108BD9-81ED-4DB2-BD59-A6C34878D82A}">
                    <a16:rowId xmlns:a16="http://schemas.microsoft.com/office/drawing/2014/main" val="2349861605"/>
                  </a:ext>
                </a:extLst>
              </a:tr>
              <a:tr h="0">
                <a:tc>
                  <a:txBody>
                    <a:bodyPr/>
                    <a:lstStyle/>
                    <a:p>
                      <a:pPr algn="ctr" fontAlgn="ctr">
                        <a:buNone/>
                      </a:pPr>
                      <a:r>
                        <a:rPr lang="en-US" sz="1800" u="none" strike="noStrike" dirty="0">
                          <a:solidFill>
                            <a:schemeClr val="bg1"/>
                          </a:solidFill>
                          <a:effectLst/>
                        </a:rPr>
                        <a:t>Abuja</a:t>
                      </a:r>
                      <a:endParaRPr lang="en-US" sz="1800" b="1" i="0" u="none" strike="noStrike" dirty="0">
                        <a:solidFill>
                          <a:schemeClr val="bg1"/>
                        </a:solidFill>
                        <a:effectLst/>
                        <a:latin typeface="Calibri" panose="020F0502020204030204" pitchFamily="34" charset="0"/>
                      </a:endParaRPr>
                    </a:p>
                  </a:txBody>
                  <a:tcPr marL="6350" marR="6350" marT="6350" marB="0" anchor="ctr">
                    <a:solidFill>
                      <a:schemeClr val="tx1">
                        <a:lumMod val="50000"/>
                        <a:lumOff val="50000"/>
                      </a:schemeClr>
                    </a:solidFill>
                  </a:tcPr>
                </a:tc>
                <a:extLst>
                  <a:ext uri="{0D108BD9-81ED-4DB2-BD59-A6C34878D82A}">
                    <a16:rowId xmlns:a16="http://schemas.microsoft.com/office/drawing/2014/main" val="3300682870"/>
                  </a:ext>
                </a:extLst>
              </a:tr>
            </a:tbl>
          </a:graphicData>
        </a:graphic>
      </p:graphicFrame>
    </p:spTree>
    <p:extLst>
      <p:ext uri="{BB962C8B-B14F-4D97-AF65-F5344CB8AC3E}">
        <p14:creationId xmlns:p14="http://schemas.microsoft.com/office/powerpoint/2010/main" val="323312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0D7DB8B0-2CB2-A116-7020-C6E32516A19D}"/>
              </a:ext>
            </a:extLst>
          </p:cNvPr>
          <p:cNvSpPr txBox="1"/>
          <p:nvPr/>
        </p:nvSpPr>
        <p:spPr>
          <a:xfrm>
            <a:off x="0" y="0"/>
            <a:ext cx="12192000" cy="754528"/>
          </a:xfrm>
          <a:prstGeom prst="rect">
            <a:avLst/>
          </a:prstGeom>
          <a:solidFill>
            <a:schemeClr val="tx1">
              <a:lumMod val="75000"/>
              <a:lumOff val="2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3600" dirty="0">
                <a:solidFill>
                  <a:schemeClr val="bg1"/>
                </a:solidFill>
              </a:rPr>
              <a:t>INSIGHTS AND RECOMMENDATION</a:t>
            </a:r>
          </a:p>
        </p:txBody>
      </p:sp>
      <p:sp>
        <p:nvSpPr>
          <p:cNvPr id="4" name="TextBox 1">
            <a:extLst>
              <a:ext uri="{FF2B5EF4-FFF2-40B4-BE49-F238E27FC236}">
                <a16:creationId xmlns:a16="http://schemas.microsoft.com/office/drawing/2014/main" id="{B5419F54-C024-516F-AB46-D483FFF173B6}"/>
              </a:ext>
            </a:extLst>
          </p:cNvPr>
          <p:cNvSpPr txBox="1"/>
          <p:nvPr/>
        </p:nvSpPr>
        <p:spPr>
          <a:xfrm>
            <a:off x="503274" y="999608"/>
            <a:ext cx="11185451" cy="5369294"/>
          </a:xfrm>
          <a:prstGeom prst="rect">
            <a:avLst/>
          </a:prstGeom>
          <a:solidFill>
            <a:schemeClr val="bg1">
              <a:lumMod val="95000"/>
            </a:schemeClr>
          </a:solidFill>
          <a:ln w="25400"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800" b="1" dirty="0"/>
          </a:p>
          <a:p>
            <a:r>
              <a:rPr lang="en-US" sz="1800" b="1" dirty="0"/>
              <a:t>Insights</a:t>
            </a:r>
          </a:p>
          <a:p>
            <a:r>
              <a:rPr lang="en-US" sz="1800" dirty="0"/>
              <a:t>The analysis revealed that </a:t>
            </a:r>
            <a:r>
              <a:rPr lang="en-US" sz="1800" b="1" dirty="0"/>
              <a:t>Catfish</a:t>
            </a:r>
            <a:r>
              <a:rPr lang="en-US" sz="1800" dirty="0"/>
              <a:t> and </a:t>
            </a:r>
            <a:r>
              <a:rPr lang="en-US" sz="1800" b="1" dirty="0"/>
              <a:t>1 kg fish</a:t>
            </a:r>
            <a:r>
              <a:rPr lang="en-US" sz="1800" dirty="0"/>
              <a:t> were the most popular products, with </a:t>
            </a:r>
            <a:r>
              <a:rPr lang="en-US" sz="1800" b="1" dirty="0"/>
              <a:t>Lagos</a:t>
            </a:r>
            <a:r>
              <a:rPr lang="en-US" sz="1800" dirty="0"/>
              <a:t> recording the highest sales across most product categories. </a:t>
            </a:r>
            <a:r>
              <a:rPr lang="en-US" sz="1800" b="1" dirty="0"/>
              <a:t>Abuja Fish Co.</a:t>
            </a:r>
            <a:r>
              <a:rPr lang="en-US" sz="1800" dirty="0"/>
              <a:t> emerged as the top-performing supplier, contributing the highest total profit and sales value. Customer purchasing behavior was relatively consistent across locations, although Lagos had the largest customer base and the highest number of monthly purchasers. Online sales generated slightly more revenue than in-store sales, indicating increasing customer preference for digital purchasing channels. Furthermore, a </a:t>
            </a:r>
            <a:r>
              <a:rPr lang="en-US" sz="1800" b="1" dirty="0"/>
              <a:t>₦50 discount</a:t>
            </a:r>
            <a:r>
              <a:rPr lang="en-US" sz="1800" dirty="0"/>
              <a:t> produced the highest sales revenue, suggesting that moderate discounts are more effective than larger discounts in driving sales.</a:t>
            </a:r>
          </a:p>
          <a:p>
            <a:endParaRPr lang="en-US" sz="1800" b="1" dirty="0"/>
          </a:p>
          <a:p>
            <a:r>
              <a:rPr lang="en-US" sz="1800" b="1" dirty="0"/>
              <a:t>Recommendations</a:t>
            </a:r>
          </a:p>
          <a:p>
            <a:r>
              <a:rPr lang="en-US" sz="1800" dirty="0"/>
              <a:t>The business should prioritize stocking high-demand products, particularly </a:t>
            </a:r>
            <a:r>
              <a:rPr lang="en-US" sz="1800" b="1" dirty="0"/>
              <a:t>Catfish</a:t>
            </a:r>
            <a:r>
              <a:rPr lang="en-US" sz="1800" dirty="0"/>
              <a:t> and </a:t>
            </a:r>
            <a:r>
              <a:rPr lang="en-US" sz="1800" b="1" dirty="0"/>
              <a:t>1 kg fish</a:t>
            </a:r>
            <a:r>
              <a:rPr lang="en-US" sz="1800" dirty="0"/>
              <a:t>, to meet customer demand and minimize stock shortages. Strong relationships should be maintained with high-performing suppliers, especially </a:t>
            </a:r>
            <a:r>
              <a:rPr lang="en-US" sz="1800" b="1" dirty="0"/>
              <a:t>Abuja Fish Co.</a:t>
            </a:r>
            <a:r>
              <a:rPr lang="en-US" sz="1800" dirty="0"/>
              <a:t>, to ensure a reliable supply of quality products. Given the slightly higher revenue generated through online sales, further investment in the online sales platform and digital marketing initiatives is recommended while continuing to enhance the in-store customer experience. Finally, the business should adopt </a:t>
            </a:r>
            <a:r>
              <a:rPr lang="en-US" sz="1800" b="1" dirty="0"/>
              <a:t>moderate discount strategies</a:t>
            </a:r>
            <a:r>
              <a:rPr lang="en-US" sz="1800" dirty="0"/>
              <a:t>, such as the </a:t>
            </a:r>
            <a:r>
              <a:rPr lang="en-US" sz="1800" b="1" dirty="0"/>
              <a:t>₦50 discount</a:t>
            </a:r>
            <a:r>
              <a:rPr lang="en-US" sz="1800" dirty="0"/>
              <a:t>, as these appear to generate higher revenue than larger discounts, helping to increase sales while preserving profitability.</a:t>
            </a:r>
          </a:p>
          <a:p>
            <a:endParaRPr lang="en-US" sz="1800" dirty="0"/>
          </a:p>
        </p:txBody>
      </p:sp>
    </p:spTree>
    <p:extLst>
      <p:ext uri="{BB962C8B-B14F-4D97-AF65-F5344CB8AC3E}">
        <p14:creationId xmlns:p14="http://schemas.microsoft.com/office/powerpoint/2010/main" val="2148950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1370</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25</cp:revision>
  <dcterms:created xsi:type="dcterms:W3CDTF">2026-07-21T21:04:03Z</dcterms:created>
  <dcterms:modified xsi:type="dcterms:W3CDTF">2026-08-03T10:35:11Z</dcterms:modified>
</cp:coreProperties>
</file>